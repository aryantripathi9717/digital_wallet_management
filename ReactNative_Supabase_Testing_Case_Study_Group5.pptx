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the topic as a comparison of three testing approaches applied to one React Native and Supabase demo app. Explain that the aim is to understand what each approach can reveal and why a combined strategy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architecture from left to right. React Native provides the mobile screens; Supabase supplies authentication and backend access; PostgreSQL stores comment rows. A UUID links a comment to a user, while RLS policies should enforce access rules at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using visibility. White-box looks at code, black-box uses the app without implementation knowledge, and grey-box combines observed behaviour with partial internal information such as schema or policy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scenarios: check validation for a blank comment, compare the database with the cached screen after deletion, inspect whether logout is connected, and review registration controls. These examples show how test objectives differ by visibility and by the risk being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findings by their impact rather than listing them only under test labels. Three concern code quality/configuration, two relate to account trust or stale data, and two are visible functional issues. Clarify that the listed remedies are recommendations, not additional findings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matrix with care. The source comparison says white-box detects unused functions and unisolated database connections, while user-visible issues are detected by multiple approaches. There is an inconsistency in the supplied case material concerning SQL injection: the findings mention an unsuccessful attempt, whereas this table says found for all approaches. Do not claim a confirmed exploit without the full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material rates complexity, time and required knowledge on a low-to-high scale. Black-box is rated low, grey-box medium, and white-box high. These are qualitative ratings rather than measured minutes or effort hours, so avoid presenting them as universal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corrective actions derived from the findings, not a claim that the source paper implemented them. Prioritise database permissions, key handling and account safety; then repair visible functionality and cache consistency; finally add regression tests to keep the fixes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that all three methods should be combined. Mention limitations: one small application, manual testing and no quantitative metrics. If asked about the source, explain that the supplied case material cites V. Maric, IJISE, 2026, Vol. 2, No. 1; verify full bibliographic metadata if a formal reference is required.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101827"/>
        </a:solidFill>
      </p:bgPr>
    </p:bg>
    <p:spTree>
      <p:nvGrpSpPr>
        <p:cNvPr id="1" name=""/>
        <p:cNvGrpSpPr/>
        <p:nvPr/>
      </p:nvGrpSpPr>
      <p:grpSpPr>
        <a:xfrm>
          <a:off x="0" y="0"/>
          <a:ext cx="0" cy="0"/>
          <a:chOff x="0" y="0"/>
          <a:chExt cx="0" cy="0"/>
        </a:xfrm>
      </p:grpSpPr>
      <p:sp>
        <p:nvSpPr>
          <p:cNvPr id="2" name="Shape 0"/>
          <p:cNvSpPr/>
          <p:nvPr/>
        </p:nvSpPr>
        <p:spPr>
          <a:xfrm>
            <a:off x="502920" y="6510528"/>
            <a:ext cx="11155680" cy="0"/>
          </a:xfrm>
          <a:prstGeom prst="line">
            <a:avLst/>
          </a:prstGeom>
          <a:noFill/>
          <a:ln w="12700">
            <a:solidFill>
              <a:srgbClr val="324057"/>
            </a:solidFill>
            <a:prstDash val="solid"/>
          </a:ln>
        </p:spPr>
      </p:sp>
      <p:sp>
        <p:nvSpPr>
          <p:cNvPr id="3" name="Text 1"/>
          <p:cNvSpPr/>
          <p:nvPr/>
        </p:nvSpPr>
        <p:spPr>
          <a:xfrm>
            <a:off x="530352" y="6565392"/>
            <a:ext cx="4572000" cy="155448"/>
          </a:xfrm>
          <a:prstGeom prst="rect">
            <a:avLst/>
          </a:prstGeom>
          <a:noFill/>
          <a:ln/>
        </p:spPr>
        <p:txBody>
          <a:bodyPr wrap="square" lIns="0" tIns="0" rIns="0" bIns="0" rtlCol="0" anchor="ctr"/>
          <a:lstStyle/>
          <a:p>
            <a:pPr indent="0" marL="0">
              <a:buNone/>
            </a:pPr>
            <a:r>
              <a:rPr lang="en-US" sz="800" spc="110" kern="0" dirty="0">
                <a:solidFill>
                  <a:srgbClr val="91A0B8"/>
                </a:solidFill>
                <a:latin typeface="Aptos" pitchFamily="34" charset="0"/>
                <a:ea typeface="Aptos" pitchFamily="34" charset="-122"/>
                <a:cs typeface="Aptos" pitchFamily="34" charset="-120"/>
              </a:rPr>
              <a:t>SOFTWARE QUALITY  /  CA-2</a:t>
            </a:r>
            <a:endParaRPr lang="en-US" sz="80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092440" y="685800"/>
            <a:ext cx="3337560" cy="3337560"/>
          </a:xfrm>
          <a:prstGeom prst="ellipse">
            <a:avLst/>
          </a:prstGeom>
          <a:solidFill>
            <a:srgbClr val="18243A"/>
          </a:solidFill>
          <a:ln w="12700">
            <a:solidFill>
              <a:srgbClr val="18243A">
                <a:alpha val="0"/>
              </a:srgbClr>
            </a:solidFill>
            <a:prstDash val="solid"/>
          </a:ln>
        </p:spPr>
      </p:sp>
      <p:sp>
        <p:nvSpPr>
          <p:cNvPr id="3" name="Shape 1"/>
          <p:cNvSpPr/>
          <p:nvPr/>
        </p:nvSpPr>
        <p:spPr>
          <a:xfrm>
            <a:off x="8458200" y="1060704"/>
            <a:ext cx="2606040" cy="2606040"/>
          </a:xfrm>
          <a:prstGeom prst="ellipse">
            <a:avLst/>
          </a:prstGeom>
          <a:solidFill>
            <a:srgbClr val="101827">
              <a:alpha val="0"/>
            </a:srgbClr>
          </a:solidFill>
          <a:ln w="19050">
            <a:solidFill>
              <a:srgbClr val="59DCE2"/>
            </a:solidFill>
            <a:prstDash val="solid"/>
          </a:ln>
        </p:spPr>
      </p:sp>
      <p:sp>
        <p:nvSpPr>
          <p:cNvPr id="4" name="Shape 2"/>
          <p:cNvSpPr/>
          <p:nvPr/>
        </p:nvSpPr>
        <p:spPr>
          <a:xfrm>
            <a:off x="8823960" y="1426464"/>
            <a:ext cx="1874520" cy="1874520"/>
          </a:xfrm>
          <a:prstGeom prst="ellipse">
            <a:avLst/>
          </a:prstGeom>
          <a:solidFill>
            <a:srgbClr val="101827">
              <a:alpha val="0"/>
            </a:srgbClr>
          </a:solidFill>
          <a:ln w="19050">
            <a:solidFill>
              <a:srgbClr val="FF927C"/>
            </a:solidFill>
            <a:prstDash val="solid"/>
          </a:ln>
        </p:spPr>
      </p:sp>
      <p:sp>
        <p:nvSpPr>
          <p:cNvPr id="5" name="Shape 3"/>
          <p:cNvSpPr/>
          <p:nvPr/>
        </p:nvSpPr>
        <p:spPr>
          <a:xfrm>
            <a:off x="9198864" y="1801368"/>
            <a:ext cx="1124712" cy="1124712"/>
          </a:xfrm>
          <a:prstGeom prst="ellipse">
            <a:avLst/>
          </a:prstGeom>
          <a:solidFill>
            <a:srgbClr val="202E46"/>
          </a:solidFill>
          <a:ln w="19050">
            <a:solidFill>
              <a:srgbClr val="FFC857"/>
            </a:solidFill>
            <a:prstDash val="solid"/>
          </a:ln>
        </p:spPr>
      </p:sp>
      <p:sp>
        <p:nvSpPr>
          <p:cNvPr id="6" name="Text 4"/>
          <p:cNvSpPr txBox="1"/>
          <p:nvPr/>
        </p:nvSpPr>
        <p:spPr>
          <a:xfrm>
            <a:off x="9198864" y="2121408"/>
            <a:ext cx="1124712" cy="237744"/>
          </a:xfrm>
          <a:prstGeom prst="rect">
            <a:avLst/>
          </a:prstGeom>
          <a:noFill/>
          <a:ln/>
        </p:spPr>
        <p:txBody>
          <a:bodyPr wrap="square" lIns="0" tIns="0" rIns="0" bIns="0" rtlCol="0" anchor="ctr">
            <a:normAutofit/>
          </a:bodyPr>
          <a:lstStyle/>
          <a:p>
            <a:pPr algn="ctr" indent="0" marL="0">
              <a:buNone/>
            </a:pPr>
            <a:r>
              <a:rPr lang="en-US" sz="1700" b="1" dirty="0">
                <a:solidFill>
                  <a:srgbClr val="F5F7FB"/>
                </a:solidFill>
                <a:latin typeface="Aptos" pitchFamily="34" charset="0"/>
                <a:ea typeface="Aptos" pitchFamily="34" charset="-122"/>
                <a:cs typeface="Aptos" pitchFamily="34" charset="-120"/>
              </a:rPr>
              <a:t>APP</a:t>
            </a:r>
            <a:endParaRPr lang="en-US" sz="1700" dirty="0"/>
          </a:p>
        </p:txBody>
      </p:sp>
      <p:sp>
        <p:nvSpPr>
          <p:cNvPr id="7" name="Shape 5"/>
          <p:cNvSpPr/>
          <p:nvPr/>
        </p:nvSpPr>
        <p:spPr>
          <a:xfrm>
            <a:off x="7452360" y="3858768"/>
            <a:ext cx="1508760" cy="493776"/>
          </a:xfrm>
          <a:prstGeom prst="roundRect">
            <a:avLst>
              <a:gd name="adj" fmla="val 22222"/>
            </a:avLst>
          </a:prstGeom>
          <a:solidFill>
            <a:srgbClr val="202E46"/>
          </a:solidFill>
          <a:ln w="12700">
            <a:solidFill>
              <a:srgbClr val="202E46">
                <a:alpha val="0"/>
              </a:srgbClr>
            </a:solidFill>
            <a:prstDash val="solid"/>
          </a:ln>
        </p:spPr>
      </p:sp>
      <p:sp>
        <p:nvSpPr>
          <p:cNvPr id="8" name="Text 6"/>
          <p:cNvSpPr txBox="1"/>
          <p:nvPr/>
        </p:nvSpPr>
        <p:spPr>
          <a:xfrm>
            <a:off x="7452360" y="3858768"/>
            <a:ext cx="1508760" cy="493776"/>
          </a:xfrm>
          <a:prstGeom prst="rect">
            <a:avLst/>
          </a:prstGeom>
          <a:noFill/>
          <a:ln/>
        </p:spPr>
        <p:txBody>
          <a:bodyPr wrap="square" lIns="0" tIns="0" rIns="0" bIns="0" rtlCol="0" anchor="ctr">
            <a:normAutofit/>
          </a:bodyPr>
          <a:lstStyle/>
          <a:p>
            <a:pPr algn="ctr" indent="0" marL="0">
              <a:buNone/>
            </a:pPr>
            <a:r>
              <a:rPr lang="en-US" sz="1000" b="1" dirty="0">
                <a:solidFill>
                  <a:srgbClr val="59DCE2"/>
                </a:solidFill>
                <a:latin typeface="Aptos" pitchFamily="34" charset="0"/>
                <a:ea typeface="Aptos" pitchFamily="34" charset="-122"/>
                <a:cs typeface="Aptos" pitchFamily="34" charset="-120"/>
              </a:rPr>
              <a:t>WHITE-BOX</a:t>
            </a:r>
            <a:endParaRPr lang="en-US" sz="1000" dirty="0"/>
          </a:p>
        </p:txBody>
      </p:sp>
      <p:sp>
        <p:nvSpPr>
          <p:cNvPr id="9" name="Shape 7"/>
          <p:cNvSpPr/>
          <p:nvPr/>
        </p:nvSpPr>
        <p:spPr>
          <a:xfrm>
            <a:off x="9116568" y="4325112"/>
            <a:ext cx="1508760" cy="493776"/>
          </a:xfrm>
          <a:prstGeom prst="roundRect">
            <a:avLst>
              <a:gd name="adj" fmla="val 22222"/>
            </a:avLst>
          </a:prstGeom>
          <a:solidFill>
            <a:srgbClr val="202E46"/>
          </a:solidFill>
          <a:ln w="12700">
            <a:solidFill>
              <a:srgbClr val="202E46">
                <a:alpha val="0"/>
              </a:srgbClr>
            </a:solidFill>
            <a:prstDash val="solid"/>
          </a:ln>
        </p:spPr>
      </p:sp>
      <p:sp>
        <p:nvSpPr>
          <p:cNvPr id="10" name="Text 8"/>
          <p:cNvSpPr txBox="1"/>
          <p:nvPr/>
        </p:nvSpPr>
        <p:spPr>
          <a:xfrm>
            <a:off x="9116568" y="4325112"/>
            <a:ext cx="1508760" cy="493776"/>
          </a:xfrm>
          <a:prstGeom prst="rect">
            <a:avLst/>
          </a:prstGeom>
          <a:noFill/>
          <a:ln/>
        </p:spPr>
        <p:txBody>
          <a:bodyPr wrap="square" lIns="0" tIns="0" rIns="0" bIns="0" rtlCol="0" anchor="ctr">
            <a:normAutofit/>
          </a:bodyPr>
          <a:lstStyle/>
          <a:p>
            <a:pPr algn="ctr" indent="0" marL="0">
              <a:buNone/>
            </a:pPr>
            <a:r>
              <a:rPr lang="en-US" sz="1000" b="1" dirty="0">
                <a:solidFill>
                  <a:srgbClr val="FFC857"/>
                </a:solidFill>
                <a:latin typeface="Aptos" pitchFamily="34" charset="0"/>
                <a:ea typeface="Aptos" pitchFamily="34" charset="-122"/>
                <a:cs typeface="Aptos" pitchFamily="34" charset="-120"/>
              </a:rPr>
              <a:t>GREY-BOX</a:t>
            </a:r>
            <a:endParaRPr lang="en-US" sz="1000" dirty="0"/>
          </a:p>
        </p:txBody>
      </p:sp>
      <p:sp>
        <p:nvSpPr>
          <p:cNvPr id="11" name="Shape 9"/>
          <p:cNvSpPr/>
          <p:nvPr/>
        </p:nvSpPr>
        <p:spPr>
          <a:xfrm>
            <a:off x="10287000" y="3584448"/>
            <a:ext cx="1325880" cy="493776"/>
          </a:xfrm>
          <a:prstGeom prst="roundRect">
            <a:avLst>
              <a:gd name="adj" fmla="val 22222"/>
            </a:avLst>
          </a:prstGeom>
          <a:solidFill>
            <a:srgbClr val="202E46"/>
          </a:solidFill>
          <a:ln w="12700">
            <a:solidFill>
              <a:srgbClr val="202E46">
                <a:alpha val="0"/>
              </a:srgbClr>
            </a:solidFill>
            <a:prstDash val="solid"/>
          </a:ln>
        </p:spPr>
      </p:sp>
      <p:sp>
        <p:nvSpPr>
          <p:cNvPr id="12" name="Text 10"/>
          <p:cNvSpPr txBox="1"/>
          <p:nvPr/>
        </p:nvSpPr>
        <p:spPr>
          <a:xfrm>
            <a:off x="10287000" y="3584448"/>
            <a:ext cx="1325880" cy="493776"/>
          </a:xfrm>
          <a:prstGeom prst="rect">
            <a:avLst/>
          </a:prstGeom>
          <a:noFill/>
          <a:ln/>
        </p:spPr>
        <p:txBody>
          <a:bodyPr wrap="square" lIns="0" tIns="0" rIns="0" bIns="0" rtlCol="0" anchor="ctr">
            <a:normAutofit/>
          </a:bodyPr>
          <a:lstStyle/>
          <a:p>
            <a:pPr algn="ctr" indent="0" marL="0">
              <a:buNone/>
            </a:pPr>
            <a:r>
              <a:rPr lang="en-US" sz="950" b="1" dirty="0">
                <a:solidFill>
                  <a:srgbClr val="FF927C"/>
                </a:solidFill>
                <a:latin typeface="Aptos" pitchFamily="34" charset="0"/>
                <a:ea typeface="Aptos" pitchFamily="34" charset="-122"/>
                <a:cs typeface="Aptos" pitchFamily="34" charset="-120"/>
              </a:rPr>
              <a:t>BLACK-BOX</a:t>
            </a:r>
            <a:endParaRPr lang="en-US" sz="950" dirty="0"/>
          </a:p>
        </p:txBody>
      </p:sp>
      <p:sp>
        <p:nvSpPr>
          <p:cNvPr id="13" name="Text 11"/>
          <p:cNvSpPr txBox="1"/>
          <p:nvPr/>
        </p:nvSpPr>
        <p:spPr>
          <a:xfrm>
            <a:off x="658368" y="676656"/>
            <a:ext cx="6035040" cy="237744"/>
          </a:xfrm>
          <a:prstGeom prst="rect">
            <a:avLst/>
          </a:prstGeom>
          <a:noFill/>
          <a:ln/>
        </p:spPr>
        <p:txBody>
          <a:bodyPr wrap="square" lIns="0" tIns="0" rIns="0" bIns="0" rtlCol="0" anchor="ctr">
            <a:normAutofit/>
          </a:bodyPr>
          <a:lstStyle/>
          <a:p>
            <a:pPr algn="l" indent="0" marL="0">
              <a:buNone/>
            </a:pPr>
            <a:r>
              <a:rPr lang="en-US" sz="1000" b="1" spc="200" kern="0" dirty="0">
                <a:solidFill>
                  <a:srgbClr val="59DCE2"/>
                </a:solidFill>
                <a:latin typeface="Aptos" pitchFamily="34" charset="0"/>
                <a:ea typeface="Aptos" pitchFamily="34" charset="-122"/>
                <a:cs typeface="Aptos" pitchFamily="34" charset="-120"/>
              </a:rPr>
              <a:t>CASE STUDY  /  SOFTWARE TESTING</a:t>
            </a:r>
            <a:endParaRPr lang="en-US" sz="1000" dirty="0"/>
          </a:p>
        </p:txBody>
      </p:sp>
      <p:sp>
        <p:nvSpPr>
          <p:cNvPr id="14" name="Text 12"/>
          <p:cNvSpPr txBox="1"/>
          <p:nvPr/>
        </p:nvSpPr>
        <p:spPr>
          <a:xfrm>
            <a:off x="621792" y="1207008"/>
            <a:ext cx="6720840" cy="1417320"/>
          </a:xfrm>
          <a:prstGeom prst="rect">
            <a:avLst/>
          </a:prstGeom>
          <a:noFill/>
          <a:ln/>
        </p:spPr>
        <p:txBody>
          <a:bodyPr wrap="square" lIns="0" tIns="0" rIns="0" bIns="0" rtlCol="0" anchor="ctr">
            <a:normAutofit/>
          </a:bodyPr>
          <a:lstStyle/>
          <a:p>
            <a:pPr algn="l" indent="0" marL="0">
              <a:buNone/>
            </a:pPr>
            <a:r>
              <a:rPr lang="en-US" sz="3500" b="1" dirty="0">
                <a:solidFill>
                  <a:srgbClr val="F5F7FB"/>
                </a:solidFill>
                <a:latin typeface="Aptos Display" pitchFamily="34" charset="0"/>
                <a:ea typeface="Aptos Display" pitchFamily="34" charset="-122"/>
                <a:cs typeface="Aptos Display" pitchFamily="34" charset="-120"/>
              </a:rPr>
              <a:t>Three ways</a:t>
            </a:r>
            <a:endParaRPr lang="en-US" sz="3500" dirty="0"/>
          </a:p>
          <a:p>
            <a:pPr algn="l" indent="0" marL="0">
              <a:buNone/>
            </a:pPr>
            <a:r>
              <a:rPr lang="en-US" sz="3500" b="1" dirty="0">
                <a:solidFill>
                  <a:srgbClr val="F5F7FB"/>
                </a:solidFill>
                <a:latin typeface="Aptos Display" pitchFamily="34" charset="0"/>
                <a:ea typeface="Aptos Display" pitchFamily="34" charset="-122"/>
                <a:cs typeface="Aptos Display" pitchFamily="34" charset="-120"/>
              </a:rPr>
              <a:t>to test one app</a:t>
            </a:r>
            <a:endParaRPr lang="en-US" sz="3500" dirty="0"/>
          </a:p>
        </p:txBody>
      </p:sp>
      <p:sp>
        <p:nvSpPr>
          <p:cNvPr id="15" name="Text 13"/>
          <p:cNvSpPr txBox="1"/>
          <p:nvPr/>
        </p:nvSpPr>
        <p:spPr>
          <a:xfrm>
            <a:off x="658368" y="2852928"/>
            <a:ext cx="6217920" cy="384048"/>
          </a:xfrm>
          <a:prstGeom prst="rect">
            <a:avLst/>
          </a:prstGeom>
          <a:noFill/>
          <a:ln/>
        </p:spPr>
        <p:txBody>
          <a:bodyPr wrap="square" lIns="0" tIns="0" rIns="0" bIns="0" rtlCol="0" anchor="ctr">
            <a:normAutofit/>
          </a:bodyPr>
          <a:lstStyle/>
          <a:p>
            <a:pPr algn="l" indent="0" marL="0">
              <a:buNone/>
            </a:pPr>
            <a:r>
              <a:rPr lang="en-US" sz="1800" dirty="0">
                <a:solidFill>
                  <a:srgbClr val="B5C0D1"/>
                </a:solidFill>
                <a:latin typeface="Aptos" pitchFamily="34" charset="0"/>
                <a:ea typeface="Aptos" pitchFamily="34" charset="-122"/>
                <a:cs typeface="Aptos" pitchFamily="34" charset="-120"/>
              </a:rPr>
              <a:t>White-box • Black-box • Grey-box</a:t>
            </a:r>
            <a:endParaRPr lang="en-US" sz="1800" dirty="0"/>
          </a:p>
        </p:txBody>
      </p:sp>
      <p:sp>
        <p:nvSpPr>
          <p:cNvPr id="16" name="Text 14"/>
          <p:cNvSpPr txBox="1"/>
          <p:nvPr/>
        </p:nvSpPr>
        <p:spPr>
          <a:xfrm>
            <a:off x="658368" y="3337560"/>
            <a:ext cx="6217920" cy="310896"/>
          </a:xfrm>
          <a:prstGeom prst="rect">
            <a:avLst/>
          </a:prstGeom>
          <a:noFill/>
          <a:ln/>
        </p:spPr>
        <p:txBody>
          <a:bodyPr wrap="square" lIns="0" tIns="0" rIns="0" bIns="0" rtlCol="0" anchor="ctr">
            <a:normAutofit/>
          </a:bodyPr>
          <a:lstStyle/>
          <a:p>
            <a:pPr algn="l" indent="0" marL="0">
              <a:buNone/>
            </a:pPr>
            <a:r>
              <a:rPr lang="en-US" sz="1400" b="1" dirty="0">
                <a:solidFill>
                  <a:srgbClr val="59DCE2"/>
                </a:solidFill>
                <a:latin typeface="Aptos" pitchFamily="34" charset="0"/>
                <a:ea typeface="Aptos" pitchFamily="34" charset="-122"/>
                <a:cs typeface="Aptos" pitchFamily="34" charset="-120"/>
              </a:rPr>
              <a:t>A React Native + Supabase demo application</a:t>
            </a:r>
            <a:endParaRPr lang="en-US" sz="1400" dirty="0"/>
          </a:p>
        </p:txBody>
      </p:sp>
      <p:sp>
        <p:nvSpPr>
          <p:cNvPr id="17" name="Shape 15"/>
          <p:cNvSpPr/>
          <p:nvPr/>
        </p:nvSpPr>
        <p:spPr>
          <a:xfrm>
            <a:off x="658368" y="3913632"/>
            <a:ext cx="5696712" cy="0"/>
          </a:xfrm>
          <a:prstGeom prst="line">
            <a:avLst/>
          </a:prstGeom>
          <a:noFill/>
          <a:ln w="15240">
            <a:solidFill>
              <a:srgbClr val="324057"/>
            </a:solidFill>
            <a:prstDash val="solid"/>
            <a:headEnd type="none"/>
            <a:tailEnd type="none"/>
          </a:ln>
        </p:spPr>
      </p:sp>
      <p:sp>
        <p:nvSpPr>
          <p:cNvPr id="18" name="Text 16"/>
          <p:cNvSpPr txBox="1"/>
          <p:nvPr/>
        </p:nvSpPr>
        <p:spPr>
          <a:xfrm>
            <a:off x="658368" y="4096512"/>
            <a:ext cx="6126480" cy="256032"/>
          </a:xfrm>
          <a:prstGeom prst="rect">
            <a:avLst/>
          </a:prstGeom>
          <a:noFill/>
          <a:ln/>
        </p:spPr>
        <p:txBody>
          <a:bodyPr wrap="square" lIns="0" tIns="0" rIns="0" bIns="0" rtlCol="0" anchor="ctr">
            <a:normAutofit/>
          </a:bodyPr>
          <a:lstStyle/>
          <a:p>
            <a:pPr algn="l" indent="0" marL="0">
              <a:buNone/>
            </a:pPr>
            <a:r>
              <a:rPr lang="en-US" sz="1000" spc="60" kern="0" dirty="0">
                <a:solidFill>
                  <a:srgbClr val="B5C0D1"/>
                </a:solidFill>
                <a:latin typeface="Aptos" pitchFamily="34" charset="0"/>
                <a:ea typeface="Aptos" pitchFamily="34" charset="-122"/>
                <a:cs typeface="Aptos" pitchFamily="34" charset="-120"/>
              </a:rPr>
              <a:t>CA-2 THEORY  |  SOFTWARE ENGINEERING &amp; DESIGN PRINCIPLES</a:t>
            </a:r>
            <a:endParaRPr lang="en-US" sz="1000" dirty="0"/>
          </a:p>
        </p:txBody>
      </p:sp>
      <p:sp>
        <p:nvSpPr>
          <p:cNvPr id="19" name="Text 17"/>
          <p:cNvSpPr txBox="1"/>
          <p:nvPr/>
        </p:nvSpPr>
        <p:spPr>
          <a:xfrm>
            <a:off x="658368" y="4681728"/>
            <a:ext cx="100584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FFC857"/>
                </a:solidFill>
                <a:latin typeface="Aptos" pitchFamily="34" charset="0"/>
                <a:ea typeface="Aptos" pitchFamily="34" charset="-122"/>
                <a:cs typeface="Aptos" pitchFamily="34" charset="-120"/>
              </a:rPr>
              <a:t>GROUP 5</a:t>
            </a:r>
            <a:endParaRPr lang="en-US" sz="1000" dirty="0"/>
          </a:p>
        </p:txBody>
      </p:sp>
      <p:sp>
        <p:nvSpPr>
          <p:cNvPr id="20" name="Text 18"/>
          <p:cNvSpPr txBox="1"/>
          <p:nvPr/>
        </p:nvSpPr>
        <p:spPr>
          <a:xfrm>
            <a:off x="658368" y="5010912"/>
            <a:ext cx="5760720" cy="594360"/>
          </a:xfrm>
          <a:prstGeom prst="rect">
            <a:avLst/>
          </a:prstGeom>
          <a:noFill/>
          <a:ln/>
        </p:spPr>
        <p:txBody>
          <a:bodyPr wrap="square" lIns="0" tIns="0" rIns="0" bIns="0" rtlCol="0" anchor="t">
            <a:normAutofit/>
          </a:bodyPr>
          <a:lstStyle/>
          <a:p>
            <a:pPr algn="l" indent="0" marL="0">
              <a:buNone/>
            </a:pPr>
            <a:r>
              <a:rPr lang="en-US" sz="1300" dirty="0">
                <a:solidFill>
                  <a:srgbClr val="F5F7FB"/>
                </a:solidFill>
                <a:latin typeface="Aptos" pitchFamily="34" charset="0"/>
                <a:ea typeface="Aptos" pitchFamily="34" charset="-122"/>
                <a:cs typeface="Aptos" pitchFamily="34" charset="-120"/>
              </a:rPr>
              <a:t>Arya Shree  •  Aryan Tripathi</a:t>
            </a:r>
            <a:endParaRPr lang="en-US" sz="1300" dirty="0"/>
          </a:p>
          <a:p>
            <a:pPr algn="l" indent="0" marL="0">
              <a:buNone/>
            </a:pPr>
            <a:r>
              <a:rPr lang="en-US" sz="1300" dirty="0">
                <a:solidFill>
                  <a:srgbClr val="F5F7FB"/>
                </a:solidFill>
                <a:latin typeface="Aptos" pitchFamily="34" charset="0"/>
                <a:ea typeface="Aptos" pitchFamily="34" charset="-122"/>
                <a:cs typeface="Aptos" pitchFamily="34" charset="-120"/>
              </a:rPr>
              <a:t>Ashish Prajapati  •  Ashish Sah</a:t>
            </a:r>
            <a:endParaRPr lang="en-US" sz="130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01 / SYSTEM UNDER TEST</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Inside the demo application</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A simple comment app provides the context for the testing comparison.</a:t>
            </a:r>
            <a:endParaRPr lang="en-US" sz="1200" dirty="0"/>
          </a:p>
        </p:txBody>
      </p:sp>
      <p:sp>
        <p:nvSpPr>
          <p:cNvPr id="5" name="Shape 3"/>
          <p:cNvSpPr/>
          <p:nvPr/>
        </p:nvSpPr>
        <p:spPr>
          <a:xfrm>
            <a:off x="621792" y="1874520"/>
            <a:ext cx="1965960" cy="1874520"/>
          </a:xfrm>
          <a:prstGeom prst="roundRect">
            <a:avLst>
              <a:gd name="adj" fmla="val 5854"/>
            </a:avLst>
          </a:prstGeom>
          <a:solidFill>
            <a:srgbClr val="18243A"/>
          </a:solidFill>
          <a:ln w="12700">
            <a:solidFill>
              <a:srgbClr val="324057"/>
            </a:solidFill>
            <a:prstDash val="solid"/>
          </a:ln>
        </p:spPr>
      </p:sp>
      <p:sp>
        <p:nvSpPr>
          <p:cNvPr id="6" name="Shape 4"/>
          <p:cNvSpPr/>
          <p:nvPr/>
        </p:nvSpPr>
        <p:spPr>
          <a:xfrm>
            <a:off x="621792" y="1874520"/>
            <a:ext cx="1965960" cy="73152"/>
          </a:xfrm>
          <a:prstGeom prst="rect">
            <a:avLst>
              <a:gd name="adj" fmla="val 150000"/>
            </a:avLst>
          </a:prstGeom>
          <a:solidFill>
            <a:srgbClr val="59DCE2"/>
          </a:solidFill>
          <a:ln w="12700">
            <a:solidFill>
              <a:srgbClr val="59DCE2">
                <a:alpha val="0"/>
              </a:srgbClr>
            </a:solidFill>
            <a:prstDash val="solid"/>
          </a:ln>
        </p:spPr>
      </p:sp>
      <p:sp>
        <p:nvSpPr>
          <p:cNvPr id="7" name="Text 5"/>
          <p:cNvSpPr txBox="1"/>
          <p:nvPr/>
        </p:nvSpPr>
        <p:spPr>
          <a:xfrm>
            <a:off x="786384" y="2112264"/>
            <a:ext cx="1636776" cy="310896"/>
          </a:xfrm>
          <a:prstGeom prst="rect">
            <a:avLst/>
          </a:prstGeom>
          <a:noFill/>
          <a:ln/>
        </p:spPr>
        <p:txBody>
          <a:bodyPr wrap="square" lIns="0" tIns="0" rIns="0" bIns="0" rtlCol="0" anchor="ctr">
            <a:normAutofit/>
          </a:bodyPr>
          <a:lstStyle/>
          <a:p>
            <a:pPr algn="l" indent="0" marL="0">
              <a:buNone/>
            </a:pPr>
            <a:r>
              <a:rPr lang="en-US" sz="1400" b="1" dirty="0">
                <a:solidFill>
                  <a:srgbClr val="59DCE2"/>
                </a:solidFill>
                <a:latin typeface="Aptos" pitchFamily="34" charset="0"/>
                <a:ea typeface="Aptos" pitchFamily="34" charset="-122"/>
                <a:cs typeface="Aptos" pitchFamily="34" charset="-120"/>
              </a:rPr>
              <a:t>USER</a:t>
            </a:r>
            <a:endParaRPr lang="en-US" sz="1400" dirty="0"/>
          </a:p>
        </p:txBody>
      </p:sp>
      <p:sp>
        <p:nvSpPr>
          <p:cNvPr id="8" name="Shape 6"/>
          <p:cNvSpPr/>
          <p:nvPr/>
        </p:nvSpPr>
        <p:spPr>
          <a:xfrm>
            <a:off x="786384" y="2697480"/>
            <a:ext cx="68580" cy="68580"/>
          </a:xfrm>
          <a:prstGeom prst="ellipse">
            <a:avLst/>
          </a:prstGeom>
          <a:solidFill>
            <a:srgbClr val="59DCE2"/>
          </a:solidFill>
          <a:ln w="12700">
            <a:solidFill>
              <a:srgbClr val="59DCE2">
                <a:alpha val="0"/>
              </a:srgbClr>
            </a:solidFill>
            <a:prstDash val="solid"/>
          </a:ln>
        </p:spPr>
      </p:sp>
      <p:sp>
        <p:nvSpPr>
          <p:cNvPr id="9" name="Text 7"/>
          <p:cNvSpPr txBox="1"/>
          <p:nvPr/>
        </p:nvSpPr>
        <p:spPr>
          <a:xfrm>
            <a:off x="950976" y="2587752"/>
            <a:ext cx="149047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Registers / logs in</a:t>
            </a:r>
            <a:endParaRPr lang="en-US" sz="1150" dirty="0"/>
          </a:p>
        </p:txBody>
      </p:sp>
      <p:sp>
        <p:nvSpPr>
          <p:cNvPr id="10" name="Shape 8"/>
          <p:cNvSpPr/>
          <p:nvPr/>
        </p:nvSpPr>
        <p:spPr>
          <a:xfrm>
            <a:off x="786384" y="3026664"/>
            <a:ext cx="68580" cy="68580"/>
          </a:xfrm>
          <a:prstGeom prst="ellipse">
            <a:avLst/>
          </a:prstGeom>
          <a:solidFill>
            <a:srgbClr val="59DCE2"/>
          </a:solidFill>
          <a:ln w="12700">
            <a:solidFill>
              <a:srgbClr val="59DCE2">
                <a:alpha val="0"/>
              </a:srgbClr>
            </a:solidFill>
            <a:prstDash val="solid"/>
          </a:ln>
        </p:spPr>
      </p:sp>
      <p:sp>
        <p:nvSpPr>
          <p:cNvPr id="11" name="Text 9"/>
          <p:cNvSpPr txBox="1"/>
          <p:nvPr/>
        </p:nvSpPr>
        <p:spPr>
          <a:xfrm>
            <a:off x="950976" y="2916936"/>
            <a:ext cx="149047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Posts or deletes comments</a:t>
            </a:r>
            <a:endParaRPr lang="en-US" sz="1150" dirty="0"/>
          </a:p>
        </p:txBody>
      </p:sp>
      <p:sp>
        <p:nvSpPr>
          <p:cNvPr id="12" name="Shape 10"/>
          <p:cNvSpPr/>
          <p:nvPr/>
        </p:nvSpPr>
        <p:spPr>
          <a:xfrm>
            <a:off x="2624328" y="2761488"/>
            <a:ext cx="201168" cy="0"/>
          </a:xfrm>
          <a:prstGeom prst="line">
            <a:avLst/>
          </a:prstGeom>
          <a:noFill/>
          <a:ln w="19050">
            <a:solidFill>
              <a:srgbClr val="8292AA"/>
            </a:solidFill>
            <a:prstDash val="solid"/>
            <a:headEnd type="none"/>
            <a:tailEnd type="triangle"/>
          </a:ln>
        </p:spPr>
      </p:sp>
      <p:sp>
        <p:nvSpPr>
          <p:cNvPr id="13" name="Shape 11"/>
          <p:cNvSpPr/>
          <p:nvPr/>
        </p:nvSpPr>
        <p:spPr>
          <a:xfrm>
            <a:off x="2907792" y="1874520"/>
            <a:ext cx="2240280" cy="1874520"/>
          </a:xfrm>
          <a:prstGeom prst="roundRect">
            <a:avLst>
              <a:gd name="adj" fmla="val 5854"/>
            </a:avLst>
          </a:prstGeom>
          <a:solidFill>
            <a:srgbClr val="18243A"/>
          </a:solidFill>
          <a:ln w="12700">
            <a:solidFill>
              <a:srgbClr val="324057"/>
            </a:solidFill>
            <a:prstDash val="solid"/>
          </a:ln>
        </p:spPr>
      </p:sp>
      <p:sp>
        <p:nvSpPr>
          <p:cNvPr id="14" name="Shape 12"/>
          <p:cNvSpPr/>
          <p:nvPr/>
        </p:nvSpPr>
        <p:spPr>
          <a:xfrm>
            <a:off x="2907792" y="1874520"/>
            <a:ext cx="2240280" cy="73152"/>
          </a:xfrm>
          <a:prstGeom prst="rect">
            <a:avLst>
              <a:gd name="adj" fmla="val 150000"/>
            </a:avLst>
          </a:prstGeom>
          <a:solidFill>
            <a:srgbClr val="7BA8FF"/>
          </a:solidFill>
          <a:ln w="12700">
            <a:solidFill>
              <a:srgbClr val="7BA8FF">
                <a:alpha val="0"/>
              </a:srgbClr>
            </a:solidFill>
            <a:prstDash val="solid"/>
          </a:ln>
        </p:spPr>
      </p:sp>
      <p:sp>
        <p:nvSpPr>
          <p:cNvPr id="15" name="Text 13"/>
          <p:cNvSpPr txBox="1"/>
          <p:nvPr/>
        </p:nvSpPr>
        <p:spPr>
          <a:xfrm>
            <a:off x="3072384" y="2112264"/>
            <a:ext cx="1911096" cy="310896"/>
          </a:xfrm>
          <a:prstGeom prst="rect">
            <a:avLst/>
          </a:prstGeom>
          <a:noFill/>
          <a:ln/>
        </p:spPr>
        <p:txBody>
          <a:bodyPr wrap="square" lIns="0" tIns="0" rIns="0" bIns="0" rtlCol="0" anchor="ctr">
            <a:normAutofit/>
          </a:bodyPr>
          <a:lstStyle/>
          <a:p>
            <a:pPr algn="l" indent="0" marL="0">
              <a:buNone/>
            </a:pPr>
            <a:r>
              <a:rPr lang="en-US" sz="1400" b="1" dirty="0">
                <a:solidFill>
                  <a:srgbClr val="7BA8FF"/>
                </a:solidFill>
                <a:latin typeface="Aptos" pitchFamily="34" charset="0"/>
                <a:ea typeface="Aptos" pitchFamily="34" charset="-122"/>
                <a:cs typeface="Aptos" pitchFamily="34" charset="-120"/>
              </a:rPr>
              <a:t>REACT NATIVE</a:t>
            </a:r>
            <a:endParaRPr lang="en-US" sz="1400" dirty="0"/>
          </a:p>
        </p:txBody>
      </p:sp>
      <p:sp>
        <p:nvSpPr>
          <p:cNvPr id="16" name="Shape 14"/>
          <p:cNvSpPr/>
          <p:nvPr/>
        </p:nvSpPr>
        <p:spPr>
          <a:xfrm>
            <a:off x="3072384" y="2697480"/>
            <a:ext cx="68580" cy="68580"/>
          </a:xfrm>
          <a:prstGeom prst="ellipse">
            <a:avLst/>
          </a:prstGeom>
          <a:solidFill>
            <a:srgbClr val="7BA8FF"/>
          </a:solidFill>
          <a:ln w="12700">
            <a:solidFill>
              <a:srgbClr val="7BA8FF">
                <a:alpha val="0"/>
              </a:srgbClr>
            </a:solidFill>
            <a:prstDash val="solid"/>
          </a:ln>
        </p:spPr>
      </p:sp>
      <p:sp>
        <p:nvSpPr>
          <p:cNvPr id="17" name="Text 15"/>
          <p:cNvSpPr txBox="1"/>
          <p:nvPr/>
        </p:nvSpPr>
        <p:spPr>
          <a:xfrm>
            <a:off x="3236976" y="2587752"/>
            <a:ext cx="176479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Mobile interface</a:t>
            </a:r>
            <a:endParaRPr lang="en-US" sz="1150" dirty="0"/>
          </a:p>
        </p:txBody>
      </p:sp>
      <p:sp>
        <p:nvSpPr>
          <p:cNvPr id="18" name="Shape 16"/>
          <p:cNvSpPr/>
          <p:nvPr/>
        </p:nvSpPr>
        <p:spPr>
          <a:xfrm>
            <a:off x="3072384" y="3026664"/>
            <a:ext cx="68580" cy="68580"/>
          </a:xfrm>
          <a:prstGeom prst="ellipse">
            <a:avLst/>
          </a:prstGeom>
          <a:solidFill>
            <a:srgbClr val="7BA8FF"/>
          </a:solidFill>
          <a:ln w="12700">
            <a:solidFill>
              <a:srgbClr val="7BA8FF">
                <a:alpha val="0"/>
              </a:srgbClr>
            </a:solidFill>
            <a:prstDash val="solid"/>
          </a:ln>
        </p:spPr>
      </p:sp>
      <p:sp>
        <p:nvSpPr>
          <p:cNvPr id="19" name="Text 17"/>
          <p:cNvSpPr txBox="1"/>
          <p:nvPr/>
        </p:nvSpPr>
        <p:spPr>
          <a:xfrm>
            <a:off x="3236976" y="2916936"/>
            <a:ext cx="176479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Forms and buttons</a:t>
            </a:r>
            <a:endParaRPr lang="en-US" sz="1150" dirty="0"/>
          </a:p>
        </p:txBody>
      </p:sp>
      <p:sp>
        <p:nvSpPr>
          <p:cNvPr id="20" name="Shape 18"/>
          <p:cNvSpPr/>
          <p:nvPr/>
        </p:nvSpPr>
        <p:spPr>
          <a:xfrm>
            <a:off x="3072384" y="3355848"/>
            <a:ext cx="68580" cy="68580"/>
          </a:xfrm>
          <a:prstGeom prst="ellipse">
            <a:avLst/>
          </a:prstGeom>
          <a:solidFill>
            <a:srgbClr val="7BA8FF"/>
          </a:solidFill>
          <a:ln w="12700">
            <a:solidFill>
              <a:srgbClr val="7BA8FF">
                <a:alpha val="0"/>
              </a:srgbClr>
            </a:solidFill>
            <a:prstDash val="solid"/>
          </a:ln>
        </p:spPr>
      </p:sp>
      <p:sp>
        <p:nvSpPr>
          <p:cNvPr id="21" name="Text 19"/>
          <p:cNvSpPr txBox="1"/>
          <p:nvPr/>
        </p:nvSpPr>
        <p:spPr>
          <a:xfrm>
            <a:off x="3236976" y="3246120"/>
            <a:ext cx="176479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Local UI state / cache</a:t>
            </a:r>
            <a:endParaRPr lang="en-US" sz="1150" dirty="0"/>
          </a:p>
        </p:txBody>
      </p:sp>
      <p:sp>
        <p:nvSpPr>
          <p:cNvPr id="22" name="Shape 20"/>
          <p:cNvSpPr/>
          <p:nvPr/>
        </p:nvSpPr>
        <p:spPr>
          <a:xfrm>
            <a:off x="5184648" y="2761488"/>
            <a:ext cx="219456" cy="0"/>
          </a:xfrm>
          <a:prstGeom prst="line">
            <a:avLst/>
          </a:prstGeom>
          <a:noFill/>
          <a:ln w="19050">
            <a:solidFill>
              <a:srgbClr val="8292AA"/>
            </a:solidFill>
            <a:prstDash val="solid"/>
            <a:headEnd type="none"/>
            <a:tailEnd type="triangle"/>
          </a:ln>
        </p:spPr>
      </p:sp>
      <p:sp>
        <p:nvSpPr>
          <p:cNvPr id="23" name="Shape 21"/>
          <p:cNvSpPr/>
          <p:nvPr/>
        </p:nvSpPr>
        <p:spPr>
          <a:xfrm>
            <a:off x="5486400" y="1874520"/>
            <a:ext cx="2331720" cy="1874520"/>
          </a:xfrm>
          <a:prstGeom prst="roundRect">
            <a:avLst>
              <a:gd name="adj" fmla="val 5854"/>
            </a:avLst>
          </a:prstGeom>
          <a:solidFill>
            <a:srgbClr val="18243A"/>
          </a:solidFill>
          <a:ln w="12700">
            <a:solidFill>
              <a:srgbClr val="324057"/>
            </a:solidFill>
            <a:prstDash val="solid"/>
          </a:ln>
        </p:spPr>
      </p:sp>
      <p:sp>
        <p:nvSpPr>
          <p:cNvPr id="24" name="Shape 22"/>
          <p:cNvSpPr/>
          <p:nvPr/>
        </p:nvSpPr>
        <p:spPr>
          <a:xfrm>
            <a:off x="5486400" y="1874520"/>
            <a:ext cx="2331720" cy="73152"/>
          </a:xfrm>
          <a:prstGeom prst="rect">
            <a:avLst>
              <a:gd name="adj" fmla="val 150000"/>
            </a:avLst>
          </a:prstGeom>
          <a:solidFill>
            <a:srgbClr val="FFC857"/>
          </a:solidFill>
          <a:ln w="12700">
            <a:solidFill>
              <a:srgbClr val="FFC857">
                <a:alpha val="0"/>
              </a:srgbClr>
            </a:solidFill>
            <a:prstDash val="solid"/>
          </a:ln>
        </p:spPr>
      </p:sp>
      <p:sp>
        <p:nvSpPr>
          <p:cNvPr id="25" name="Text 23"/>
          <p:cNvSpPr txBox="1"/>
          <p:nvPr/>
        </p:nvSpPr>
        <p:spPr>
          <a:xfrm>
            <a:off x="5650992" y="2112264"/>
            <a:ext cx="2002536" cy="310896"/>
          </a:xfrm>
          <a:prstGeom prst="rect">
            <a:avLst/>
          </a:prstGeom>
          <a:noFill/>
          <a:ln/>
        </p:spPr>
        <p:txBody>
          <a:bodyPr wrap="square" lIns="0" tIns="0" rIns="0" bIns="0" rtlCol="0" anchor="ctr">
            <a:normAutofit/>
          </a:bodyPr>
          <a:lstStyle/>
          <a:p>
            <a:pPr algn="l" indent="0" marL="0">
              <a:buNone/>
            </a:pPr>
            <a:r>
              <a:rPr lang="en-US" sz="1400" b="1" dirty="0">
                <a:solidFill>
                  <a:srgbClr val="FFC857"/>
                </a:solidFill>
                <a:latin typeface="Aptos" pitchFamily="34" charset="0"/>
                <a:ea typeface="Aptos" pitchFamily="34" charset="-122"/>
                <a:cs typeface="Aptos" pitchFamily="34" charset="-120"/>
              </a:rPr>
              <a:t>SUPABASE</a:t>
            </a:r>
            <a:endParaRPr lang="en-US" sz="1400" dirty="0"/>
          </a:p>
        </p:txBody>
      </p:sp>
      <p:sp>
        <p:nvSpPr>
          <p:cNvPr id="26" name="Shape 24"/>
          <p:cNvSpPr/>
          <p:nvPr/>
        </p:nvSpPr>
        <p:spPr>
          <a:xfrm>
            <a:off x="5650992" y="2697480"/>
            <a:ext cx="68580" cy="68580"/>
          </a:xfrm>
          <a:prstGeom prst="ellipse">
            <a:avLst/>
          </a:prstGeom>
          <a:solidFill>
            <a:srgbClr val="FFC857"/>
          </a:solidFill>
          <a:ln w="12700">
            <a:solidFill>
              <a:srgbClr val="FFC857">
                <a:alpha val="0"/>
              </a:srgbClr>
            </a:solidFill>
            <a:prstDash val="solid"/>
          </a:ln>
        </p:spPr>
      </p:sp>
      <p:sp>
        <p:nvSpPr>
          <p:cNvPr id="27" name="Text 25"/>
          <p:cNvSpPr txBox="1"/>
          <p:nvPr/>
        </p:nvSpPr>
        <p:spPr>
          <a:xfrm>
            <a:off x="5815584" y="2587752"/>
            <a:ext cx="185623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Authentication</a:t>
            </a:r>
            <a:endParaRPr lang="en-US" sz="1150" dirty="0"/>
          </a:p>
        </p:txBody>
      </p:sp>
      <p:sp>
        <p:nvSpPr>
          <p:cNvPr id="28" name="Shape 26"/>
          <p:cNvSpPr/>
          <p:nvPr/>
        </p:nvSpPr>
        <p:spPr>
          <a:xfrm>
            <a:off x="5650992" y="3026664"/>
            <a:ext cx="68580" cy="68580"/>
          </a:xfrm>
          <a:prstGeom prst="ellipse">
            <a:avLst/>
          </a:prstGeom>
          <a:solidFill>
            <a:srgbClr val="FFC857"/>
          </a:solidFill>
          <a:ln w="12700">
            <a:solidFill>
              <a:srgbClr val="FFC857">
                <a:alpha val="0"/>
              </a:srgbClr>
            </a:solidFill>
            <a:prstDash val="solid"/>
          </a:ln>
        </p:spPr>
      </p:sp>
      <p:sp>
        <p:nvSpPr>
          <p:cNvPr id="29" name="Text 27"/>
          <p:cNvSpPr txBox="1"/>
          <p:nvPr/>
        </p:nvSpPr>
        <p:spPr>
          <a:xfrm>
            <a:off x="5815584" y="2916936"/>
            <a:ext cx="185623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API access</a:t>
            </a:r>
            <a:endParaRPr lang="en-US" sz="1150" dirty="0"/>
          </a:p>
        </p:txBody>
      </p:sp>
      <p:sp>
        <p:nvSpPr>
          <p:cNvPr id="30" name="Shape 28"/>
          <p:cNvSpPr/>
          <p:nvPr/>
        </p:nvSpPr>
        <p:spPr>
          <a:xfrm>
            <a:off x="5650992" y="3355848"/>
            <a:ext cx="68580" cy="68580"/>
          </a:xfrm>
          <a:prstGeom prst="ellipse">
            <a:avLst/>
          </a:prstGeom>
          <a:solidFill>
            <a:srgbClr val="FFC857"/>
          </a:solidFill>
          <a:ln w="12700">
            <a:solidFill>
              <a:srgbClr val="FFC857">
                <a:alpha val="0"/>
              </a:srgbClr>
            </a:solidFill>
            <a:prstDash val="solid"/>
          </a:ln>
        </p:spPr>
      </p:sp>
      <p:sp>
        <p:nvSpPr>
          <p:cNvPr id="31" name="Text 29"/>
          <p:cNvSpPr txBox="1"/>
          <p:nvPr/>
        </p:nvSpPr>
        <p:spPr>
          <a:xfrm>
            <a:off x="5815584" y="3246120"/>
            <a:ext cx="185623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RLS policies</a:t>
            </a:r>
            <a:endParaRPr lang="en-US" sz="1150" dirty="0"/>
          </a:p>
        </p:txBody>
      </p:sp>
      <p:sp>
        <p:nvSpPr>
          <p:cNvPr id="32" name="Shape 30"/>
          <p:cNvSpPr/>
          <p:nvPr/>
        </p:nvSpPr>
        <p:spPr>
          <a:xfrm>
            <a:off x="7854696" y="2761488"/>
            <a:ext cx="228600" cy="0"/>
          </a:xfrm>
          <a:prstGeom prst="line">
            <a:avLst/>
          </a:prstGeom>
          <a:noFill/>
          <a:ln w="19050">
            <a:solidFill>
              <a:srgbClr val="8292AA"/>
            </a:solidFill>
            <a:prstDash val="solid"/>
            <a:headEnd type="none"/>
            <a:tailEnd type="triangle"/>
          </a:ln>
        </p:spPr>
      </p:sp>
      <p:sp>
        <p:nvSpPr>
          <p:cNvPr id="33" name="Shape 31"/>
          <p:cNvSpPr/>
          <p:nvPr/>
        </p:nvSpPr>
        <p:spPr>
          <a:xfrm>
            <a:off x="8165592" y="1874520"/>
            <a:ext cx="3063240" cy="1874520"/>
          </a:xfrm>
          <a:prstGeom prst="roundRect">
            <a:avLst>
              <a:gd name="adj" fmla="val 5854"/>
            </a:avLst>
          </a:prstGeom>
          <a:solidFill>
            <a:srgbClr val="18243A"/>
          </a:solidFill>
          <a:ln w="12700">
            <a:solidFill>
              <a:srgbClr val="324057"/>
            </a:solidFill>
            <a:prstDash val="solid"/>
          </a:ln>
        </p:spPr>
      </p:sp>
      <p:sp>
        <p:nvSpPr>
          <p:cNvPr id="34" name="Shape 32"/>
          <p:cNvSpPr/>
          <p:nvPr/>
        </p:nvSpPr>
        <p:spPr>
          <a:xfrm>
            <a:off x="8165592" y="1874520"/>
            <a:ext cx="3063240" cy="73152"/>
          </a:xfrm>
          <a:prstGeom prst="rect">
            <a:avLst>
              <a:gd name="adj" fmla="val 150000"/>
            </a:avLst>
          </a:prstGeom>
          <a:solidFill>
            <a:srgbClr val="76D6A5"/>
          </a:solidFill>
          <a:ln w="12700">
            <a:solidFill>
              <a:srgbClr val="76D6A5">
                <a:alpha val="0"/>
              </a:srgbClr>
            </a:solidFill>
            <a:prstDash val="solid"/>
          </a:ln>
        </p:spPr>
      </p:sp>
      <p:sp>
        <p:nvSpPr>
          <p:cNvPr id="35" name="Text 33"/>
          <p:cNvSpPr txBox="1"/>
          <p:nvPr/>
        </p:nvSpPr>
        <p:spPr>
          <a:xfrm>
            <a:off x="8330184" y="2112264"/>
            <a:ext cx="2734056" cy="310896"/>
          </a:xfrm>
          <a:prstGeom prst="rect">
            <a:avLst/>
          </a:prstGeom>
          <a:noFill/>
          <a:ln/>
        </p:spPr>
        <p:txBody>
          <a:bodyPr wrap="square" lIns="0" tIns="0" rIns="0" bIns="0" rtlCol="0" anchor="ctr">
            <a:normAutofit/>
          </a:bodyPr>
          <a:lstStyle/>
          <a:p>
            <a:pPr algn="l" indent="0" marL="0">
              <a:buNone/>
            </a:pPr>
            <a:r>
              <a:rPr lang="en-US" sz="1400" b="1" dirty="0">
                <a:solidFill>
                  <a:srgbClr val="76D6A5"/>
                </a:solidFill>
                <a:latin typeface="Aptos" pitchFamily="34" charset="0"/>
                <a:ea typeface="Aptos" pitchFamily="34" charset="-122"/>
                <a:cs typeface="Aptos" pitchFamily="34" charset="-120"/>
              </a:rPr>
              <a:t>POSTGRESQL</a:t>
            </a:r>
            <a:endParaRPr lang="en-US" sz="1400" dirty="0"/>
          </a:p>
        </p:txBody>
      </p:sp>
      <p:sp>
        <p:nvSpPr>
          <p:cNvPr id="36" name="Shape 34"/>
          <p:cNvSpPr/>
          <p:nvPr/>
        </p:nvSpPr>
        <p:spPr>
          <a:xfrm>
            <a:off x="8330184" y="2697480"/>
            <a:ext cx="68580" cy="68580"/>
          </a:xfrm>
          <a:prstGeom prst="ellipse">
            <a:avLst/>
          </a:prstGeom>
          <a:solidFill>
            <a:srgbClr val="76D6A5"/>
          </a:solidFill>
          <a:ln w="12700">
            <a:solidFill>
              <a:srgbClr val="76D6A5">
                <a:alpha val="0"/>
              </a:srgbClr>
            </a:solidFill>
            <a:prstDash val="solid"/>
          </a:ln>
        </p:spPr>
      </p:sp>
      <p:sp>
        <p:nvSpPr>
          <p:cNvPr id="37" name="Text 35"/>
          <p:cNvSpPr txBox="1"/>
          <p:nvPr/>
        </p:nvSpPr>
        <p:spPr>
          <a:xfrm>
            <a:off x="8494776" y="2587752"/>
            <a:ext cx="258775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TekstKorisnika table</a:t>
            </a:r>
            <a:endParaRPr lang="en-US" sz="1150" dirty="0"/>
          </a:p>
        </p:txBody>
      </p:sp>
      <p:sp>
        <p:nvSpPr>
          <p:cNvPr id="38" name="Shape 36"/>
          <p:cNvSpPr/>
          <p:nvPr/>
        </p:nvSpPr>
        <p:spPr>
          <a:xfrm>
            <a:off x="8330184" y="3026664"/>
            <a:ext cx="68580" cy="68580"/>
          </a:xfrm>
          <a:prstGeom prst="ellipse">
            <a:avLst/>
          </a:prstGeom>
          <a:solidFill>
            <a:srgbClr val="76D6A5"/>
          </a:solidFill>
          <a:ln w="12700">
            <a:solidFill>
              <a:srgbClr val="76D6A5">
                <a:alpha val="0"/>
              </a:srgbClr>
            </a:solidFill>
            <a:prstDash val="solid"/>
          </a:ln>
        </p:spPr>
      </p:sp>
      <p:sp>
        <p:nvSpPr>
          <p:cNvPr id="39" name="Text 37"/>
          <p:cNvSpPr txBox="1"/>
          <p:nvPr/>
        </p:nvSpPr>
        <p:spPr>
          <a:xfrm>
            <a:off x="8494776" y="2916936"/>
            <a:ext cx="258775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id • user_id • text</a:t>
            </a:r>
            <a:endParaRPr lang="en-US" sz="1150" dirty="0"/>
          </a:p>
        </p:txBody>
      </p:sp>
      <p:sp>
        <p:nvSpPr>
          <p:cNvPr id="40" name="Shape 38"/>
          <p:cNvSpPr/>
          <p:nvPr/>
        </p:nvSpPr>
        <p:spPr>
          <a:xfrm>
            <a:off x="8330184" y="3355848"/>
            <a:ext cx="68580" cy="68580"/>
          </a:xfrm>
          <a:prstGeom prst="ellipse">
            <a:avLst/>
          </a:prstGeom>
          <a:solidFill>
            <a:srgbClr val="76D6A5"/>
          </a:solidFill>
          <a:ln w="12700">
            <a:solidFill>
              <a:srgbClr val="76D6A5">
                <a:alpha val="0"/>
              </a:srgbClr>
            </a:solidFill>
            <a:prstDash val="solid"/>
          </a:ln>
        </p:spPr>
      </p:sp>
      <p:sp>
        <p:nvSpPr>
          <p:cNvPr id="41" name="Text 39"/>
          <p:cNvSpPr txBox="1"/>
          <p:nvPr/>
        </p:nvSpPr>
        <p:spPr>
          <a:xfrm>
            <a:off x="8494776" y="3246120"/>
            <a:ext cx="2587752" cy="310896"/>
          </a:xfrm>
          <a:prstGeom prst="rect">
            <a:avLst/>
          </a:prstGeom>
          <a:noFill/>
          <a:ln/>
        </p:spPr>
        <p:txBody>
          <a:bodyPr wrap="square" lIns="0" tIns="0" rIns="0" bIns="0" rtlCol="0" anchor="t">
            <a:normAutofit/>
          </a:bodyPr>
          <a:lstStyle/>
          <a:p>
            <a:pPr algn="l" indent="0" marL="0">
              <a:buNone/>
            </a:pPr>
            <a:r>
              <a:rPr lang="en-US" sz="1150" dirty="0">
                <a:solidFill>
                  <a:srgbClr val="B5C0D1"/>
                </a:solidFill>
                <a:latin typeface="Aptos" pitchFamily="34" charset="0"/>
                <a:ea typeface="Aptos" pitchFamily="34" charset="-122"/>
                <a:cs typeface="Aptos" pitchFamily="34" charset="-120"/>
              </a:rPr>
              <a:t>Rows associated with users</a:t>
            </a:r>
            <a:endParaRPr lang="en-US" sz="1150" dirty="0"/>
          </a:p>
        </p:txBody>
      </p:sp>
      <p:sp>
        <p:nvSpPr>
          <p:cNvPr id="42" name="Shape 40"/>
          <p:cNvSpPr/>
          <p:nvPr/>
        </p:nvSpPr>
        <p:spPr>
          <a:xfrm>
            <a:off x="621792" y="4133088"/>
            <a:ext cx="6537960" cy="1325880"/>
          </a:xfrm>
          <a:prstGeom prst="roundRect">
            <a:avLst>
              <a:gd name="adj" fmla="val 8276"/>
            </a:avLst>
          </a:prstGeom>
          <a:solidFill>
            <a:srgbClr val="202E46"/>
          </a:solidFill>
          <a:ln w="12700">
            <a:solidFill>
              <a:srgbClr val="202E46">
                <a:alpha val="0"/>
              </a:srgbClr>
            </a:solidFill>
            <a:prstDash val="solid"/>
          </a:ln>
        </p:spPr>
      </p:sp>
      <p:sp>
        <p:nvSpPr>
          <p:cNvPr id="43" name="Text 41"/>
          <p:cNvSpPr txBox="1"/>
          <p:nvPr/>
        </p:nvSpPr>
        <p:spPr>
          <a:xfrm>
            <a:off x="841248" y="4343400"/>
            <a:ext cx="274320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59DCE2"/>
                </a:solidFill>
                <a:latin typeface="Aptos" pitchFamily="34" charset="0"/>
                <a:ea typeface="Aptos" pitchFamily="34" charset="-122"/>
                <a:cs typeface="Aptos" pitchFamily="34" charset="-120"/>
              </a:rPr>
              <a:t>IDENTITY + DATA ACCESS</a:t>
            </a:r>
            <a:endParaRPr lang="en-US" sz="1000" dirty="0"/>
          </a:p>
        </p:txBody>
      </p:sp>
      <p:sp>
        <p:nvSpPr>
          <p:cNvPr id="44" name="Text 42"/>
          <p:cNvSpPr txBox="1"/>
          <p:nvPr/>
        </p:nvSpPr>
        <p:spPr>
          <a:xfrm>
            <a:off x="841248" y="4681728"/>
            <a:ext cx="5989320" cy="475488"/>
          </a:xfrm>
          <a:prstGeom prst="rect">
            <a:avLst/>
          </a:prstGeom>
          <a:noFill/>
          <a:ln/>
        </p:spPr>
        <p:txBody>
          <a:bodyPr wrap="square" lIns="0" tIns="0" rIns="0" bIns="0" rtlCol="0" anchor="t">
            <a:normAutofit/>
          </a:bodyPr>
          <a:lstStyle/>
          <a:p>
            <a:pPr algn="l" indent="0" marL="0">
              <a:buNone/>
            </a:pPr>
            <a:r>
              <a:rPr lang="en-US" sz="1400" dirty="0">
                <a:solidFill>
                  <a:srgbClr val="F5F7FB"/>
                </a:solidFill>
                <a:latin typeface="Aptos" pitchFamily="34" charset="0"/>
                <a:ea typeface="Aptos" pitchFamily="34" charset="-122"/>
                <a:cs typeface="Aptos" pitchFamily="34" charset="-120"/>
              </a:rPr>
              <a:t>Supabase Auth assigns a user identity (UUID). RLS is intended to enforce which rows a user may access.</a:t>
            </a:r>
            <a:endParaRPr lang="en-US" sz="1400" dirty="0"/>
          </a:p>
        </p:txBody>
      </p:sp>
      <p:sp>
        <p:nvSpPr>
          <p:cNvPr id="45" name="Shape 43"/>
          <p:cNvSpPr/>
          <p:nvPr/>
        </p:nvSpPr>
        <p:spPr>
          <a:xfrm>
            <a:off x="7406640" y="4133088"/>
            <a:ext cx="3822192" cy="1325880"/>
          </a:xfrm>
          <a:prstGeom prst="roundRect">
            <a:avLst>
              <a:gd name="adj" fmla="val 8276"/>
            </a:avLst>
          </a:prstGeom>
          <a:solidFill>
            <a:srgbClr val="18243A"/>
          </a:solidFill>
          <a:ln w="12700">
            <a:solidFill>
              <a:srgbClr val="324057"/>
            </a:solidFill>
            <a:prstDash val="solid"/>
          </a:ln>
        </p:spPr>
      </p:sp>
      <p:sp>
        <p:nvSpPr>
          <p:cNvPr id="46" name="Text 44"/>
          <p:cNvSpPr txBox="1"/>
          <p:nvPr/>
        </p:nvSpPr>
        <p:spPr>
          <a:xfrm>
            <a:off x="7626096" y="4334256"/>
            <a:ext cx="329184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FFC857"/>
                </a:solidFill>
                <a:latin typeface="Aptos" pitchFamily="34" charset="0"/>
                <a:ea typeface="Aptos" pitchFamily="34" charset="-122"/>
                <a:cs typeface="Aptos" pitchFamily="34" charset="-120"/>
              </a:rPr>
              <a:t>CORE USER JOURNEY</a:t>
            </a:r>
            <a:endParaRPr lang="en-US" sz="1000" dirty="0"/>
          </a:p>
        </p:txBody>
      </p:sp>
      <p:sp>
        <p:nvSpPr>
          <p:cNvPr id="47" name="Text 45"/>
          <p:cNvSpPr txBox="1"/>
          <p:nvPr/>
        </p:nvSpPr>
        <p:spPr>
          <a:xfrm>
            <a:off x="7626096" y="4718304"/>
            <a:ext cx="3337560" cy="402336"/>
          </a:xfrm>
          <a:prstGeom prst="rect">
            <a:avLst/>
          </a:prstGeom>
          <a:noFill/>
          <a:ln/>
        </p:spPr>
        <p:txBody>
          <a:bodyPr wrap="square" lIns="0" tIns="0" rIns="0" bIns="0" rtlCol="0" anchor="ctr">
            <a:normAutofit/>
          </a:bodyPr>
          <a:lstStyle/>
          <a:p>
            <a:pPr algn="ctr" indent="0" marL="0">
              <a:buNone/>
            </a:pPr>
            <a:r>
              <a:rPr lang="en-US" sz="1300" b="1" dirty="0">
                <a:solidFill>
                  <a:srgbClr val="F5F7FB"/>
                </a:solidFill>
                <a:latin typeface="Aptos" pitchFamily="34" charset="0"/>
                <a:ea typeface="Aptos" pitchFamily="34" charset="-122"/>
                <a:cs typeface="Aptos" pitchFamily="34" charset="-120"/>
              </a:rPr>
              <a:t>Register  →  Login  →  Comment  →  Delete</a:t>
            </a:r>
            <a:endParaRPr lang="en-US" sz="1300" dirty="0"/>
          </a:p>
        </p:txBody>
      </p:sp>
      <p:sp>
        <p:nvSpPr>
          <p:cNvPr id="48" name="Text 46"/>
          <p:cNvSpPr txBox="1"/>
          <p:nvPr/>
        </p:nvSpPr>
        <p:spPr>
          <a:xfrm>
            <a:off x="658368" y="5852160"/>
            <a:ext cx="10835640" cy="274320"/>
          </a:xfrm>
          <a:prstGeom prst="rect">
            <a:avLst/>
          </a:prstGeom>
          <a:noFill/>
          <a:ln/>
        </p:spPr>
        <p:txBody>
          <a:bodyPr wrap="square" lIns="0" tIns="0" rIns="0" bIns="0" rtlCol="0" anchor="ctr">
            <a:normAutofit/>
          </a:bodyPr>
          <a:lstStyle/>
          <a:p>
            <a:pPr algn="l" indent="0" marL="0">
              <a:buNone/>
            </a:pPr>
            <a:r>
              <a:rPr lang="en-US" sz="1400" b="1" dirty="0">
                <a:solidFill>
                  <a:srgbClr val="FF927C"/>
                </a:solidFill>
                <a:latin typeface="Aptos" pitchFamily="34" charset="0"/>
                <a:ea typeface="Aptos" pitchFamily="34" charset="-122"/>
                <a:cs typeface="Aptos" pitchFamily="34" charset="-120"/>
              </a:rPr>
              <a:t>Key test question: does the screen, stored data and permission model agree?</a:t>
            </a:r>
            <a:endParaRPr lang="en-US" sz="140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02 / TESTING APPROACHES</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Three lenses, three kinds of visibility</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The methods differ mainly in what the tester can see and inspect.</a:t>
            </a:r>
            <a:endParaRPr lang="en-US" sz="1200" dirty="0"/>
          </a:p>
        </p:txBody>
      </p:sp>
      <p:sp>
        <p:nvSpPr>
          <p:cNvPr id="5" name="Shape 3"/>
          <p:cNvSpPr/>
          <p:nvPr/>
        </p:nvSpPr>
        <p:spPr>
          <a:xfrm>
            <a:off x="621792" y="1691640"/>
            <a:ext cx="3246120" cy="4315968"/>
          </a:xfrm>
          <a:prstGeom prst="roundRect">
            <a:avLst>
              <a:gd name="adj" fmla="val 3380"/>
            </a:avLst>
          </a:prstGeom>
          <a:solidFill>
            <a:srgbClr val="18243A"/>
          </a:solidFill>
          <a:ln w="12700">
            <a:solidFill>
              <a:srgbClr val="324057"/>
            </a:solidFill>
            <a:prstDash val="solid"/>
          </a:ln>
        </p:spPr>
      </p:sp>
      <p:sp>
        <p:nvSpPr>
          <p:cNvPr id="6" name="Shape 4"/>
          <p:cNvSpPr/>
          <p:nvPr/>
        </p:nvSpPr>
        <p:spPr>
          <a:xfrm>
            <a:off x="841248" y="1920240"/>
            <a:ext cx="475488" cy="475488"/>
          </a:xfrm>
          <a:prstGeom prst="ellipse">
            <a:avLst/>
          </a:prstGeom>
          <a:solidFill>
            <a:srgbClr val="202E46"/>
          </a:solidFill>
          <a:ln w="19050">
            <a:solidFill>
              <a:srgbClr val="59DCE2"/>
            </a:solidFill>
            <a:prstDash val="solid"/>
          </a:ln>
        </p:spPr>
      </p:sp>
      <p:sp>
        <p:nvSpPr>
          <p:cNvPr id="7" name="Text 5"/>
          <p:cNvSpPr txBox="1"/>
          <p:nvPr/>
        </p:nvSpPr>
        <p:spPr>
          <a:xfrm>
            <a:off x="841248" y="1920240"/>
            <a:ext cx="475488" cy="475488"/>
          </a:xfrm>
          <a:prstGeom prst="rect">
            <a:avLst/>
          </a:prstGeom>
          <a:noFill/>
          <a:ln/>
        </p:spPr>
        <p:txBody>
          <a:bodyPr wrap="square" lIns="0" tIns="0" rIns="0" bIns="0" rtlCol="0" anchor="ctr">
            <a:normAutofit/>
          </a:bodyPr>
          <a:lstStyle/>
          <a:p>
            <a:pPr algn="ctr" indent="0" marL="0">
              <a:buNone/>
            </a:pPr>
            <a:r>
              <a:rPr lang="en-US" sz="1200" b="1" dirty="0">
                <a:solidFill>
                  <a:srgbClr val="59DCE2"/>
                </a:solidFill>
                <a:latin typeface="Aptos" pitchFamily="34" charset="0"/>
                <a:ea typeface="Aptos" pitchFamily="34" charset="-122"/>
                <a:cs typeface="Aptos" pitchFamily="34" charset="-120"/>
              </a:rPr>
              <a:t>01</a:t>
            </a:r>
            <a:endParaRPr lang="en-US" sz="1200" dirty="0"/>
          </a:p>
        </p:txBody>
      </p:sp>
      <p:sp>
        <p:nvSpPr>
          <p:cNvPr id="8" name="Text 6"/>
          <p:cNvSpPr txBox="1"/>
          <p:nvPr/>
        </p:nvSpPr>
        <p:spPr>
          <a:xfrm>
            <a:off x="1444752" y="1920240"/>
            <a:ext cx="2148840" cy="274320"/>
          </a:xfrm>
          <a:prstGeom prst="rect">
            <a:avLst/>
          </a:prstGeom>
          <a:noFill/>
          <a:ln/>
        </p:spPr>
        <p:txBody>
          <a:bodyPr wrap="square" lIns="0" tIns="0" rIns="0" bIns="0" rtlCol="0" anchor="ctr">
            <a:normAutofit/>
          </a:bodyPr>
          <a:lstStyle/>
          <a:p>
            <a:pPr algn="l" indent="0" marL="0">
              <a:buNone/>
            </a:pPr>
            <a:r>
              <a:rPr lang="en-US" sz="1500" b="1" dirty="0">
                <a:solidFill>
                  <a:srgbClr val="59DCE2"/>
                </a:solidFill>
                <a:latin typeface="Aptos" pitchFamily="34" charset="0"/>
                <a:ea typeface="Aptos" pitchFamily="34" charset="-122"/>
                <a:cs typeface="Aptos" pitchFamily="34" charset="-120"/>
              </a:rPr>
              <a:t>WHITE-BOX</a:t>
            </a:r>
            <a:endParaRPr lang="en-US" sz="1500" dirty="0"/>
          </a:p>
        </p:txBody>
      </p:sp>
      <p:sp>
        <p:nvSpPr>
          <p:cNvPr id="9" name="Text 7"/>
          <p:cNvSpPr txBox="1"/>
          <p:nvPr/>
        </p:nvSpPr>
        <p:spPr>
          <a:xfrm>
            <a:off x="850392" y="2551176"/>
            <a:ext cx="2788920" cy="274320"/>
          </a:xfrm>
          <a:prstGeom prst="rect">
            <a:avLst/>
          </a:prstGeom>
          <a:noFill/>
          <a:ln/>
        </p:spPr>
        <p:txBody>
          <a:bodyPr wrap="square" lIns="0" tIns="0" rIns="0" bIns="0" rtlCol="0" anchor="ctr">
            <a:normAutofit/>
          </a:bodyPr>
          <a:lstStyle/>
          <a:p>
            <a:pPr algn="l" indent="0" marL="0">
              <a:buNone/>
            </a:pPr>
            <a:r>
              <a:rPr lang="en-US" sz="1400" b="1" dirty="0">
                <a:solidFill>
                  <a:srgbClr val="F5F7FB"/>
                </a:solidFill>
                <a:latin typeface="Aptos" pitchFamily="34" charset="0"/>
                <a:ea typeface="Aptos" pitchFamily="34" charset="-122"/>
                <a:cs typeface="Aptos" pitchFamily="34" charset="-120"/>
              </a:rPr>
              <a:t>Inside the code</a:t>
            </a:r>
            <a:endParaRPr lang="en-US" sz="1400" dirty="0"/>
          </a:p>
        </p:txBody>
      </p:sp>
      <p:sp>
        <p:nvSpPr>
          <p:cNvPr id="10" name="Shape 8"/>
          <p:cNvSpPr/>
          <p:nvPr/>
        </p:nvSpPr>
        <p:spPr>
          <a:xfrm>
            <a:off x="850392" y="3145536"/>
            <a:ext cx="68580" cy="68580"/>
          </a:xfrm>
          <a:prstGeom prst="ellipse">
            <a:avLst/>
          </a:prstGeom>
          <a:solidFill>
            <a:srgbClr val="59DCE2"/>
          </a:solidFill>
          <a:ln w="12700">
            <a:solidFill>
              <a:srgbClr val="59DCE2">
                <a:alpha val="0"/>
              </a:srgbClr>
            </a:solidFill>
            <a:prstDash val="solid"/>
          </a:ln>
        </p:spPr>
      </p:sp>
      <p:sp>
        <p:nvSpPr>
          <p:cNvPr id="11" name="Text 9"/>
          <p:cNvSpPr txBox="1"/>
          <p:nvPr/>
        </p:nvSpPr>
        <p:spPr>
          <a:xfrm>
            <a:off x="1014984" y="3035808"/>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Source code and functions</a:t>
            </a:r>
            <a:endParaRPr lang="en-US" sz="1180" dirty="0"/>
          </a:p>
        </p:txBody>
      </p:sp>
      <p:sp>
        <p:nvSpPr>
          <p:cNvPr id="12" name="Shape 10"/>
          <p:cNvSpPr/>
          <p:nvPr/>
        </p:nvSpPr>
        <p:spPr>
          <a:xfrm>
            <a:off x="850392" y="3593592"/>
            <a:ext cx="68580" cy="68580"/>
          </a:xfrm>
          <a:prstGeom prst="ellipse">
            <a:avLst/>
          </a:prstGeom>
          <a:solidFill>
            <a:srgbClr val="59DCE2"/>
          </a:solidFill>
          <a:ln w="12700">
            <a:solidFill>
              <a:srgbClr val="59DCE2">
                <a:alpha val="0"/>
              </a:srgbClr>
            </a:solidFill>
            <a:prstDash val="solid"/>
          </a:ln>
        </p:spPr>
      </p:sp>
      <p:sp>
        <p:nvSpPr>
          <p:cNvPr id="13" name="Text 11"/>
          <p:cNvSpPr txBox="1"/>
          <p:nvPr/>
        </p:nvSpPr>
        <p:spPr>
          <a:xfrm>
            <a:off x="1014984" y="3483864"/>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Control flow and data access</a:t>
            </a:r>
            <a:endParaRPr lang="en-US" sz="1180" dirty="0"/>
          </a:p>
        </p:txBody>
      </p:sp>
      <p:sp>
        <p:nvSpPr>
          <p:cNvPr id="14" name="Shape 12"/>
          <p:cNvSpPr/>
          <p:nvPr/>
        </p:nvSpPr>
        <p:spPr>
          <a:xfrm>
            <a:off x="850392" y="4041648"/>
            <a:ext cx="68580" cy="68580"/>
          </a:xfrm>
          <a:prstGeom prst="ellipse">
            <a:avLst/>
          </a:prstGeom>
          <a:solidFill>
            <a:srgbClr val="59DCE2"/>
          </a:solidFill>
          <a:ln w="12700">
            <a:solidFill>
              <a:srgbClr val="59DCE2">
                <a:alpha val="0"/>
              </a:srgbClr>
            </a:solidFill>
            <a:prstDash val="solid"/>
          </a:ln>
        </p:spPr>
      </p:sp>
      <p:sp>
        <p:nvSpPr>
          <p:cNvPr id="15" name="Text 13"/>
          <p:cNvSpPr txBox="1"/>
          <p:nvPr/>
        </p:nvSpPr>
        <p:spPr>
          <a:xfrm>
            <a:off x="1014984" y="3931920"/>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Reusable logic and configuration</a:t>
            </a:r>
            <a:endParaRPr lang="en-US" sz="1180" dirty="0"/>
          </a:p>
        </p:txBody>
      </p:sp>
      <p:sp>
        <p:nvSpPr>
          <p:cNvPr id="16" name="Shape 14"/>
          <p:cNvSpPr/>
          <p:nvPr/>
        </p:nvSpPr>
        <p:spPr>
          <a:xfrm>
            <a:off x="804672" y="4599432"/>
            <a:ext cx="2880360" cy="658368"/>
          </a:xfrm>
          <a:prstGeom prst="roundRect">
            <a:avLst>
              <a:gd name="adj" fmla="val 16667"/>
            </a:avLst>
          </a:prstGeom>
          <a:solidFill>
            <a:srgbClr val="202E46"/>
          </a:solidFill>
          <a:ln w="12700">
            <a:solidFill>
              <a:srgbClr val="202E46">
                <a:alpha val="0"/>
              </a:srgbClr>
            </a:solidFill>
            <a:prstDash val="solid"/>
          </a:ln>
        </p:spPr>
      </p:sp>
      <p:sp>
        <p:nvSpPr>
          <p:cNvPr id="17" name="Text 15"/>
          <p:cNvSpPr txBox="1"/>
          <p:nvPr/>
        </p:nvSpPr>
        <p:spPr>
          <a:xfrm>
            <a:off x="932688" y="4672584"/>
            <a:ext cx="2633472" cy="493776"/>
          </a:xfrm>
          <a:prstGeom prst="rect">
            <a:avLst/>
          </a:prstGeom>
          <a:noFill/>
          <a:ln/>
        </p:spPr>
        <p:txBody>
          <a:bodyPr wrap="square" lIns="0" tIns="0" rIns="0" bIns="0" rtlCol="0" anchor="ctr">
            <a:normAutofit/>
          </a:bodyPr>
          <a:lstStyle/>
          <a:p>
            <a:pPr algn="l" indent="0" marL="0">
              <a:buNone/>
            </a:pPr>
            <a:r>
              <a:rPr lang="en-US" sz="1080" dirty="0">
                <a:solidFill>
                  <a:srgbClr val="F5F7FB"/>
                </a:solidFill>
                <a:latin typeface="Aptos" pitchFamily="34" charset="0"/>
                <a:ea typeface="Aptos" pitchFamily="34" charset="-122"/>
                <a:cs typeface="Aptos" pitchFamily="34" charset="-120"/>
              </a:rPr>
              <a:t>Example: find an unused logout function.</a:t>
            </a:r>
            <a:endParaRPr lang="en-US" sz="1080" dirty="0"/>
          </a:p>
        </p:txBody>
      </p:sp>
      <p:sp>
        <p:nvSpPr>
          <p:cNvPr id="18" name="Text 16"/>
          <p:cNvSpPr txBox="1"/>
          <p:nvPr/>
        </p:nvSpPr>
        <p:spPr>
          <a:xfrm>
            <a:off x="850392" y="5449824"/>
            <a:ext cx="2788920" cy="292608"/>
          </a:xfrm>
          <a:prstGeom prst="rect">
            <a:avLst/>
          </a:prstGeom>
          <a:noFill/>
          <a:ln/>
        </p:spPr>
        <p:txBody>
          <a:bodyPr wrap="square" lIns="0" tIns="0" rIns="0" bIns="0" rtlCol="0" anchor="ctr">
            <a:normAutofit/>
          </a:bodyPr>
          <a:lstStyle/>
          <a:p>
            <a:pPr algn="l" indent="0" marL="0">
              <a:buNone/>
            </a:pPr>
            <a:r>
              <a:rPr lang="en-US" sz="1020" i="1" dirty="0">
                <a:solidFill>
                  <a:srgbClr val="B5C0D1"/>
                </a:solidFill>
                <a:latin typeface="Aptos" pitchFamily="34" charset="0"/>
                <a:ea typeface="Aptos" pitchFamily="34" charset="-122"/>
                <a:cs typeface="Aptos" pitchFamily="34" charset="-120"/>
              </a:rPr>
              <a:t>Best for implementation defects</a:t>
            </a:r>
            <a:endParaRPr lang="en-US" sz="1020" dirty="0"/>
          </a:p>
        </p:txBody>
      </p:sp>
      <p:sp>
        <p:nvSpPr>
          <p:cNvPr id="19" name="Shape 17"/>
          <p:cNvSpPr/>
          <p:nvPr/>
        </p:nvSpPr>
        <p:spPr>
          <a:xfrm>
            <a:off x="4133088" y="1691640"/>
            <a:ext cx="3246120" cy="4315968"/>
          </a:xfrm>
          <a:prstGeom prst="roundRect">
            <a:avLst>
              <a:gd name="adj" fmla="val 3380"/>
            </a:avLst>
          </a:prstGeom>
          <a:solidFill>
            <a:srgbClr val="18243A"/>
          </a:solidFill>
          <a:ln w="12700">
            <a:solidFill>
              <a:srgbClr val="324057"/>
            </a:solidFill>
            <a:prstDash val="solid"/>
          </a:ln>
        </p:spPr>
      </p:sp>
      <p:sp>
        <p:nvSpPr>
          <p:cNvPr id="20" name="Shape 18"/>
          <p:cNvSpPr/>
          <p:nvPr/>
        </p:nvSpPr>
        <p:spPr>
          <a:xfrm>
            <a:off x="4352544" y="1920240"/>
            <a:ext cx="475488" cy="475488"/>
          </a:xfrm>
          <a:prstGeom prst="ellipse">
            <a:avLst/>
          </a:prstGeom>
          <a:solidFill>
            <a:srgbClr val="202E46"/>
          </a:solidFill>
          <a:ln w="19050">
            <a:solidFill>
              <a:srgbClr val="FF927C"/>
            </a:solidFill>
            <a:prstDash val="solid"/>
          </a:ln>
        </p:spPr>
      </p:sp>
      <p:sp>
        <p:nvSpPr>
          <p:cNvPr id="21" name="Text 19"/>
          <p:cNvSpPr txBox="1"/>
          <p:nvPr/>
        </p:nvSpPr>
        <p:spPr>
          <a:xfrm>
            <a:off x="4352544" y="1920240"/>
            <a:ext cx="475488" cy="475488"/>
          </a:xfrm>
          <a:prstGeom prst="rect">
            <a:avLst/>
          </a:prstGeom>
          <a:noFill/>
          <a:ln/>
        </p:spPr>
        <p:txBody>
          <a:bodyPr wrap="square" lIns="0" tIns="0" rIns="0" bIns="0" rtlCol="0" anchor="ctr">
            <a:normAutofit/>
          </a:bodyPr>
          <a:lstStyle/>
          <a:p>
            <a:pPr algn="ctr" indent="0" marL="0">
              <a:buNone/>
            </a:pPr>
            <a:r>
              <a:rPr lang="en-US" sz="1200" b="1" dirty="0">
                <a:solidFill>
                  <a:srgbClr val="FF927C"/>
                </a:solidFill>
                <a:latin typeface="Aptos" pitchFamily="34" charset="0"/>
                <a:ea typeface="Aptos" pitchFamily="34" charset="-122"/>
                <a:cs typeface="Aptos" pitchFamily="34" charset="-120"/>
              </a:rPr>
              <a:t>02</a:t>
            </a:r>
            <a:endParaRPr lang="en-US" sz="1200" dirty="0"/>
          </a:p>
        </p:txBody>
      </p:sp>
      <p:sp>
        <p:nvSpPr>
          <p:cNvPr id="22" name="Text 20"/>
          <p:cNvSpPr txBox="1"/>
          <p:nvPr/>
        </p:nvSpPr>
        <p:spPr>
          <a:xfrm>
            <a:off x="4956048" y="1920240"/>
            <a:ext cx="2148840" cy="274320"/>
          </a:xfrm>
          <a:prstGeom prst="rect">
            <a:avLst/>
          </a:prstGeom>
          <a:noFill/>
          <a:ln/>
        </p:spPr>
        <p:txBody>
          <a:bodyPr wrap="square" lIns="0" tIns="0" rIns="0" bIns="0" rtlCol="0" anchor="ctr">
            <a:normAutofit/>
          </a:bodyPr>
          <a:lstStyle/>
          <a:p>
            <a:pPr algn="l" indent="0" marL="0">
              <a:buNone/>
            </a:pPr>
            <a:r>
              <a:rPr lang="en-US" sz="1500" b="1" dirty="0">
                <a:solidFill>
                  <a:srgbClr val="FF927C"/>
                </a:solidFill>
                <a:latin typeface="Aptos" pitchFamily="34" charset="0"/>
                <a:ea typeface="Aptos" pitchFamily="34" charset="-122"/>
                <a:cs typeface="Aptos" pitchFamily="34" charset="-120"/>
              </a:rPr>
              <a:t>BLACK-BOX</a:t>
            </a:r>
            <a:endParaRPr lang="en-US" sz="1500" dirty="0"/>
          </a:p>
        </p:txBody>
      </p:sp>
      <p:sp>
        <p:nvSpPr>
          <p:cNvPr id="23" name="Text 21"/>
          <p:cNvSpPr txBox="1"/>
          <p:nvPr/>
        </p:nvSpPr>
        <p:spPr>
          <a:xfrm>
            <a:off x="4361688" y="2551176"/>
            <a:ext cx="2788920" cy="274320"/>
          </a:xfrm>
          <a:prstGeom prst="rect">
            <a:avLst/>
          </a:prstGeom>
          <a:noFill/>
          <a:ln/>
        </p:spPr>
        <p:txBody>
          <a:bodyPr wrap="square" lIns="0" tIns="0" rIns="0" bIns="0" rtlCol="0" anchor="ctr">
            <a:normAutofit/>
          </a:bodyPr>
          <a:lstStyle/>
          <a:p>
            <a:pPr algn="l" indent="0" marL="0">
              <a:buNone/>
            </a:pPr>
            <a:r>
              <a:rPr lang="en-US" sz="1400" b="1" dirty="0">
                <a:solidFill>
                  <a:srgbClr val="F5F7FB"/>
                </a:solidFill>
                <a:latin typeface="Aptos" pitchFamily="34" charset="0"/>
                <a:ea typeface="Aptos" pitchFamily="34" charset="-122"/>
                <a:cs typeface="Aptos" pitchFamily="34" charset="-120"/>
              </a:rPr>
              <a:t>Outside behaviour</a:t>
            </a:r>
            <a:endParaRPr lang="en-US" sz="1400" dirty="0"/>
          </a:p>
        </p:txBody>
      </p:sp>
      <p:sp>
        <p:nvSpPr>
          <p:cNvPr id="24" name="Shape 22"/>
          <p:cNvSpPr/>
          <p:nvPr/>
        </p:nvSpPr>
        <p:spPr>
          <a:xfrm>
            <a:off x="4361688" y="3145536"/>
            <a:ext cx="68580" cy="68580"/>
          </a:xfrm>
          <a:prstGeom prst="ellipse">
            <a:avLst/>
          </a:prstGeom>
          <a:solidFill>
            <a:srgbClr val="FF927C"/>
          </a:solidFill>
          <a:ln w="12700">
            <a:solidFill>
              <a:srgbClr val="FF927C">
                <a:alpha val="0"/>
              </a:srgbClr>
            </a:solidFill>
            <a:prstDash val="solid"/>
          </a:ln>
        </p:spPr>
      </p:sp>
      <p:sp>
        <p:nvSpPr>
          <p:cNvPr id="25" name="Text 23"/>
          <p:cNvSpPr txBox="1"/>
          <p:nvPr/>
        </p:nvSpPr>
        <p:spPr>
          <a:xfrm>
            <a:off x="4526280" y="3035808"/>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Inputs and outputs</a:t>
            </a:r>
            <a:endParaRPr lang="en-US" sz="1180" dirty="0"/>
          </a:p>
        </p:txBody>
      </p:sp>
      <p:sp>
        <p:nvSpPr>
          <p:cNvPr id="26" name="Shape 24"/>
          <p:cNvSpPr/>
          <p:nvPr/>
        </p:nvSpPr>
        <p:spPr>
          <a:xfrm>
            <a:off x="4361688" y="3593592"/>
            <a:ext cx="68580" cy="68580"/>
          </a:xfrm>
          <a:prstGeom prst="ellipse">
            <a:avLst/>
          </a:prstGeom>
          <a:solidFill>
            <a:srgbClr val="FF927C"/>
          </a:solidFill>
          <a:ln w="12700">
            <a:solidFill>
              <a:srgbClr val="FF927C">
                <a:alpha val="0"/>
              </a:srgbClr>
            </a:solidFill>
            <a:prstDash val="solid"/>
          </a:ln>
        </p:spPr>
      </p:sp>
      <p:sp>
        <p:nvSpPr>
          <p:cNvPr id="27" name="Text 25"/>
          <p:cNvSpPr txBox="1"/>
          <p:nvPr/>
        </p:nvSpPr>
        <p:spPr>
          <a:xfrm>
            <a:off x="4526280" y="3483864"/>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User journeys and validation</a:t>
            </a:r>
            <a:endParaRPr lang="en-US" sz="1180" dirty="0"/>
          </a:p>
        </p:txBody>
      </p:sp>
      <p:sp>
        <p:nvSpPr>
          <p:cNvPr id="28" name="Shape 26"/>
          <p:cNvSpPr/>
          <p:nvPr/>
        </p:nvSpPr>
        <p:spPr>
          <a:xfrm>
            <a:off x="4361688" y="4041648"/>
            <a:ext cx="68580" cy="68580"/>
          </a:xfrm>
          <a:prstGeom prst="ellipse">
            <a:avLst/>
          </a:prstGeom>
          <a:solidFill>
            <a:srgbClr val="FF927C"/>
          </a:solidFill>
          <a:ln w="12700">
            <a:solidFill>
              <a:srgbClr val="FF927C">
                <a:alpha val="0"/>
              </a:srgbClr>
            </a:solidFill>
            <a:prstDash val="solid"/>
          </a:ln>
        </p:spPr>
      </p:sp>
      <p:sp>
        <p:nvSpPr>
          <p:cNvPr id="29" name="Text 27"/>
          <p:cNvSpPr txBox="1"/>
          <p:nvPr/>
        </p:nvSpPr>
        <p:spPr>
          <a:xfrm>
            <a:off x="4526280" y="3931920"/>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Missing or confusing features</a:t>
            </a:r>
            <a:endParaRPr lang="en-US" sz="1180" dirty="0"/>
          </a:p>
        </p:txBody>
      </p:sp>
      <p:sp>
        <p:nvSpPr>
          <p:cNvPr id="30" name="Shape 28"/>
          <p:cNvSpPr/>
          <p:nvPr/>
        </p:nvSpPr>
        <p:spPr>
          <a:xfrm>
            <a:off x="4315968" y="4599432"/>
            <a:ext cx="2880360" cy="658368"/>
          </a:xfrm>
          <a:prstGeom prst="roundRect">
            <a:avLst>
              <a:gd name="adj" fmla="val 16667"/>
            </a:avLst>
          </a:prstGeom>
          <a:solidFill>
            <a:srgbClr val="202E46"/>
          </a:solidFill>
          <a:ln w="12700">
            <a:solidFill>
              <a:srgbClr val="202E46">
                <a:alpha val="0"/>
              </a:srgbClr>
            </a:solidFill>
            <a:prstDash val="solid"/>
          </a:ln>
        </p:spPr>
      </p:sp>
      <p:sp>
        <p:nvSpPr>
          <p:cNvPr id="31" name="Text 29"/>
          <p:cNvSpPr txBox="1"/>
          <p:nvPr/>
        </p:nvSpPr>
        <p:spPr>
          <a:xfrm>
            <a:off x="4443984" y="4672584"/>
            <a:ext cx="2633472" cy="493776"/>
          </a:xfrm>
          <a:prstGeom prst="rect">
            <a:avLst/>
          </a:prstGeom>
          <a:noFill/>
          <a:ln/>
        </p:spPr>
        <p:txBody>
          <a:bodyPr wrap="square" lIns="0" tIns="0" rIns="0" bIns="0" rtlCol="0" anchor="ctr">
            <a:normAutofit/>
          </a:bodyPr>
          <a:lstStyle/>
          <a:p>
            <a:pPr algn="l" indent="0" marL="0">
              <a:buNone/>
            </a:pPr>
            <a:r>
              <a:rPr lang="en-US" sz="1080" dirty="0">
                <a:solidFill>
                  <a:srgbClr val="F5F7FB"/>
                </a:solidFill>
                <a:latin typeface="Aptos" pitchFamily="34" charset="0"/>
                <a:ea typeface="Aptos" pitchFamily="34" charset="-122"/>
                <a:cs typeface="Aptos" pitchFamily="34" charset="-120"/>
              </a:rPr>
              <a:t>Example: submit an empty comment.</a:t>
            </a:r>
            <a:endParaRPr lang="en-US" sz="1080" dirty="0"/>
          </a:p>
        </p:txBody>
      </p:sp>
      <p:sp>
        <p:nvSpPr>
          <p:cNvPr id="32" name="Text 30"/>
          <p:cNvSpPr txBox="1"/>
          <p:nvPr/>
        </p:nvSpPr>
        <p:spPr>
          <a:xfrm>
            <a:off x="4361688" y="5449824"/>
            <a:ext cx="2788920" cy="292608"/>
          </a:xfrm>
          <a:prstGeom prst="rect">
            <a:avLst/>
          </a:prstGeom>
          <a:noFill/>
          <a:ln/>
        </p:spPr>
        <p:txBody>
          <a:bodyPr wrap="square" lIns="0" tIns="0" rIns="0" bIns="0" rtlCol="0" anchor="ctr">
            <a:normAutofit/>
          </a:bodyPr>
          <a:lstStyle/>
          <a:p>
            <a:pPr algn="l" indent="0" marL="0">
              <a:buNone/>
            </a:pPr>
            <a:r>
              <a:rPr lang="en-US" sz="1020" i="1" dirty="0">
                <a:solidFill>
                  <a:srgbClr val="B5C0D1"/>
                </a:solidFill>
                <a:latin typeface="Aptos" pitchFamily="34" charset="0"/>
                <a:ea typeface="Aptos" pitchFamily="34" charset="-122"/>
                <a:cs typeface="Aptos" pitchFamily="34" charset="-120"/>
              </a:rPr>
              <a:t>Best for user-visible defects</a:t>
            </a:r>
            <a:endParaRPr lang="en-US" sz="1020" dirty="0"/>
          </a:p>
        </p:txBody>
      </p:sp>
      <p:sp>
        <p:nvSpPr>
          <p:cNvPr id="33" name="Shape 31"/>
          <p:cNvSpPr/>
          <p:nvPr/>
        </p:nvSpPr>
        <p:spPr>
          <a:xfrm>
            <a:off x="7644384" y="1691640"/>
            <a:ext cx="3246120" cy="4315968"/>
          </a:xfrm>
          <a:prstGeom prst="roundRect">
            <a:avLst>
              <a:gd name="adj" fmla="val 3380"/>
            </a:avLst>
          </a:prstGeom>
          <a:solidFill>
            <a:srgbClr val="18243A"/>
          </a:solidFill>
          <a:ln w="12700">
            <a:solidFill>
              <a:srgbClr val="324057"/>
            </a:solidFill>
            <a:prstDash val="solid"/>
          </a:ln>
        </p:spPr>
      </p:sp>
      <p:sp>
        <p:nvSpPr>
          <p:cNvPr id="34" name="Shape 32"/>
          <p:cNvSpPr/>
          <p:nvPr/>
        </p:nvSpPr>
        <p:spPr>
          <a:xfrm>
            <a:off x="7863840" y="1920240"/>
            <a:ext cx="475488" cy="475488"/>
          </a:xfrm>
          <a:prstGeom prst="ellipse">
            <a:avLst/>
          </a:prstGeom>
          <a:solidFill>
            <a:srgbClr val="202E46"/>
          </a:solidFill>
          <a:ln w="19050">
            <a:solidFill>
              <a:srgbClr val="FFC857"/>
            </a:solidFill>
            <a:prstDash val="solid"/>
          </a:ln>
        </p:spPr>
      </p:sp>
      <p:sp>
        <p:nvSpPr>
          <p:cNvPr id="35" name="Text 33"/>
          <p:cNvSpPr txBox="1"/>
          <p:nvPr/>
        </p:nvSpPr>
        <p:spPr>
          <a:xfrm>
            <a:off x="7863840" y="1920240"/>
            <a:ext cx="475488" cy="475488"/>
          </a:xfrm>
          <a:prstGeom prst="rect">
            <a:avLst/>
          </a:prstGeom>
          <a:noFill/>
          <a:ln/>
        </p:spPr>
        <p:txBody>
          <a:bodyPr wrap="square" lIns="0" tIns="0" rIns="0" bIns="0" rtlCol="0" anchor="ctr">
            <a:normAutofit/>
          </a:bodyPr>
          <a:lstStyle/>
          <a:p>
            <a:pPr algn="ctr" indent="0" marL="0">
              <a:buNone/>
            </a:pPr>
            <a:r>
              <a:rPr lang="en-US" sz="1200" b="1" dirty="0">
                <a:solidFill>
                  <a:srgbClr val="FFC857"/>
                </a:solidFill>
                <a:latin typeface="Aptos" pitchFamily="34" charset="0"/>
                <a:ea typeface="Aptos" pitchFamily="34" charset="-122"/>
                <a:cs typeface="Aptos" pitchFamily="34" charset="-120"/>
              </a:rPr>
              <a:t>03</a:t>
            </a:r>
            <a:endParaRPr lang="en-US" sz="1200" dirty="0"/>
          </a:p>
        </p:txBody>
      </p:sp>
      <p:sp>
        <p:nvSpPr>
          <p:cNvPr id="36" name="Text 34"/>
          <p:cNvSpPr txBox="1"/>
          <p:nvPr/>
        </p:nvSpPr>
        <p:spPr>
          <a:xfrm>
            <a:off x="8467344" y="1920240"/>
            <a:ext cx="2148840" cy="274320"/>
          </a:xfrm>
          <a:prstGeom prst="rect">
            <a:avLst/>
          </a:prstGeom>
          <a:noFill/>
          <a:ln/>
        </p:spPr>
        <p:txBody>
          <a:bodyPr wrap="square" lIns="0" tIns="0" rIns="0" bIns="0" rtlCol="0" anchor="ctr">
            <a:normAutofit/>
          </a:bodyPr>
          <a:lstStyle/>
          <a:p>
            <a:pPr algn="l" indent="0" marL="0">
              <a:buNone/>
            </a:pPr>
            <a:r>
              <a:rPr lang="en-US" sz="1500" b="1" dirty="0">
                <a:solidFill>
                  <a:srgbClr val="FFC857"/>
                </a:solidFill>
                <a:latin typeface="Aptos" pitchFamily="34" charset="0"/>
                <a:ea typeface="Aptos" pitchFamily="34" charset="-122"/>
                <a:cs typeface="Aptos" pitchFamily="34" charset="-120"/>
              </a:rPr>
              <a:t>GREY-BOX</a:t>
            </a:r>
            <a:endParaRPr lang="en-US" sz="1500" dirty="0"/>
          </a:p>
        </p:txBody>
      </p:sp>
      <p:sp>
        <p:nvSpPr>
          <p:cNvPr id="37" name="Text 35"/>
          <p:cNvSpPr txBox="1"/>
          <p:nvPr/>
        </p:nvSpPr>
        <p:spPr>
          <a:xfrm>
            <a:off x="7872984" y="2551176"/>
            <a:ext cx="2788920" cy="274320"/>
          </a:xfrm>
          <a:prstGeom prst="rect">
            <a:avLst/>
          </a:prstGeom>
          <a:noFill/>
          <a:ln/>
        </p:spPr>
        <p:txBody>
          <a:bodyPr wrap="square" lIns="0" tIns="0" rIns="0" bIns="0" rtlCol="0" anchor="ctr">
            <a:normAutofit/>
          </a:bodyPr>
          <a:lstStyle/>
          <a:p>
            <a:pPr algn="l" indent="0" marL="0">
              <a:buNone/>
            </a:pPr>
            <a:r>
              <a:rPr lang="en-US" sz="1400" b="1" dirty="0">
                <a:solidFill>
                  <a:srgbClr val="F5F7FB"/>
                </a:solidFill>
                <a:latin typeface="Aptos" pitchFamily="34" charset="0"/>
                <a:ea typeface="Aptos" pitchFamily="34" charset="-122"/>
                <a:cs typeface="Aptos" pitchFamily="34" charset="-120"/>
              </a:rPr>
              <a:t>Partial internal knowledge</a:t>
            </a:r>
            <a:endParaRPr lang="en-US" sz="1400" dirty="0"/>
          </a:p>
        </p:txBody>
      </p:sp>
      <p:sp>
        <p:nvSpPr>
          <p:cNvPr id="38" name="Shape 36"/>
          <p:cNvSpPr/>
          <p:nvPr/>
        </p:nvSpPr>
        <p:spPr>
          <a:xfrm>
            <a:off x="7872984" y="3145536"/>
            <a:ext cx="68580" cy="68580"/>
          </a:xfrm>
          <a:prstGeom prst="ellipse">
            <a:avLst/>
          </a:prstGeom>
          <a:solidFill>
            <a:srgbClr val="FFC857"/>
          </a:solidFill>
          <a:ln w="12700">
            <a:solidFill>
              <a:srgbClr val="FFC857">
                <a:alpha val="0"/>
              </a:srgbClr>
            </a:solidFill>
            <a:prstDash val="solid"/>
          </a:ln>
        </p:spPr>
      </p:sp>
      <p:sp>
        <p:nvSpPr>
          <p:cNvPr id="39" name="Text 37"/>
          <p:cNvSpPr txBox="1"/>
          <p:nvPr/>
        </p:nvSpPr>
        <p:spPr>
          <a:xfrm>
            <a:off x="8037576" y="3035808"/>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UI plus schema / design info</a:t>
            </a:r>
            <a:endParaRPr lang="en-US" sz="1180" dirty="0"/>
          </a:p>
        </p:txBody>
      </p:sp>
      <p:sp>
        <p:nvSpPr>
          <p:cNvPr id="40" name="Shape 38"/>
          <p:cNvSpPr/>
          <p:nvPr/>
        </p:nvSpPr>
        <p:spPr>
          <a:xfrm>
            <a:off x="7872984" y="3593592"/>
            <a:ext cx="68580" cy="68580"/>
          </a:xfrm>
          <a:prstGeom prst="ellipse">
            <a:avLst/>
          </a:prstGeom>
          <a:solidFill>
            <a:srgbClr val="FFC857"/>
          </a:solidFill>
          <a:ln w="12700">
            <a:solidFill>
              <a:srgbClr val="FFC857">
                <a:alpha val="0"/>
              </a:srgbClr>
            </a:solidFill>
            <a:prstDash val="solid"/>
          </a:ln>
        </p:spPr>
      </p:sp>
      <p:sp>
        <p:nvSpPr>
          <p:cNvPr id="41" name="Text 39"/>
          <p:cNvSpPr txBox="1"/>
          <p:nvPr/>
        </p:nvSpPr>
        <p:spPr>
          <a:xfrm>
            <a:off x="8037576" y="3483864"/>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Database state and permissions</a:t>
            </a:r>
            <a:endParaRPr lang="en-US" sz="1180" dirty="0"/>
          </a:p>
        </p:txBody>
      </p:sp>
      <p:sp>
        <p:nvSpPr>
          <p:cNvPr id="42" name="Shape 40"/>
          <p:cNvSpPr/>
          <p:nvPr/>
        </p:nvSpPr>
        <p:spPr>
          <a:xfrm>
            <a:off x="7872984" y="4041648"/>
            <a:ext cx="68580" cy="68580"/>
          </a:xfrm>
          <a:prstGeom prst="ellipse">
            <a:avLst/>
          </a:prstGeom>
          <a:solidFill>
            <a:srgbClr val="FFC857"/>
          </a:solidFill>
          <a:ln w="12700">
            <a:solidFill>
              <a:srgbClr val="FFC857">
                <a:alpha val="0"/>
              </a:srgbClr>
            </a:solidFill>
            <a:prstDash val="solid"/>
          </a:ln>
        </p:spPr>
      </p:sp>
      <p:sp>
        <p:nvSpPr>
          <p:cNvPr id="43" name="Text 41"/>
          <p:cNvSpPr txBox="1"/>
          <p:nvPr/>
        </p:nvSpPr>
        <p:spPr>
          <a:xfrm>
            <a:off x="8037576" y="3931920"/>
            <a:ext cx="2624328" cy="429768"/>
          </a:xfrm>
          <a:prstGeom prst="rect">
            <a:avLst/>
          </a:prstGeom>
          <a:noFill/>
          <a:ln/>
        </p:spPr>
        <p:txBody>
          <a:bodyPr wrap="square" lIns="0" tIns="0" rIns="0" bIns="0" rtlCol="0" anchor="t">
            <a:normAutofit/>
          </a:bodyPr>
          <a:lstStyle/>
          <a:p>
            <a:pPr algn="l" indent="0" marL="0">
              <a:buNone/>
            </a:pPr>
            <a:r>
              <a:rPr lang="en-US" sz="1180" dirty="0">
                <a:solidFill>
                  <a:srgbClr val="B5C0D1"/>
                </a:solidFill>
                <a:latin typeface="Aptos" pitchFamily="34" charset="0"/>
                <a:ea typeface="Aptos" pitchFamily="34" charset="-122"/>
                <a:cs typeface="Aptos" pitchFamily="34" charset="-120"/>
              </a:rPr>
              <a:t>Cache versus persistent data</a:t>
            </a:r>
            <a:endParaRPr lang="en-US" sz="1180" dirty="0"/>
          </a:p>
        </p:txBody>
      </p:sp>
      <p:sp>
        <p:nvSpPr>
          <p:cNvPr id="44" name="Shape 42"/>
          <p:cNvSpPr/>
          <p:nvPr/>
        </p:nvSpPr>
        <p:spPr>
          <a:xfrm>
            <a:off x="7827264" y="4599432"/>
            <a:ext cx="2880360" cy="658368"/>
          </a:xfrm>
          <a:prstGeom prst="roundRect">
            <a:avLst>
              <a:gd name="adj" fmla="val 16667"/>
            </a:avLst>
          </a:prstGeom>
          <a:solidFill>
            <a:srgbClr val="202E46"/>
          </a:solidFill>
          <a:ln w="12700">
            <a:solidFill>
              <a:srgbClr val="202E46">
                <a:alpha val="0"/>
              </a:srgbClr>
            </a:solidFill>
            <a:prstDash val="solid"/>
          </a:ln>
        </p:spPr>
      </p:sp>
      <p:sp>
        <p:nvSpPr>
          <p:cNvPr id="45" name="Text 43"/>
          <p:cNvSpPr txBox="1"/>
          <p:nvPr/>
        </p:nvSpPr>
        <p:spPr>
          <a:xfrm>
            <a:off x="7955280" y="4672584"/>
            <a:ext cx="2633472" cy="493776"/>
          </a:xfrm>
          <a:prstGeom prst="rect">
            <a:avLst/>
          </a:prstGeom>
          <a:noFill/>
          <a:ln/>
        </p:spPr>
        <p:txBody>
          <a:bodyPr wrap="square" lIns="0" tIns="0" rIns="0" bIns="0" rtlCol="0" anchor="ctr">
            <a:normAutofit/>
          </a:bodyPr>
          <a:lstStyle/>
          <a:p>
            <a:pPr algn="l" indent="0" marL="0">
              <a:buNone/>
            </a:pPr>
            <a:r>
              <a:rPr lang="en-US" sz="1080" dirty="0">
                <a:solidFill>
                  <a:srgbClr val="F5F7FB"/>
                </a:solidFill>
                <a:latin typeface="Aptos" pitchFamily="34" charset="0"/>
                <a:ea typeface="Aptos" pitchFamily="34" charset="-122"/>
                <a:cs typeface="Aptos" pitchFamily="34" charset="-120"/>
              </a:rPr>
              <a:t>Example: compare deleted row with UI.</a:t>
            </a:r>
            <a:endParaRPr lang="en-US" sz="1080" dirty="0"/>
          </a:p>
        </p:txBody>
      </p:sp>
      <p:sp>
        <p:nvSpPr>
          <p:cNvPr id="46" name="Text 44"/>
          <p:cNvSpPr txBox="1"/>
          <p:nvPr/>
        </p:nvSpPr>
        <p:spPr>
          <a:xfrm>
            <a:off x="7872984" y="5449824"/>
            <a:ext cx="2788920" cy="292608"/>
          </a:xfrm>
          <a:prstGeom prst="rect">
            <a:avLst/>
          </a:prstGeom>
          <a:noFill/>
          <a:ln/>
        </p:spPr>
        <p:txBody>
          <a:bodyPr wrap="square" lIns="0" tIns="0" rIns="0" bIns="0" rtlCol="0" anchor="ctr">
            <a:normAutofit/>
          </a:bodyPr>
          <a:lstStyle/>
          <a:p>
            <a:pPr algn="l" indent="0" marL="0">
              <a:buNone/>
            </a:pPr>
            <a:r>
              <a:rPr lang="en-US" sz="1020" i="1" dirty="0">
                <a:solidFill>
                  <a:srgbClr val="B5C0D1"/>
                </a:solidFill>
                <a:latin typeface="Aptos" pitchFamily="34" charset="0"/>
                <a:ea typeface="Aptos" pitchFamily="34" charset="-122"/>
                <a:cs typeface="Aptos" pitchFamily="34" charset="-120"/>
              </a:rPr>
              <a:t>Connects behaviour to internals</a:t>
            </a:r>
            <a:endParaRPr lang="en-US" sz="1020" dirty="0"/>
          </a:p>
        </p:txBody>
      </p:sp>
      <p:sp>
        <p:nvSpPr>
          <p:cNvPr id="47" name="Text 45"/>
          <p:cNvSpPr txBox="1"/>
          <p:nvPr/>
        </p:nvSpPr>
        <p:spPr>
          <a:xfrm>
            <a:off x="658368" y="6108192"/>
            <a:ext cx="10789920" cy="201168"/>
          </a:xfrm>
          <a:prstGeom prst="rect">
            <a:avLst/>
          </a:prstGeom>
          <a:noFill/>
          <a:ln/>
        </p:spPr>
        <p:txBody>
          <a:bodyPr wrap="square" lIns="0" tIns="0" rIns="0" bIns="0" rtlCol="0" anchor="ctr">
            <a:normAutofit/>
          </a:bodyPr>
          <a:lstStyle/>
          <a:p>
            <a:pPr algn="l" indent="0" marL="0">
              <a:buNone/>
            </a:pPr>
            <a:r>
              <a:rPr lang="en-US" sz="1050" i="1" dirty="0">
                <a:solidFill>
                  <a:srgbClr val="8292AA"/>
                </a:solidFill>
                <a:latin typeface="Aptos" pitchFamily="34" charset="0"/>
                <a:ea typeface="Aptos" pitchFamily="34" charset="-122"/>
                <a:cs typeface="Aptos" pitchFamily="34" charset="-120"/>
              </a:rPr>
              <a:t>Note: these are testing perspectives, not rigid job titles—developers and QA testers may use more than one.</a:t>
            </a:r>
            <a:endParaRPr lang="en-US" sz="105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03 / PRACTICAL TEST SCENARIOS</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What should we test in this app?</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A scenario-based view turns the methods into concrete checks.</a:t>
            </a:r>
            <a:endParaRPr lang="en-US" sz="1200" dirty="0"/>
          </a:p>
        </p:txBody>
      </p:sp>
      <p:sp>
        <p:nvSpPr>
          <p:cNvPr id="5" name="Shape 3"/>
          <p:cNvSpPr/>
          <p:nvPr/>
        </p:nvSpPr>
        <p:spPr>
          <a:xfrm>
            <a:off x="640080" y="1664208"/>
            <a:ext cx="10927080" cy="859536"/>
          </a:xfrm>
          <a:prstGeom prst="roundRect">
            <a:avLst>
              <a:gd name="adj" fmla="val 12766"/>
            </a:avLst>
          </a:prstGeom>
          <a:solidFill>
            <a:srgbClr val="18243A"/>
          </a:solidFill>
          <a:ln w="12700">
            <a:solidFill>
              <a:srgbClr val="324057"/>
            </a:solidFill>
            <a:prstDash val="solid"/>
          </a:ln>
        </p:spPr>
      </p:sp>
      <p:sp>
        <p:nvSpPr>
          <p:cNvPr id="6" name="Shape 4"/>
          <p:cNvSpPr/>
          <p:nvPr/>
        </p:nvSpPr>
        <p:spPr>
          <a:xfrm>
            <a:off x="640080" y="1664208"/>
            <a:ext cx="73152" cy="859536"/>
          </a:xfrm>
          <a:prstGeom prst="rect">
            <a:avLst>
              <a:gd name="adj" fmla="val 150000"/>
            </a:avLst>
          </a:prstGeom>
          <a:solidFill>
            <a:srgbClr val="FF927C"/>
          </a:solidFill>
          <a:ln w="12700">
            <a:solidFill>
              <a:srgbClr val="FF927C">
                <a:alpha val="0"/>
              </a:srgbClr>
            </a:solidFill>
            <a:prstDash val="solid"/>
          </a:ln>
        </p:spPr>
      </p:sp>
      <p:sp>
        <p:nvSpPr>
          <p:cNvPr id="7" name="Text 5"/>
          <p:cNvSpPr txBox="1"/>
          <p:nvPr/>
        </p:nvSpPr>
        <p:spPr>
          <a:xfrm>
            <a:off x="841248" y="1764792"/>
            <a:ext cx="1508760" cy="182880"/>
          </a:xfrm>
          <a:prstGeom prst="rect">
            <a:avLst/>
          </a:prstGeom>
          <a:noFill/>
          <a:ln/>
        </p:spPr>
        <p:txBody>
          <a:bodyPr wrap="square" lIns="0" tIns="0" rIns="0" bIns="0" rtlCol="0" anchor="ctr">
            <a:normAutofit/>
          </a:bodyPr>
          <a:lstStyle/>
          <a:p>
            <a:pPr algn="l" indent="0" marL="0">
              <a:buNone/>
            </a:pPr>
            <a:r>
              <a:rPr lang="en-US" sz="850" b="1" spc="70" kern="0" dirty="0">
                <a:solidFill>
                  <a:srgbClr val="FF927C"/>
                </a:solidFill>
                <a:latin typeface="Aptos" pitchFamily="34" charset="0"/>
                <a:ea typeface="Aptos" pitchFamily="34" charset="-122"/>
                <a:cs typeface="Aptos" pitchFamily="34" charset="-120"/>
              </a:rPr>
              <a:t>USER EXPERIENCE</a:t>
            </a:r>
            <a:endParaRPr lang="en-US" sz="850" dirty="0"/>
          </a:p>
        </p:txBody>
      </p:sp>
      <p:sp>
        <p:nvSpPr>
          <p:cNvPr id="8" name="Text 6"/>
          <p:cNvSpPr txBox="1"/>
          <p:nvPr/>
        </p:nvSpPr>
        <p:spPr>
          <a:xfrm>
            <a:off x="841248" y="1993392"/>
            <a:ext cx="1965960" cy="256032"/>
          </a:xfrm>
          <a:prstGeom prst="rect">
            <a:avLst/>
          </a:prstGeom>
          <a:noFill/>
          <a:ln/>
        </p:spPr>
        <p:txBody>
          <a:bodyPr wrap="square" lIns="0" tIns="0" rIns="0" bIns="0" rtlCol="0" anchor="ctr">
            <a:normAutofit/>
          </a:bodyPr>
          <a:lstStyle/>
          <a:p>
            <a:pPr algn="l" indent="0" marL="0">
              <a:buNone/>
            </a:pPr>
            <a:r>
              <a:rPr lang="en-US" sz="1220" b="1" dirty="0">
                <a:solidFill>
                  <a:srgbClr val="F5F7FB"/>
                </a:solidFill>
                <a:latin typeface="Aptos" pitchFamily="34" charset="0"/>
                <a:ea typeface="Aptos" pitchFamily="34" charset="-122"/>
                <a:cs typeface="Aptos" pitchFamily="34" charset="-120"/>
              </a:rPr>
              <a:t>Empty comment submission</a:t>
            </a:r>
            <a:endParaRPr lang="en-US" sz="1220" dirty="0"/>
          </a:p>
        </p:txBody>
      </p:sp>
      <p:sp>
        <p:nvSpPr>
          <p:cNvPr id="9" name="Text 7"/>
          <p:cNvSpPr txBox="1"/>
          <p:nvPr/>
        </p:nvSpPr>
        <p:spPr>
          <a:xfrm>
            <a:off x="2926080" y="1801368"/>
            <a:ext cx="4069080" cy="256032"/>
          </a:xfrm>
          <a:prstGeom prst="rect">
            <a:avLst/>
          </a:prstGeom>
          <a:noFill/>
          <a:ln/>
        </p:spPr>
        <p:txBody>
          <a:bodyPr wrap="square" lIns="0" tIns="0" rIns="0" bIns="0" rtlCol="0" anchor="ctr">
            <a:normAutofit/>
          </a:bodyPr>
          <a:lstStyle/>
          <a:p>
            <a:pPr algn="l" indent="0" marL="0">
              <a:buNone/>
            </a:pPr>
            <a:r>
              <a:rPr lang="en-US" sz="1150" dirty="0">
                <a:solidFill>
                  <a:srgbClr val="F5F7FB"/>
                </a:solidFill>
                <a:latin typeface="Aptos" pitchFamily="34" charset="0"/>
                <a:ea typeface="Aptos" pitchFamily="34" charset="-122"/>
                <a:cs typeface="Aptos" pitchFamily="34" charset="-120"/>
              </a:rPr>
              <a:t>Does the app explain why a blank comment is rejected?</a:t>
            </a:r>
            <a:endParaRPr lang="en-US" sz="1150" dirty="0"/>
          </a:p>
        </p:txBody>
      </p:sp>
      <p:sp>
        <p:nvSpPr>
          <p:cNvPr id="10" name="Text 8"/>
          <p:cNvSpPr txBox="1"/>
          <p:nvPr/>
        </p:nvSpPr>
        <p:spPr>
          <a:xfrm>
            <a:off x="2926080" y="2121408"/>
            <a:ext cx="5715000" cy="228600"/>
          </a:xfrm>
          <a:prstGeom prst="rect">
            <a:avLst/>
          </a:prstGeom>
          <a:noFill/>
          <a:ln/>
        </p:spPr>
        <p:txBody>
          <a:bodyPr wrap="square" lIns="0" tIns="0" rIns="0" bIns="0" rtlCol="0" anchor="ctr">
            <a:normAutofit/>
          </a:bodyPr>
          <a:lstStyle/>
          <a:p>
            <a:pPr algn="l" indent="0" marL="0">
              <a:buNone/>
            </a:pPr>
            <a:r>
              <a:rPr lang="en-US" sz="1030" dirty="0">
                <a:solidFill>
                  <a:srgbClr val="B5C0D1"/>
                </a:solidFill>
                <a:latin typeface="Aptos" pitchFamily="34" charset="0"/>
                <a:ea typeface="Aptos" pitchFamily="34" charset="-122"/>
                <a:cs typeface="Aptos" pitchFamily="34" charset="-120"/>
              </a:rPr>
              <a:t>Reported gap: no clear error message for an empty comment.</a:t>
            </a:r>
            <a:endParaRPr lang="en-US" sz="1030" dirty="0"/>
          </a:p>
        </p:txBody>
      </p:sp>
      <p:sp>
        <p:nvSpPr>
          <p:cNvPr id="11" name="Shape 9"/>
          <p:cNvSpPr/>
          <p:nvPr/>
        </p:nvSpPr>
        <p:spPr>
          <a:xfrm>
            <a:off x="9829800" y="1865376"/>
            <a:ext cx="1417320" cy="384048"/>
          </a:xfrm>
          <a:prstGeom prst="roundRect">
            <a:avLst>
              <a:gd name="adj" fmla="val 28571"/>
            </a:avLst>
          </a:prstGeom>
          <a:solidFill>
            <a:srgbClr val="202E46"/>
          </a:solidFill>
          <a:ln w="12700">
            <a:solidFill>
              <a:srgbClr val="202E46">
                <a:alpha val="0"/>
              </a:srgbClr>
            </a:solidFill>
            <a:prstDash val="solid"/>
          </a:ln>
        </p:spPr>
      </p:sp>
      <p:sp>
        <p:nvSpPr>
          <p:cNvPr id="12" name="Text 10"/>
          <p:cNvSpPr txBox="1"/>
          <p:nvPr/>
        </p:nvSpPr>
        <p:spPr>
          <a:xfrm>
            <a:off x="9829800" y="1865376"/>
            <a:ext cx="1417320" cy="384048"/>
          </a:xfrm>
          <a:prstGeom prst="rect">
            <a:avLst/>
          </a:prstGeom>
          <a:noFill/>
          <a:ln/>
        </p:spPr>
        <p:txBody>
          <a:bodyPr wrap="square" lIns="0" tIns="0" rIns="0" bIns="0" rtlCol="0" anchor="ctr">
            <a:normAutofit/>
          </a:bodyPr>
          <a:lstStyle/>
          <a:p>
            <a:pPr algn="ctr" indent="0" marL="0">
              <a:buNone/>
            </a:pPr>
            <a:r>
              <a:rPr lang="en-US" sz="1040" b="1" dirty="0">
                <a:solidFill>
                  <a:srgbClr val="FF927C"/>
                </a:solidFill>
                <a:latin typeface="Aptos" pitchFamily="34" charset="0"/>
                <a:ea typeface="Aptos" pitchFamily="34" charset="-122"/>
                <a:cs typeface="Aptos" pitchFamily="34" charset="-120"/>
              </a:rPr>
              <a:t>Black-box</a:t>
            </a:r>
            <a:endParaRPr lang="en-US" sz="1040" dirty="0"/>
          </a:p>
        </p:txBody>
      </p:sp>
      <p:sp>
        <p:nvSpPr>
          <p:cNvPr id="13" name="Shape 11"/>
          <p:cNvSpPr/>
          <p:nvPr/>
        </p:nvSpPr>
        <p:spPr>
          <a:xfrm>
            <a:off x="640080" y="2724912"/>
            <a:ext cx="10927080" cy="859536"/>
          </a:xfrm>
          <a:prstGeom prst="roundRect">
            <a:avLst>
              <a:gd name="adj" fmla="val 12766"/>
            </a:avLst>
          </a:prstGeom>
          <a:solidFill>
            <a:srgbClr val="18243A"/>
          </a:solidFill>
          <a:ln w="12700">
            <a:solidFill>
              <a:srgbClr val="324057"/>
            </a:solidFill>
            <a:prstDash val="solid"/>
          </a:ln>
        </p:spPr>
      </p:sp>
      <p:sp>
        <p:nvSpPr>
          <p:cNvPr id="14" name="Shape 12"/>
          <p:cNvSpPr/>
          <p:nvPr/>
        </p:nvSpPr>
        <p:spPr>
          <a:xfrm>
            <a:off x="640080" y="2724912"/>
            <a:ext cx="73152" cy="859536"/>
          </a:xfrm>
          <a:prstGeom prst="rect">
            <a:avLst>
              <a:gd name="adj" fmla="val 150000"/>
            </a:avLst>
          </a:prstGeom>
          <a:solidFill>
            <a:srgbClr val="FFC857"/>
          </a:solidFill>
          <a:ln w="12700">
            <a:solidFill>
              <a:srgbClr val="FFC857">
                <a:alpha val="0"/>
              </a:srgbClr>
            </a:solidFill>
            <a:prstDash val="solid"/>
          </a:ln>
        </p:spPr>
      </p:sp>
      <p:sp>
        <p:nvSpPr>
          <p:cNvPr id="15" name="Text 13"/>
          <p:cNvSpPr txBox="1"/>
          <p:nvPr/>
        </p:nvSpPr>
        <p:spPr>
          <a:xfrm>
            <a:off x="841248" y="2825496"/>
            <a:ext cx="1508760" cy="182880"/>
          </a:xfrm>
          <a:prstGeom prst="rect">
            <a:avLst/>
          </a:prstGeom>
          <a:noFill/>
          <a:ln/>
        </p:spPr>
        <p:txBody>
          <a:bodyPr wrap="square" lIns="0" tIns="0" rIns="0" bIns="0" rtlCol="0" anchor="ctr">
            <a:normAutofit/>
          </a:bodyPr>
          <a:lstStyle/>
          <a:p>
            <a:pPr algn="l" indent="0" marL="0">
              <a:buNone/>
            </a:pPr>
            <a:r>
              <a:rPr lang="en-US" sz="850" b="1" spc="70" kern="0" dirty="0">
                <a:solidFill>
                  <a:srgbClr val="FFC857"/>
                </a:solidFill>
                <a:latin typeface="Aptos" pitchFamily="34" charset="0"/>
                <a:ea typeface="Aptos" pitchFamily="34" charset="-122"/>
                <a:cs typeface="Aptos" pitchFamily="34" charset="-120"/>
              </a:rPr>
              <a:t>DATA CONSISTENCY</a:t>
            </a:r>
            <a:endParaRPr lang="en-US" sz="850" dirty="0"/>
          </a:p>
        </p:txBody>
      </p:sp>
      <p:sp>
        <p:nvSpPr>
          <p:cNvPr id="16" name="Text 14"/>
          <p:cNvSpPr txBox="1"/>
          <p:nvPr/>
        </p:nvSpPr>
        <p:spPr>
          <a:xfrm>
            <a:off x="841248" y="3054096"/>
            <a:ext cx="1965960" cy="256032"/>
          </a:xfrm>
          <a:prstGeom prst="rect">
            <a:avLst/>
          </a:prstGeom>
          <a:noFill/>
          <a:ln/>
        </p:spPr>
        <p:txBody>
          <a:bodyPr wrap="square" lIns="0" tIns="0" rIns="0" bIns="0" rtlCol="0" anchor="ctr">
            <a:normAutofit/>
          </a:bodyPr>
          <a:lstStyle/>
          <a:p>
            <a:pPr algn="l" indent="0" marL="0">
              <a:buNone/>
            </a:pPr>
            <a:r>
              <a:rPr lang="en-US" sz="1220" b="1" dirty="0">
                <a:solidFill>
                  <a:srgbClr val="F5F7FB"/>
                </a:solidFill>
                <a:latin typeface="Aptos" pitchFamily="34" charset="0"/>
                <a:ea typeface="Aptos" pitchFamily="34" charset="-122"/>
                <a:cs typeface="Aptos" pitchFamily="34" charset="-120"/>
              </a:rPr>
              <a:t>Delete a comment</a:t>
            </a:r>
            <a:endParaRPr lang="en-US" sz="1220" dirty="0"/>
          </a:p>
        </p:txBody>
      </p:sp>
      <p:sp>
        <p:nvSpPr>
          <p:cNvPr id="17" name="Text 15"/>
          <p:cNvSpPr txBox="1"/>
          <p:nvPr/>
        </p:nvSpPr>
        <p:spPr>
          <a:xfrm>
            <a:off x="2926080" y="2862072"/>
            <a:ext cx="4069080" cy="256032"/>
          </a:xfrm>
          <a:prstGeom prst="rect">
            <a:avLst/>
          </a:prstGeom>
          <a:noFill/>
          <a:ln/>
        </p:spPr>
        <p:txBody>
          <a:bodyPr wrap="square" lIns="0" tIns="0" rIns="0" bIns="0" rtlCol="0" anchor="ctr">
            <a:normAutofit/>
          </a:bodyPr>
          <a:lstStyle/>
          <a:p>
            <a:pPr algn="l" indent="0" marL="0">
              <a:buNone/>
            </a:pPr>
            <a:r>
              <a:rPr lang="en-US" sz="1150" dirty="0">
                <a:solidFill>
                  <a:srgbClr val="F5F7FB"/>
                </a:solidFill>
                <a:latin typeface="Aptos" pitchFamily="34" charset="0"/>
                <a:ea typeface="Aptos" pitchFamily="34" charset="-122"/>
                <a:cs typeface="Aptos" pitchFamily="34" charset="-120"/>
              </a:rPr>
              <a:t>Does the row disappear from storage as well as from the screen?</a:t>
            </a:r>
            <a:endParaRPr lang="en-US" sz="1150" dirty="0"/>
          </a:p>
        </p:txBody>
      </p:sp>
      <p:sp>
        <p:nvSpPr>
          <p:cNvPr id="18" name="Text 16"/>
          <p:cNvSpPr txBox="1"/>
          <p:nvPr/>
        </p:nvSpPr>
        <p:spPr>
          <a:xfrm>
            <a:off x="2926080" y="3182112"/>
            <a:ext cx="5715000" cy="228600"/>
          </a:xfrm>
          <a:prstGeom prst="rect">
            <a:avLst/>
          </a:prstGeom>
          <a:noFill/>
          <a:ln/>
        </p:spPr>
        <p:txBody>
          <a:bodyPr wrap="square" lIns="0" tIns="0" rIns="0" bIns="0" rtlCol="0" anchor="ctr">
            <a:normAutofit/>
          </a:bodyPr>
          <a:lstStyle/>
          <a:p>
            <a:pPr algn="l" indent="0" marL="0">
              <a:buNone/>
            </a:pPr>
            <a:r>
              <a:rPr lang="en-US" sz="1030" dirty="0">
                <a:solidFill>
                  <a:srgbClr val="B5C0D1"/>
                </a:solidFill>
                <a:latin typeface="Aptos" pitchFamily="34" charset="0"/>
                <a:ea typeface="Aptos" pitchFamily="34" charset="-122"/>
                <a:cs typeface="Aptos" pitchFamily="34" charset="-120"/>
              </a:rPr>
              <a:t>Reported gap: deleted comments remain in cache.</a:t>
            </a:r>
            <a:endParaRPr lang="en-US" sz="1030" dirty="0"/>
          </a:p>
        </p:txBody>
      </p:sp>
      <p:sp>
        <p:nvSpPr>
          <p:cNvPr id="19" name="Shape 17"/>
          <p:cNvSpPr/>
          <p:nvPr/>
        </p:nvSpPr>
        <p:spPr>
          <a:xfrm>
            <a:off x="9829800" y="2926080"/>
            <a:ext cx="1417320" cy="384048"/>
          </a:xfrm>
          <a:prstGeom prst="roundRect">
            <a:avLst>
              <a:gd name="adj" fmla="val 28571"/>
            </a:avLst>
          </a:prstGeom>
          <a:solidFill>
            <a:srgbClr val="202E46"/>
          </a:solidFill>
          <a:ln w="12700">
            <a:solidFill>
              <a:srgbClr val="202E46">
                <a:alpha val="0"/>
              </a:srgbClr>
            </a:solidFill>
            <a:prstDash val="solid"/>
          </a:ln>
        </p:spPr>
      </p:sp>
      <p:sp>
        <p:nvSpPr>
          <p:cNvPr id="20" name="Text 18"/>
          <p:cNvSpPr txBox="1"/>
          <p:nvPr/>
        </p:nvSpPr>
        <p:spPr>
          <a:xfrm>
            <a:off x="9829800" y="2926080"/>
            <a:ext cx="1417320" cy="384048"/>
          </a:xfrm>
          <a:prstGeom prst="rect">
            <a:avLst/>
          </a:prstGeom>
          <a:noFill/>
          <a:ln/>
        </p:spPr>
        <p:txBody>
          <a:bodyPr wrap="square" lIns="0" tIns="0" rIns="0" bIns="0" rtlCol="0" anchor="ctr">
            <a:normAutofit/>
          </a:bodyPr>
          <a:lstStyle/>
          <a:p>
            <a:pPr algn="ctr" indent="0" marL="0">
              <a:buNone/>
            </a:pPr>
            <a:r>
              <a:rPr lang="en-US" sz="1040" b="1" dirty="0">
                <a:solidFill>
                  <a:srgbClr val="FFC857"/>
                </a:solidFill>
                <a:latin typeface="Aptos" pitchFamily="34" charset="0"/>
                <a:ea typeface="Aptos" pitchFamily="34" charset="-122"/>
                <a:cs typeface="Aptos" pitchFamily="34" charset="-120"/>
              </a:rPr>
              <a:t>Grey-box</a:t>
            </a:r>
            <a:endParaRPr lang="en-US" sz="1040" dirty="0"/>
          </a:p>
        </p:txBody>
      </p:sp>
      <p:sp>
        <p:nvSpPr>
          <p:cNvPr id="21" name="Shape 19"/>
          <p:cNvSpPr/>
          <p:nvPr/>
        </p:nvSpPr>
        <p:spPr>
          <a:xfrm>
            <a:off x="640080" y="3785616"/>
            <a:ext cx="10927080" cy="859536"/>
          </a:xfrm>
          <a:prstGeom prst="roundRect">
            <a:avLst>
              <a:gd name="adj" fmla="val 12766"/>
            </a:avLst>
          </a:prstGeom>
          <a:solidFill>
            <a:srgbClr val="18243A"/>
          </a:solidFill>
          <a:ln w="12700">
            <a:solidFill>
              <a:srgbClr val="324057"/>
            </a:solidFill>
            <a:prstDash val="solid"/>
          </a:ln>
        </p:spPr>
      </p:sp>
      <p:sp>
        <p:nvSpPr>
          <p:cNvPr id="22" name="Shape 20"/>
          <p:cNvSpPr/>
          <p:nvPr/>
        </p:nvSpPr>
        <p:spPr>
          <a:xfrm>
            <a:off x="640080" y="3785616"/>
            <a:ext cx="73152" cy="859536"/>
          </a:xfrm>
          <a:prstGeom prst="rect">
            <a:avLst>
              <a:gd name="adj" fmla="val 150000"/>
            </a:avLst>
          </a:prstGeom>
          <a:solidFill>
            <a:srgbClr val="59DCE2"/>
          </a:solidFill>
          <a:ln w="12700">
            <a:solidFill>
              <a:srgbClr val="59DCE2">
                <a:alpha val="0"/>
              </a:srgbClr>
            </a:solidFill>
            <a:prstDash val="solid"/>
          </a:ln>
        </p:spPr>
      </p:sp>
      <p:sp>
        <p:nvSpPr>
          <p:cNvPr id="23" name="Text 21"/>
          <p:cNvSpPr txBox="1"/>
          <p:nvPr/>
        </p:nvSpPr>
        <p:spPr>
          <a:xfrm>
            <a:off x="841248" y="3886200"/>
            <a:ext cx="1508760" cy="182880"/>
          </a:xfrm>
          <a:prstGeom prst="rect">
            <a:avLst/>
          </a:prstGeom>
          <a:noFill/>
          <a:ln/>
        </p:spPr>
        <p:txBody>
          <a:bodyPr wrap="square" lIns="0" tIns="0" rIns="0" bIns="0" rtlCol="0" anchor="ctr">
            <a:normAutofit/>
          </a:bodyPr>
          <a:lstStyle/>
          <a:p>
            <a:pPr algn="l" indent="0" marL="0">
              <a:buNone/>
            </a:pPr>
            <a:r>
              <a:rPr lang="en-US" sz="850" b="1" spc="70" kern="0" dirty="0">
                <a:solidFill>
                  <a:srgbClr val="59DCE2"/>
                </a:solidFill>
                <a:latin typeface="Aptos" pitchFamily="34" charset="0"/>
                <a:ea typeface="Aptos" pitchFamily="34" charset="-122"/>
                <a:cs typeface="Aptos" pitchFamily="34" charset="-120"/>
              </a:rPr>
              <a:t>CODE HEALTH</a:t>
            </a:r>
            <a:endParaRPr lang="en-US" sz="850" dirty="0"/>
          </a:p>
        </p:txBody>
      </p:sp>
      <p:sp>
        <p:nvSpPr>
          <p:cNvPr id="24" name="Text 22"/>
          <p:cNvSpPr txBox="1"/>
          <p:nvPr/>
        </p:nvSpPr>
        <p:spPr>
          <a:xfrm>
            <a:off x="841248" y="4114800"/>
            <a:ext cx="1965960" cy="256032"/>
          </a:xfrm>
          <a:prstGeom prst="rect">
            <a:avLst/>
          </a:prstGeom>
          <a:noFill/>
          <a:ln/>
        </p:spPr>
        <p:txBody>
          <a:bodyPr wrap="square" lIns="0" tIns="0" rIns="0" bIns="0" rtlCol="0" anchor="ctr">
            <a:normAutofit/>
          </a:bodyPr>
          <a:lstStyle/>
          <a:p>
            <a:pPr algn="l" indent="0" marL="0">
              <a:buNone/>
            </a:pPr>
            <a:r>
              <a:rPr lang="en-US" sz="1220" b="1" dirty="0">
                <a:solidFill>
                  <a:srgbClr val="F5F7FB"/>
                </a:solidFill>
                <a:latin typeface="Aptos" pitchFamily="34" charset="0"/>
                <a:ea typeface="Aptos" pitchFamily="34" charset="-122"/>
                <a:cs typeface="Aptos" pitchFamily="34" charset="-120"/>
              </a:rPr>
              <a:t>Logout path</a:t>
            </a:r>
            <a:endParaRPr lang="en-US" sz="1220" dirty="0"/>
          </a:p>
        </p:txBody>
      </p:sp>
      <p:sp>
        <p:nvSpPr>
          <p:cNvPr id="25" name="Text 23"/>
          <p:cNvSpPr txBox="1"/>
          <p:nvPr/>
        </p:nvSpPr>
        <p:spPr>
          <a:xfrm>
            <a:off x="2926080" y="3922776"/>
            <a:ext cx="4069080" cy="256032"/>
          </a:xfrm>
          <a:prstGeom prst="rect">
            <a:avLst/>
          </a:prstGeom>
          <a:noFill/>
          <a:ln/>
        </p:spPr>
        <p:txBody>
          <a:bodyPr wrap="square" lIns="0" tIns="0" rIns="0" bIns="0" rtlCol="0" anchor="ctr">
            <a:normAutofit/>
          </a:bodyPr>
          <a:lstStyle/>
          <a:p>
            <a:pPr algn="l" indent="0" marL="0">
              <a:buNone/>
            </a:pPr>
            <a:r>
              <a:rPr lang="en-US" sz="1150" dirty="0">
                <a:solidFill>
                  <a:srgbClr val="F5F7FB"/>
                </a:solidFill>
                <a:latin typeface="Aptos" pitchFamily="34" charset="0"/>
                <a:ea typeface="Aptos" pitchFamily="34" charset="-122"/>
                <a:cs typeface="Aptos" pitchFamily="34" charset="-120"/>
              </a:rPr>
              <a:t>Is the logout function wired into the actual user flow?</a:t>
            </a:r>
            <a:endParaRPr lang="en-US" sz="1150" dirty="0"/>
          </a:p>
        </p:txBody>
      </p:sp>
      <p:sp>
        <p:nvSpPr>
          <p:cNvPr id="26" name="Text 24"/>
          <p:cNvSpPr txBox="1"/>
          <p:nvPr/>
        </p:nvSpPr>
        <p:spPr>
          <a:xfrm>
            <a:off x="2926080" y="4242816"/>
            <a:ext cx="5715000" cy="228600"/>
          </a:xfrm>
          <a:prstGeom prst="rect">
            <a:avLst/>
          </a:prstGeom>
          <a:noFill/>
          <a:ln/>
        </p:spPr>
        <p:txBody>
          <a:bodyPr wrap="square" lIns="0" tIns="0" rIns="0" bIns="0" rtlCol="0" anchor="ctr">
            <a:normAutofit/>
          </a:bodyPr>
          <a:lstStyle/>
          <a:p>
            <a:pPr algn="l" indent="0" marL="0">
              <a:buNone/>
            </a:pPr>
            <a:r>
              <a:rPr lang="en-US" sz="1030" dirty="0">
                <a:solidFill>
                  <a:srgbClr val="B5C0D1"/>
                </a:solidFill>
                <a:latin typeface="Aptos" pitchFamily="34" charset="0"/>
                <a:ea typeface="Aptos" pitchFamily="34" charset="-122"/>
                <a:cs typeface="Aptos" pitchFamily="34" charset="-120"/>
              </a:rPr>
              <a:t>Reported gap: logout function exists but is unused.</a:t>
            </a:r>
            <a:endParaRPr lang="en-US" sz="1030" dirty="0"/>
          </a:p>
        </p:txBody>
      </p:sp>
      <p:sp>
        <p:nvSpPr>
          <p:cNvPr id="27" name="Shape 25"/>
          <p:cNvSpPr/>
          <p:nvPr/>
        </p:nvSpPr>
        <p:spPr>
          <a:xfrm>
            <a:off x="9829800" y="3986784"/>
            <a:ext cx="1417320" cy="384048"/>
          </a:xfrm>
          <a:prstGeom prst="roundRect">
            <a:avLst>
              <a:gd name="adj" fmla="val 28571"/>
            </a:avLst>
          </a:prstGeom>
          <a:solidFill>
            <a:srgbClr val="202E46"/>
          </a:solidFill>
          <a:ln w="12700">
            <a:solidFill>
              <a:srgbClr val="202E46">
                <a:alpha val="0"/>
              </a:srgbClr>
            </a:solidFill>
            <a:prstDash val="solid"/>
          </a:ln>
        </p:spPr>
      </p:sp>
      <p:sp>
        <p:nvSpPr>
          <p:cNvPr id="28" name="Text 26"/>
          <p:cNvSpPr txBox="1"/>
          <p:nvPr/>
        </p:nvSpPr>
        <p:spPr>
          <a:xfrm>
            <a:off x="9829800" y="3986784"/>
            <a:ext cx="1417320" cy="384048"/>
          </a:xfrm>
          <a:prstGeom prst="rect">
            <a:avLst/>
          </a:prstGeom>
          <a:noFill/>
          <a:ln/>
        </p:spPr>
        <p:txBody>
          <a:bodyPr wrap="square" lIns="0" tIns="0" rIns="0" bIns="0" rtlCol="0" anchor="ctr">
            <a:normAutofit/>
          </a:bodyPr>
          <a:lstStyle/>
          <a:p>
            <a:pPr algn="ctr" indent="0" marL="0">
              <a:buNone/>
            </a:pPr>
            <a:r>
              <a:rPr lang="en-US" sz="1040" b="1" dirty="0">
                <a:solidFill>
                  <a:srgbClr val="59DCE2"/>
                </a:solidFill>
                <a:latin typeface="Aptos" pitchFamily="34" charset="0"/>
                <a:ea typeface="Aptos" pitchFamily="34" charset="-122"/>
                <a:cs typeface="Aptos" pitchFamily="34" charset="-120"/>
              </a:rPr>
              <a:t>White-box</a:t>
            </a:r>
            <a:endParaRPr lang="en-US" sz="1040" dirty="0"/>
          </a:p>
        </p:txBody>
      </p:sp>
      <p:sp>
        <p:nvSpPr>
          <p:cNvPr id="29" name="Shape 27"/>
          <p:cNvSpPr/>
          <p:nvPr/>
        </p:nvSpPr>
        <p:spPr>
          <a:xfrm>
            <a:off x="640080" y="4846320"/>
            <a:ext cx="10927080" cy="859536"/>
          </a:xfrm>
          <a:prstGeom prst="roundRect">
            <a:avLst>
              <a:gd name="adj" fmla="val 12766"/>
            </a:avLst>
          </a:prstGeom>
          <a:solidFill>
            <a:srgbClr val="18243A"/>
          </a:solidFill>
          <a:ln w="12700">
            <a:solidFill>
              <a:srgbClr val="324057"/>
            </a:solidFill>
            <a:prstDash val="solid"/>
          </a:ln>
        </p:spPr>
      </p:sp>
      <p:sp>
        <p:nvSpPr>
          <p:cNvPr id="30" name="Shape 28"/>
          <p:cNvSpPr/>
          <p:nvPr/>
        </p:nvSpPr>
        <p:spPr>
          <a:xfrm>
            <a:off x="640080" y="4846320"/>
            <a:ext cx="73152" cy="859536"/>
          </a:xfrm>
          <a:prstGeom prst="rect">
            <a:avLst>
              <a:gd name="adj" fmla="val 150000"/>
            </a:avLst>
          </a:prstGeom>
          <a:solidFill>
            <a:srgbClr val="76D6A5"/>
          </a:solidFill>
          <a:ln w="12700">
            <a:solidFill>
              <a:srgbClr val="76D6A5">
                <a:alpha val="0"/>
              </a:srgbClr>
            </a:solidFill>
            <a:prstDash val="solid"/>
          </a:ln>
        </p:spPr>
      </p:sp>
      <p:sp>
        <p:nvSpPr>
          <p:cNvPr id="31" name="Text 29"/>
          <p:cNvSpPr txBox="1"/>
          <p:nvPr/>
        </p:nvSpPr>
        <p:spPr>
          <a:xfrm>
            <a:off x="841248" y="4946904"/>
            <a:ext cx="1508760" cy="182880"/>
          </a:xfrm>
          <a:prstGeom prst="rect">
            <a:avLst/>
          </a:prstGeom>
          <a:noFill/>
          <a:ln/>
        </p:spPr>
        <p:txBody>
          <a:bodyPr wrap="square" lIns="0" tIns="0" rIns="0" bIns="0" rtlCol="0" anchor="ctr">
            <a:normAutofit/>
          </a:bodyPr>
          <a:lstStyle/>
          <a:p>
            <a:pPr algn="l" indent="0" marL="0">
              <a:buNone/>
            </a:pPr>
            <a:r>
              <a:rPr lang="en-US" sz="850" b="1" spc="70" kern="0" dirty="0">
                <a:solidFill>
                  <a:srgbClr val="76D6A5"/>
                </a:solidFill>
                <a:latin typeface="Aptos" pitchFamily="34" charset="0"/>
                <a:ea typeface="Aptos" pitchFamily="34" charset="-122"/>
                <a:cs typeface="Aptos" pitchFamily="34" charset="-120"/>
              </a:rPr>
              <a:t>ACCOUNT TRUST</a:t>
            </a:r>
            <a:endParaRPr lang="en-US" sz="850" dirty="0"/>
          </a:p>
        </p:txBody>
      </p:sp>
      <p:sp>
        <p:nvSpPr>
          <p:cNvPr id="32" name="Text 30"/>
          <p:cNvSpPr txBox="1"/>
          <p:nvPr/>
        </p:nvSpPr>
        <p:spPr>
          <a:xfrm>
            <a:off x="841248" y="5175504"/>
            <a:ext cx="1965960" cy="256032"/>
          </a:xfrm>
          <a:prstGeom prst="rect">
            <a:avLst/>
          </a:prstGeom>
          <a:noFill/>
          <a:ln/>
        </p:spPr>
        <p:txBody>
          <a:bodyPr wrap="square" lIns="0" tIns="0" rIns="0" bIns="0" rtlCol="0" anchor="ctr">
            <a:normAutofit/>
          </a:bodyPr>
          <a:lstStyle/>
          <a:p>
            <a:pPr algn="l" indent="0" marL="0">
              <a:buNone/>
            </a:pPr>
            <a:r>
              <a:rPr lang="en-US" sz="1220" b="1" dirty="0">
                <a:solidFill>
                  <a:srgbClr val="F5F7FB"/>
                </a:solidFill>
                <a:latin typeface="Aptos" pitchFamily="34" charset="0"/>
                <a:ea typeface="Aptos" pitchFamily="34" charset="-122"/>
                <a:cs typeface="Aptos" pitchFamily="34" charset="-120"/>
              </a:rPr>
              <a:t>Register a new account</a:t>
            </a:r>
            <a:endParaRPr lang="en-US" sz="1220" dirty="0"/>
          </a:p>
        </p:txBody>
      </p:sp>
      <p:sp>
        <p:nvSpPr>
          <p:cNvPr id="33" name="Text 31"/>
          <p:cNvSpPr txBox="1"/>
          <p:nvPr/>
        </p:nvSpPr>
        <p:spPr>
          <a:xfrm>
            <a:off x="2926080" y="4983480"/>
            <a:ext cx="4069080" cy="256032"/>
          </a:xfrm>
          <a:prstGeom prst="rect">
            <a:avLst/>
          </a:prstGeom>
          <a:noFill/>
          <a:ln/>
        </p:spPr>
        <p:txBody>
          <a:bodyPr wrap="square" lIns="0" tIns="0" rIns="0" bIns="0" rtlCol="0" anchor="ctr">
            <a:normAutofit/>
          </a:bodyPr>
          <a:lstStyle/>
          <a:p>
            <a:pPr algn="l" indent="0" marL="0">
              <a:buNone/>
            </a:pPr>
            <a:r>
              <a:rPr lang="en-US" sz="1150" dirty="0">
                <a:solidFill>
                  <a:srgbClr val="F5F7FB"/>
                </a:solidFill>
                <a:latin typeface="Aptos" pitchFamily="34" charset="0"/>
                <a:ea typeface="Aptos" pitchFamily="34" charset="-122"/>
                <a:cs typeface="Aptos" pitchFamily="34" charset="-120"/>
              </a:rPr>
              <a:t>Are email ownership and account-abuse risks addressed?</a:t>
            </a:r>
            <a:endParaRPr lang="en-US" sz="1150" dirty="0"/>
          </a:p>
        </p:txBody>
      </p:sp>
      <p:sp>
        <p:nvSpPr>
          <p:cNvPr id="34" name="Text 32"/>
          <p:cNvSpPr txBox="1"/>
          <p:nvPr/>
        </p:nvSpPr>
        <p:spPr>
          <a:xfrm>
            <a:off x="2926080" y="5303520"/>
            <a:ext cx="5715000" cy="228600"/>
          </a:xfrm>
          <a:prstGeom prst="rect">
            <a:avLst/>
          </a:prstGeom>
          <a:noFill/>
          <a:ln/>
        </p:spPr>
        <p:txBody>
          <a:bodyPr wrap="square" lIns="0" tIns="0" rIns="0" bIns="0" rtlCol="0" anchor="ctr">
            <a:normAutofit/>
          </a:bodyPr>
          <a:lstStyle/>
          <a:p>
            <a:pPr algn="l" indent="0" marL="0">
              <a:buNone/>
            </a:pPr>
            <a:r>
              <a:rPr lang="en-US" sz="1030" dirty="0">
                <a:solidFill>
                  <a:srgbClr val="B5C0D1"/>
                </a:solidFill>
                <a:latin typeface="Aptos" pitchFamily="34" charset="0"/>
                <a:ea typeface="Aptos" pitchFamily="34" charset="-122"/>
                <a:cs typeface="Aptos" pitchFamily="34" charset="-120"/>
              </a:rPr>
              <a:t>Reported gap: email confirmation was not enabled.</a:t>
            </a:r>
            <a:endParaRPr lang="en-US" sz="1030" dirty="0"/>
          </a:p>
        </p:txBody>
      </p:sp>
      <p:sp>
        <p:nvSpPr>
          <p:cNvPr id="35" name="Shape 33"/>
          <p:cNvSpPr/>
          <p:nvPr/>
        </p:nvSpPr>
        <p:spPr>
          <a:xfrm>
            <a:off x="9829800" y="5047488"/>
            <a:ext cx="1417320" cy="384048"/>
          </a:xfrm>
          <a:prstGeom prst="roundRect">
            <a:avLst>
              <a:gd name="adj" fmla="val 28571"/>
            </a:avLst>
          </a:prstGeom>
          <a:solidFill>
            <a:srgbClr val="202E46"/>
          </a:solidFill>
          <a:ln w="12700">
            <a:solidFill>
              <a:srgbClr val="202E46">
                <a:alpha val="0"/>
              </a:srgbClr>
            </a:solidFill>
            <a:prstDash val="solid"/>
          </a:ln>
        </p:spPr>
      </p:sp>
      <p:sp>
        <p:nvSpPr>
          <p:cNvPr id="36" name="Text 34"/>
          <p:cNvSpPr txBox="1"/>
          <p:nvPr/>
        </p:nvSpPr>
        <p:spPr>
          <a:xfrm>
            <a:off x="9829800" y="5047488"/>
            <a:ext cx="1417320" cy="384048"/>
          </a:xfrm>
          <a:prstGeom prst="rect">
            <a:avLst/>
          </a:prstGeom>
          <a:noFill/>
          <a:ln/>
        </p:spPr>
        <p:txBody>
          <a:bodyPr wrap="square" lIns="0" tIns="0" rIns="0" bIns="0" rtlCol="0" anchor="ctr">
            <a:normAutofit/>
          </a:bodyPr>
          <a:lstStyle/>
          <a:p>
            <a:pPr algn="ctr" indent="0" marL="0">
              <a:buNone/>
            </a:pPr>
            <a:r>
              <a:rPr lang="en-US" sz="1040" b="1" dirty="0">
                <a:solidFill>
                  <a:srgbClr val="76D6A5"/>
                </a:solidFill>
                <a:latin typeface="Aptos" pitchFamily="34" charset="0"/>
                <a:ea typeface="Aptos" pitchFamily="34" charset="-122"/>
                <a:cs typeface="Aptos" pitchFamily="34" charset="-120"/>
              </a:rPr>
              <a:t>Grey-box</a:t>
            </a:r>
            <a:endParaRPr lang="en-US" sz="104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04 / FINDINGS FROM THE CASE</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The defects fall into three risk areas</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Grouping by risk makes the results easier to interpret and prioritise.</a:t>
            </a:r>
            <a:endParaRPr lang="en-US" sz="1200" dirty="0"/>
          </a:p>
        </p:txBody>
      </p:sp>
      <p:sp>
        <p:nvSpPr>
          <p:cNvPr id="5" name="Shape 3"/>
          <p:cNvSpPr/>
          <p:nvPr/>
        </p:nvSpPr>
        <p:spPr>
          <a:xfrm>
            <a:off x="621792" y="1700784"/>
            <a:ext cx="3246120" cy="4114800"/>
          </a:xfrm>
          <a:prstGeom prst="roundRect">
            <a:avLst>
              <a:gd name="adj" fmla="val 3380"/>
            </a:avLst>
          </a:prstGeom>
          <a:solidFill>
            <a:srgbClr val="18243A"/>
          </a:solidFill>
          <a:ln w="12700">
            <a:solidFill>
              <a:srgbClr val="324057"/>
            </a:solidFill>
            <a:prstDash val="solid"/>
          </a:ln>
        </p:spPr>
      </p:sp>
      <p:sp>
        <p:nvSpPr>
          <p:cNvPr id="6" name="Shape 4"/>
          <p:cNvSpPr/>
          <p:nvPr/>
        </p:nvSpPr>
        <p:spPr>
          <a:xfrm>
            <a:off x="621792" y="1700784"/>
            <a:ext cx="3246120" cy="73152"/>
          </a:xfrm>
          <a:prstGeom prst="rect">
            <a:avLst>
              <a:gd name="adj" fmla="val 150000"/>
            </a:avLst>
          </a:prstGeom>
          <a:solidFill>
            <a:srgbClr val="59DCE2"/>
          </a:solidFill>
          <a:ln w="12700">
            <a:solidFill>
              <a:srgbClr val="59DCE2">
                <a:alpha val="0"/>
              </a:srgbClr>
            </a:solidFill>
            <a:prstDash val="solid"/>
          </a:ln>
        </p:spPr>
      </p:sp>
      <p:sp>
        <p:nvSpPr>
          <p:cNvPr id="7" name="Text 5"/>
          <p:cNvSpPr txBox="1"/>
          <p:nvPr/>
        </p:nvSpPr>
        <p:spPr>
          <a:xfrm>
            <a:off x="822960" y="1938528"/>
            <a:ext cx="2816352" cy="384048"/>
          </a:xfrm>
          <a:prstGeom prst="rect">
            <a:avLst/>
          </a:prstGeom>
          <a:noFill/>
          <a:ln/>
        </p:spPr>
        <p:txBody>
          <a:bodyPr wrap="square" lIns="0" tIns="0" rIns="0" bIns="0" rtlCol="0" anchor="ctr">
            <a:normAutofit/>
          </a:bodyPr>
          <a:lstStyle/>
          <a:p>
            <a:pPr algn="l" indent="0" marL="0">
              <a:buNone/>
            </a:pPr>
            <a:r>
              <a:rPr lang="en-US" sz="1240" b="1" dirty="0">
                <a:solidFill>
                  <a:srgbClr val="59DCE2"/>
                </a:solidFill>
                <a:latin typeface="Aptos" pitchFamily="34" charset="0"/>
                <a:ea typeface="Aptos" pitchFamily="34" charset="-122"/>
                <a:cs typeface="Aptos" pitchFamily="34" charset="-120"/>
              </a:rPr>
              <a:t>CODE &amp; MAINTENANCE</a:t>
            </a:r>
            <a:endParaRPr lang="en-US" sz="1240" dirty="0"/>
          </a:p>
        </p:txBody>
      </p:sp>
      <p:sp>
        <p:nvSpPr>
          <p:cNvPr id="8" name="Text 6"/>
          <p:cNvSpPr txBox="1"/>
          <p:nvPr/>
        </p:nvSpPr>
        <p:spPr>
          <a:xfrm>
            <a:off x="822960" y="2340864"/>
            <a:ext cx="2788920" cy="228600"/>
          </a:xfrm>
          <a:prstGeom prst="rect">
            <a:avLst/>
          </a:prstGeom>
          <a:noFill/>
          <a:ln/>
        </p:spPr>
        <p:txBody>
          <a:bodyPr wrap="square" lIns="0" tIns="0" rIns="0" bIns="0" rtlCol="0" anchor="ctr">
            <a:normAutofit/>
          </a:bodyPr>
          <a:lstStyle/>
          <a:p>
            <a:pPr algn="l" indent="0" marL="0">
              <a:buNone/>
            </a:pPr>
            <a:r>
              <a:rPr lang="en-US" sz="1050" dirty="0">
                <a:solidFill>
                  <a:srgbClr val="B5C0D1"/>
                </a:solidFill>
                <a:latin typeface="Aptos" pitchFamily="34" charset="0"/>
                <a:ea typeface="Aptos" pitchFamily="34" charset="-122"/>
                <a:cs typeface="Aptos" pitchFamily="34" charset="-120"/>
              </a:rPr>
              <a:t>3 findings</a:t>
            </a:r>
            <a:endParaRPr lang="en-US" sz="1050" dirty="0"/>
          </a:p>
        </p:txBody>
      </p:sp>
      <p:sp>
        <p:nvSpPr>
          <p:cNvPr id="9" name="Shape 7"/>
          <p:cNvSpPr/>
          <p:nvPr/>
        </p:nvSpPr>
        <p:spPr>
          <a:xfrm>
            <a:off x="832104" y="2825496"/>
            <a:ext cx="91440" cy="91440"/>
          </a:xfrm>
          <a:prstGeom prst="ellipse">
            <a:avLst/>
          </a:prstGeom>
          <a:solidFill>
            <a:srgbClr val="59DCE2"/>
          </a:solidFill>
          <a:ln w="12700">
            <a:solidFill>
              <a:srgbClr val="59DCE2">
                <a:alpha val="0"/>
              </a:srgbClr>
            </a:solidFill>
            <a:prstDash val="solid"/>
          </a:ln>
        </p:spPr>
      </p:sp>
      <p:sp>
        <p:nvSpPr>
          <p:cNvPr id="10" name="Text 8"/>
          <p:cNvSpPr txBox="1"/>
          <p:nvPr/>
        </p:nvSpPr>
        <p:spPr>
          <a:xfrm>
            <a:off x="1014984" y="2761488"/>
            <a:ext cx="2578608" cy="219456"/>
          </a:xfrm>
          <a:prstGeom prst="rect">
            <a:avLst/>
          </a:prstGeom>
          <a:noFill/>
          <a:ln/>
        </p:spPr>
        <p:txBody>
          <a:bodyPr wrap="square" lIns="0" tIns="0" rIns="0" bIns="0" rtlCol="0" anchor="ctr">
            <a:normAutofit/>
          </a:bodyPr>
          <a:lstStyle/>
          <a:p>
            <a:pPr algn="l" indent="0" marL="0">
              <a:buNone/>
            </a:pPr>
            <a:r>
              <a:rPr lang="en-US" sz="1130" b="1" dirty="0">
                <a:solidFill>
                  <a:srgbClr val="F5F7FB"/>
                </a:solidFill>
                <a:latin typeface="Aptos" pitchFamily="34" charset="0"/>
                <a:ea typeface="Aptos" pitchFamily="34" charset="-122"/>
                <a:cs typeface="Aptos" pitchFamily="34" charset="-120"/>
              </a:rPr>
              <a:t>Unused logout logic</a:t>
            </a:r>
            <a:endParaRPr lang="en-US" sz="1130" dirty="0"/>
          </a:p>
        </p:txBody>
      </p:sp>
      <p:sp>
        <p:nvSpPr>
          <p:cNvPr id="11" name="Text 9"/>
          <p:cNvSpPr txBox="1"/>
          <p:nvPr/>
        </p:nvSpPr>
        <p:spPr>
          <a:xfrm>
            <a:off x="1014984" y="3017520"/>
            <a:ext cx="2578608" cy="347472"/>
          </a:xfrm>
          <a:prstGeom prst="rect">
            <a:avLst/>
          </a:prstGeom>
          <a:noFill/>
          <a:ln/>
        </p:spPr>
        <p:txBody>
          <a:bodyPr wrap="square" lIns="0" tIns="0" rIns="0" bIns="0" rtlCol="0" anchor="t">
            <a:normAutofit/>
          </a:bodyPr>
          <a:lstStyle/>
          <a:p>
            <a:pPr algn="l" indent="0" marL="0">
              <a:buNone/>
            </a:pPr>
            <a:r>
              <a:rPr lang="en-US" sz="1000" dirty="0">
                <a:solidFill>
                  <a:srgbClr val="B5C0D1"/>
                </a:solidFill>
                <a:latin typeface="Aptos" pitchFamily="34" charset="0"/>
                <a:ea typeface="Aptos" pitchFamily="34" charset="-122"/>
                <a:cs typeface="Aptos" pitchFamily="34" charset="-120"/>
              </a:rPr>
              <a:t>Code path exists but is not used.</a:t>
            </a:r>
            <a:endParaRPr lang="en-US" sz="1000" dirty="0"/>
          </a:p>
        </p:txBody>
      </p:sp>
      <p:sp>
        <p:nvSpPr>
          <p:cNvPr id="12" name="Shape 10"/>
          <p:cNvSpPr/>
          <p:nvPr/>
        </p:nvSpPr>
        <p:spPr>
          <a:xfrm>
            <a:off x="832104" y="3602736"/>
            <a:ext cx="91440" cy="91440"/>
          </a:xfrm>
          <a:prstGeom prst="ellipse">
            <a:avLst/>
          </a:prstGeom>
          <a:solidFill>
            <a:srgbClr val="59DCE2"/>
          </a:solidFill>
          <a:ln w="12700">
            <a:solidFill>
              <a:srgbClr val="59DCE2">
                <a:alpha val="0"/>
              </a:srgbClr>
            </a:solidFill>
            <a:prstDash val="solid"/>
          </a:ln>
        </p:spPr>
      </p:sp>
      <p:sp>
        <p:nvSpPr>
          <p:cNvPr id="13" name="Text 11"/>
          <p:cNvSpPr txBox="1"/>
          <p:nvPr/>
        </p:nvSpPr>
        <p:spPr>
          <a:xfrm>
            <a:off x="1014984" y="3538728"/>
            <a:ext cx="2578608" cy="219456"/>
          </a:xfrm>
          <a:prstGeom prst="rect">
            <a:avLst/>
          </a:prstGeom>
          <a:noFill/>
          <a:ln/>
        </p:spPr>
        <p:txBody>
          <a:bodyPr wrap="square" lIns="0" tIns="0" rIns="0" bIns="0" rtlCol="0" anchor="ctr">
            <a:normAutofit/>
          </a:bodyPr>
          <a:lstStyle/>
          <a:p>
            <a:pPr algn="l" indent="0" marL="0">
              <a:buNone/>
            </a:pPr>
            <a:r>
              <a:rPr lang="en-US" sz="1130" b="1" dirty="0">
                <a:solidFill>
                  <a:srgbClr val="F5F7FB"/>
                </a:solidFill>
                <a:latin typeface="Aptos" pitchFamily="34" charset="0"/>
                <a:ea typeface="Aptos" pitchFamily="34" charset="-122"/>
                <a:cs typeface="Aptos" pitchFamily="34" charset="-120"/>
              </a:rPr>
              <a:t>Repeated DB code</a:t>
            </a:r>
            <a:endParaRPr lang="en-US" sz="1130" dirty="0"/>
          </a:p>
        </p:txBody>
      </p:sp>
      <p:sp>
        <p:nvSpPr>
          <p:cNvPr id="14" name="Text 12"/>
          <p:cNvSpPr txBox="1"/>
          <p:nvPr/>
        </p:nvSpPr>
        <p:spPr>
          <a:xfrm>
            <a:off x="1014984" y="3794760"/>
            <a:ext cx="2578608" cy="347472"/>
          </a:xfrm>
          <a:prstGeom prst="rect">
            <a:avLst/>
          </a:prstGeom>
          <a:noFill/>
          <a:ln/>
        </p:spPr>
        <p:txBody>
          <a:bodyPr wrap="square" lIns="0" tIns="0" rIns="0" bIns="0" rtlCol="0" anchor="t">
            <a:normAutofit/>
          </a:bodyPr>
          <a:lstStyle/>
          <a:p>
            <a:pPr algn="l" indent="0" marL="0">
              <a:buNone/>
            </a:pPr>
            <a:r>
              <a:rPr lang="en-US" sz="1000" dirty="0">
                <a:solidFill>
                  <a:srgbClr val="B5C0D1"/>
                </a:solidFill>
                <a:latin typeface="Aptos" pitchFamily="34" charset="0"/>
                <a:ea typeface="Aptos" pitchFamily="34" charset="-122"/>
                <a:cs typeface="Aptos" pitchFamily="34" charset="-120"/>
              </a:rPr>
              <a:t>Same access logic appears on several pages.</a:t>
            </a:r>
            <a:endParaRPr lang="en-US" sz="1000" dirty="0"/>
          </a:p>
        </p:txBody>
      </p:sp>
      <p:sp>
        <p:nvSpPr>
          <p:cNvPr id="15" name="Shape 13"/>
          <p:cNvSpPr/>
          <p:nvPr/>
        </p:nvSpPr>
        <p:spPr>
          <a:xfrm>
            <a:off x="832104" y="4379976"/>
            <a:ext cx="91440" cy="91440"/>
          </a:xfrm>
          <a:prstGeom prst="ellipse">
            <a:avLst/>
          </a:prstGeom>
          <a:solidFill>
            <a:srgbClr val="59DCE2"/>
          </a:solidFill>
          <a:ln w="12700">
            <a:solidFill>
              <a:srgbClr val="59DCE2">
                <a:alpha val="0"/>
              </a:srgbClr>
            </a:solidFill>
            <a:prstDash val="solid"/>
          </a:ln>
        </p:spPr>
      </p:sp>
      <p:sp>
        <p:nvSpPr>
          <p:cNvPr id="16" name="Text 14"/>
          <p:cNvSpPr txBox="1"/>
          <p:nvPr/>
        </p:nvSpPr>
        <p:spPr>
          <a:xfrm>
            <a:off x="1014984" y="4315968"/>
            <a:ext cx="2578608" cy="219456"/>
          </a:xfrm>
          <a:prstGeom prst="rect">
            <a:avLst/>
          </a:prstGeom>
          <a:noFill/>
          <a:ln/>
        </p:spPr>
        <p:txBody>
          <a:bodyPr wrap="square" lIns="0" tIns="0" rIns="0" bIns="0" rtlCol="0" anchor="ctr">
            <a:normAutofit/>
          </a:bodyPr>
          <a:lstStyle/>
          <a:p>
            <a:pPr algn="l" indent="0" marL="0">
              <a:buNone/>
            </a:pPr>
            <a:r>
              <a:rPr lang="en-US" sz="1130" b="1" dirty="0">
                <a:solidFill>
                  <a:srgbClr val="F5F7FB"/>
                </a:solidFill>
                <a:latin typeface="Aptos" pitchFamily="34" charset="0"/>
                <a:ea typeface="Aptos" pitchFamily="34" charset="-122"/>
                <a:cs typeface="Aptos" pitchFamily="34" charset="-120"/>
              </a:rPr>
              <a:t>Key stored in code</a:t>
            </a:r>
            <a:endParaRPr lang="en-US" sz="1130" dirty="0"/>
          </a:p>
        </p:txBody>
      </p:sp>
      <p:sp>
        <p:nvSpPr>
          <p:cNvPr id="17" name="Text 15"/>
          <p:cNvSpPr txBox="1"/>
          <p:nvPr/>
        </p:nvSpPr>
        <p:spPr>
          <a:xfrm>
            <a:off x="1014984" y="4572000"/>
            <a:ext cx="2578608" cy="347472"/>
          </a:xfrm>
          <a:prstGeom prst="rect">
            <a:avLst/>
          </a:prstGeom>
          <a:noFill/>
          <a:ln/>
        </p:spPr>
        <p:txBody>
          <a:bodyPr wrap="square" lIns="0" tIns="0" rIns="0" bIns="0" rtlCol="0" anchor="t">
            <a:normAutofit/>
          </a:bodyPr>
          <a:lstStyle/>
          <a:p>
            <a:pPr algn="l" indent="0" marL="0">
              <a:buNone/>
            </a:pPr>
            <a:r>
              <a:rPr lang="en-US" sz="1000" dirty="0">
                <a:solidFill>
                  <a:srgbClr val="B5C0D1"/>
                </a:solidFill>
                <a:latin typeface="Aptos" pitchFamily="34" charset="0"/>
                <a:ea typeface="Aptos" pitchFamily="34" charset="-122"/>
                <a:cs typeface="Aptos" pitchFamily="34" charset="-120"/>
              </a:rPr>
              <a:t>Configuration is placed in a source file.</a:t>
            </a:r>
            <a:endParaRPr lang="en-US" sz="1000" dirty="0"/>
          </a:p>
        </p:txBody>
      </p:sp>
      <p:sp>
        <p:nvSpPr>
          <p:cNvPr id="18" name="Shape 16"/>
          <p:cNvSpPr/>
          <p:nvPr/>
        </p:nvSpPr>
        <p:spPr>
          <a:xfrm>
            <a:off x="822960" y="5230368"/>
            <a:ext cx="2816352" cy="0"/>
          </a:xfrm>
          <a:prstGeom prst="line">
            <a:avLst/>
          </a:prstGeom>
          <a:noFill/>
          <a:ln w="12700">
            <a:solidFill>
              <a:srgbClr val="324057"/>
            </a:solidFill>
            <a:prstDash val="solid"/>
            <a:headEnd type="none"/>
            <a:tailEnd type="none"/>
          </a:ln>
        </p:spPr>
      </p:sp>
      <p:sp>
        <p:nvSpPr>
          <p:cNvPr id="19" name="Text 17"/>
          <p:cNvSpPr txBox="1"/>
          <p:nvPr/>
        </p:nvSpPr>
        <p:spPr>
          <a:xfrm>
            <a:off x="822960" y="5349240"/>
            <a:ext cx="2816352" cy="384048"/>
          </a:xfrm>
          <a:prstGeom prst="rect">
            <a:avLst/>
          </a:prstGeom>
          <a:noFill/>
          <a:ln/>
        </p:spPr>
        <p:txBody>
          <a:bodyPr wrap="square" lIns="0" tIns="0" rIns="0" bIns="0" rtlCol="0" anchor="t">
            <a:normAutofit/>
          </a:bodyPr>
          <a:lstStyle/>
          <a:p>
            <a:pPr algn="l" indent="0" marL="0">
              <a:buNone/>
            </a:pPr>
            <a:r>
              <a:rPr lang="en-US" sz="1010" dirty="0">
                <a:solidFill>
                  <a:srgbClr val="F5F7FB"/>
                </a:solidFill>
                <a:latin typeface="Aptos" pitchFamily="34" charset="0"/>
                <a:ea typeface="Aptos" pitchFamily="34" charset="-122"/>
                <a:cs typeface="Aptos" pitchFamily="34" charset="-120"/>
              </a:rPr>
              <a:t>Impact: hard-to-maintain code and configuration exposure risk.</a:t>
            </a:r>
            <a:endParaRPr lang="en-US" sz="1010" dirty="0"/>
          </a:p>
        </p:txBody>
      </p:sp>
      <p:sp>
        <p:nvSpPr>
          <p:cNvPr id="20" name="Shape 18"/>
          <p:cNvSpPr/>
          <p:nvPr/>
        </p:nvSpPr>
        <p:spPr>
          <a:xfrm>
            <a:off x="4133088" y="1700784"/>
            <a:ext cx="3246120" cy="4114800"/>
          </a:xfrm>
          <a:prstGeom prst="roundRect">
            <a:avLst>
              <a:gd name="adj" fmla="val 3380"/>
            </a:avLst>
          </a:prstGeom>
          <a:solidFill>
            <a:srgbClr val="18243A"/>
          </a:solidFill>
          <a:ln w="12700">
            <a:solidFill>
              <a:srgbClr val="324057"/>
            </a:solidFill>
            <a:prstDash val="solid"/>
          </a:ln>
        </p:spPr>
      </p:sp>
      <p:sp>
        <p:nvSpPr>
          <p:cNvPr id="21" name="Shape 19"/>
          <p:cNvSpPr/>
          <p:nvPr/>
        </p:nvSpPr>
        <p:spPr>
          <a:xfrm>
            <a:off x="4133088" y="1700784"/>
            <a:ext cx="3246120" cy="73152"/>
          </a:xfrm>
          <a:prstGeom prst="rect">
            <a:avLst>
              <a:gd name="adj" fmla="val 150000"/>
            </a:avLst>
          </a:prstGeom>
          <a:solidFill>
            <a:srgbClr val="FFC857"/>
          </a:solidFill>
          <a:ln w="12700">
            <a:solidFill>
              <a:srgbClr val="FFC857">
                <a:alpha val="0"/>
              </a:srgbClr>
            </a:solidFill>
            <a:prstDash val="solid"/>
          </a:ln>
        </p:spPr>
      </p:sp>
      <p:sp>
        <p:nvSpPr>
          <p:cNvPr id="22" name="Text 20"/>
          <p:cNvSpPr txBox="1"/>
          <p:nvPr/>
        </p:nvSpPr>
        <p:spPr>
          <a:xfrm>
            <a:off x="4334256" y="1938528"/>
            <a:ext cx="2816352" cy="384048"/>
          </a:xfrm>
          <a:prstGeom prst="rect">
            <a:avLst/>
          </a:prstGeom>
          <a:noFill/>
          <a:ln/>
        </p:spPr>
        <p:txBody>
          <a:bodyPr wrap="square" lIns="0" tIns="0" rIns="0" bIns="0" rtlCol="0" anchor="ctr">
            <a:normAutofit/>
          </a:bodyPr>
          <a:lstStyle/>
          <a:p>
            <a:pPr algn="l" indent="0" marL="0">
              <a:buNone/>
            </a:pPr>
            <a:r>
              <a:rPr lang="en-US" sz="1240" b="1" dirty="0">
                <a:solidFill>
                  <a:srgbClr val="FFC857"/>
                </a:solidFill>
                <a:latin typeface="Aptos" pitchFamily="34" charset="0"/>
                <a:ea typeface="Aptos" pitchFamily="34" charset="-122"/>
                <a:cs typeface="Aptos" pitchFamily="34" charset="-120"/>
              </a:rPr>
              <a:t>IDENTITY &amp; DATA STATE</a:t>
            </a:r>
            <a:endParaRPr lang="en-US" sz="1240" dirty="0"/>
          </a:p>
        </p:txBody>
      </p:sp>
      <p:sp>
        <p:nvSpPr>
          <p:cNvPr id="23" name="Text 21"/>
          <p:cNvSpPr txBox="1"/>
          <p:nvPr/>
        </p:nvSpPr>
        <p:spPr>
          <a:xfrm>
            <a:off x="4334256" y="2340864"/>
            <a:ext cx="2788920" cy="228600"/>
          </a:xfrm>
          <a:prstGeom prst="rect">
            <a:avLst/>
          </a:prstGeom>
          <a:noFill/>
          <a:ln/>
        </p:spPr>
        <p:txBody>
          <a:bodyPr wrap="square" lIns="0" tIns="0" rIns="0" bIns="0" rtlCol="0" anchor="ctr">
            <a:normAutofit/>
          </a:bodyPr>
          <a:lstStyle/>
          <a:p>
            <a:pPr algn="l" indent="0" marL="0">
              <a:buNone/>
            </a:pPr>
            <a:r>
              <a:rPr lang="en-US" sz="1050" dirty="0">
                <a:solidFill>
                  <a:srgbClr val="B5C0D1"/>
                </a:solidFill>
                <a:latin typeface="Aptos" pitchFamily="34" charset="0"/>
                <a:ea typeface="Aptos" pitchFamily="34" charset="-122"/>
                <a:cs typeface="Aptos" pitchFamily="34" charset="-120"/>
              </a:rPr>
              <a:t>2 findings</a:t>
            </a:r>
            <a:endParaRPr lang="en-US" sz="1050" dirty="0"/>
          </a:p>
        </p:txBody>
      </p:sp>
      <p:sp>
        <p:nvSpPr>
          <p:cNvPr id="24" name="Shape 22"/>
          <p:cNvSpPr/>
          <p:nvPr/>
        </p:nvSpPr>
        <p:spPr>
          <a:xfrm>
            <a:off x="4343400" y="2825496"/>
            <a:ext cx="91440" cy="91440"/>
          </a:xfrm>
          <a:prstGeom prst="ellipse">
            <a:avLst/>
          </a:prstGeom>
          <a:solidFill>
            <a:srgbClr val="FFC857"/>
          </a:solidFill>
          <a:ln w="12700">
            <a:solidFill>
              <a:srgbClr val="FFC857">
                <a:alpha val="0"/>
              </a:srgbClr>
            </a:solidFill>
            <a:prstDash val="solid"/>
          </a:ln>
        </p:spPr>
      </p:sp>
      <p:sp>
        <p:nvSpPr>
          <p:cNvPr id="25" name="Text 23"/>
          <p:cNvSpPr txBox="1"/>
          <p:nvPr/>
        </p:nvSpPr>
        <p:spPr>
          <a:xfrm>
            <a:off x="4526280" y="2761488"/>
            <a:ext cx="2578608" cy="219456"/>
          </a:xfrm>
          <a:prstGeom prst="rect">
            <a:avLst/>
          </a:prstGeom>
          <a:noFill/>
          <a:ln/>
        </p:spPr>
        <p:txBody>
          <a:bodyPr wrap="square" lIns="0" tIns="0" rIns="0" bIns="0" rtlCol="0" anchor="ctr">
            <a:normAutofit/>
          </a:bodyPr>
          <a:lstStyle/>
          <a:p>
            <a:pPr algn="l" indent="0" marL="0">
              <a:buNone/>
            </a:pPr>
            <a:r>
              <a:rPr lang="en-US" sz="1130" b="1" dirty="0">
                <a:solidFill>
                  <a:srgbClr val="F5F7FB"/>
                </a:solidFill>
                <a:latin typeface="Aptos" pitchFamily="34" charset="0"/>
                <a:ea typeface="Aptos" pitchFamily="34" charset="-122"/>
                <a:cs typeface="Aptos" pitchFamily="34" charset="-120"/>
              </a:rPr>
              <a:t>No email confirmation</a:t>
            </a:r>
            <a:endParaRPr lang="en-US" sz="1130" dirty="0"/>
          </a:p>
        </p:txBody>
      </p:sp>
      <p:sp>
        <p:nvSpPr>
          <p:cNvPr id="26" name="Text 24"/>
          <p:cNvSpPr txBox="1"/>
          <p:nvPr/>
        </p:nvSpPr>
        <p:spPr>
          <a:xfrm>
            <a:off x="4526280" y="3017520"/>
            <a:ext cx="2578608" cy="347472"/>
          </a:xfrm>
          <a:prstGeom prst="rect">
            <a:avLst/>
          </a:prstGeom>
          <a:noFill/>
          <a:ln/>
        </p:spPr>
        <p:txBody>
          <a:bodyPr wrap="square" lIns="0" tIns="0" rIns="0" bIns="0" rtlCol="0" anchor="t">
            <a:normAutofit/>
          </a:bodyPr>
          <a:lstStyle/>
          <a:p>
            <a:pPr algn="l" indent="0" marL="0">
              <a:buNone/>
            </a:pPr>
            <a:r>
              <a:rPr lang="en-US" sz="1000" dirty="0">
                <a:solidFill>
                  <a:srgbClr val="B5C0D1"/>
                </a:solidFill>
                <a:latin typeface="Aptos" pitchFamily="34" charset="0"/>
                <a:ea typeface="Aptos" pitchFamily="34" charset="-122"/>
                <a:cs typeface="Aptos" pitchFamily="34" charset="-120"/>
              </a:rPr>
              <a:t>Unverified / fake accounts may be easier to create.</a:t>
            </a:r>
            <a:endParaRPr lang="en-US" sz="1000" dirty="0"/>
          </a:p>
        </p:txBody>
      </p:sp>
      <p:sp>
        <p:nvSpPr>
          <p:cNvPr id="27" name="Shape 25"/>
          <p:cNvSpPr/>
          <p:nvPr/>
        </p:nvSpPr>
        <p:spPr>
          <a:xfrm>
            <a:off x="4343400" y="3602736"/>
            <a:ext cx="91440" cy="91440"/>
          </a:xfrm>
          <a:prstGeom prst="ellipse">
            <a:avLst/>
          </a:prstGeom>
          <a:solidFill>
            <a:srgbClr val="FFC857"/>
          </a:solidFill>
          <a:ln w="12700">
            <a:solidFill>
              <a:srgbClr val="FFC857">
                <a:alpha val="0"/>
              </a:srgbClr>
            </a:solidFill>
            <a:prstDash val="solid"/>
          </a:ln>
        </p:spPr>
      </p:sp>
      <p:sp>
        <p:nvSpPr>
          <p:cNvPr id="28" name="Text 26"/>
          <p:cNvSpPr txBox="1"/>
          <p:nvPr/>
        </p:nvSpPr>
        <p:spPr>
          <a:xfrm>
            <a:off x="4526280" y="3538728"/>
            <a:ext cx="2578608" cy="219456"/>
          </a:xfrm>
          <a:prstGeom prst="rect">
            <a:avLst/>
          </a:prstGeom>
          <a:noFill/>
          <a:ln/>
        </p:spPr>
        <p:txBody>
          <a:bodyPr wrap="square" lIns="0" tIns="0" rIns="0" bIns="0" rtlCol="0" anchor="ctr">
            <a:normAutofit/>
          </a:bodyPr>
          <a:lstStyle/>
          <a:p>
            <a:pPr algn="l" indent="0" marL="0">
              <a:buNone/>
            </a:pPr>
            <a:r>
              <a:rPr lang="en-US" sz="1130" b="1" dirty="0">
                <a:solidFill>
                  <a:srgbClr val="F5F7FB"/>
                </a:solidFill>
                <a:latin typeface="Aptos" pitchFamily="34" charset="0"/>
                <a:ea typeface="Aptos" pitchFamily="34" charset="-122"/>
                <a:cs typeface="Aptos" pitchFamily="34" charset="-120"/>
              </a:rPr>
              <a:t>Stale comment cache</a:t>
            </a:r>
            <a:endParaRPr lang="en-US" sz="1130" dirty="0"/>
          </a:p>
        </p:txBody>
      </p:sp>
      <p:sp>
        <p:nvSpPr>
          <p:cNvPr id="29" name="Text 27"/>
          <p:cNvSpPr txBox="1"/>
          <p:nvPr/>
        </p:nvSpPr>
        <p:spPr>
          <a:xfrm>
            <a:off x="4526280" y="3794760"/>
            <a:ext cx="2578608" cy="347472"/>
          </a:xfrm>
          <a:prstGeom prst="rect">
            <a:avLst/>
          </a:prstGeom>
          <a:noFill/>
          <a:ln/>
        </p:spPr>
        <p:txBody>
          <a:bodyPr wrap="square" lIns="0" tIns="0" rIns="0" bIns="0" rtlCol="0" anchor="t">
            <a:normAutofit/>
          </a:bodyPr>
          <a:lstStyle/>
          <a:p>
            <a:pPr algn="l" indent="0" marL="0">
              <a:buNone/>
            </a:pPr>
            <a:r>
              <a:rPr lang="en-US" sz="1000" dirty="0">
                <a:solidFill>
                  <a:srgbClr val="B5C0D1"/>
                </a:solidFill>
                <a:latin typeface="Aptos" pitchFamily="34" charset="0"/>
                <a:ea typeface="Aptos" pitchFamily="34" charset="-122"/>
                <a:cs typeface="Aptos" pitchFamily="34" charset="-120"/>
              </a:rPr>
              <a:t>Deleted data can continue to appear in the UI.</a:t>
            </a:r>
            <a:endParaRPr lang="en-US" sz="1000" dirty="0"/>
          </a:p>
        </p:txBody>
      </p:sp>
      <p:sp>
        <p:nvSpPr>
          <p:cNvPr id="30" name="Shape 28"/>
          <p:cNvSpPr/>
          <p:nvPr/>
        </p:nvSpPr>
        <p:spPr>
          <a:xfrm>
            <a:off x="4334256" y="5230368"/>
            <a:ext cx="2816352" cy="0"/>
          </a:xfrm>
          <a:prstGeom prst="line">
            <a:avLst/>
          </a:prstGeom>
          <a:noFill/>
          <a:ln w="12700">
            <a:solidFill>
              <a:srgbClr val="324057"/>
            </a:solidFill>
            <a:prstDash val="solid"/>
            <a:headEnd type="none"/>
            <a:tailEnd type="none"/>
          </a:ln>
        </p:spPr>
      </p:sp>
      <p:sp>
        <p:nvSpPr>
          <p:cNvPr id="31" name="Text 29"/>
          <p:cNvSpPr txBox="1"/>
          <p:nvPr/>
        </p:nvSpPr>
        <p:spPr>
          <a:xfrm>
            <a:off x="4334256" y="5349240"/>
            <a:ext cx="2816352" cy="384048"/>
          </a:xfrm>
          <a:prstGeom prst="rect">
            <a:avLst/>
          </a:prstGeom>
          <a:noFill/>
          <a:ln/>
        </p:spPr>
        <p:txBody>
          <a:bodyPr wrap="square" lIns="0" tIns="0" rIns="0" bIns="0" rtlCol="0" anchor="t">
            <a:normAutofit/>
          </a:bodyPr>
          <a:lstStyle/>
          <a:p>
            <a:pPr algn="l" indent="0" marL="0">
              <a:buNone/>
            </a:pPr>
            <a:r>
              <a:rPr lang="en-US" sz="1010" dirty="0">
                <a:solidFill>
                  <a:srgbClr val="F5F7FB"/>
                </a:solidFill>
                <a:latin typeface="Aptos" pitchFamily="34" charset="0"/>
                <a:ea typeface="Aptos" pitchFamily="34" charset="-122"/>
                <a:cs typeface="Aptos" pitchFamily="34" charset="-120"/>
              </a:rPr>
              <a:t>Impact: weaker account trust and inconsistent user state.</a:t>
            </a:r>
            <a:endParaRPr lang="en-US" sz="1010" dirty="0"/>
          </a:p>
        </p:txBody>
      </p:sp>
      <p:sp>
        <p:nvSpPr>
          <p:cNvPr id="32" name="Shape 30"/>
          <p:cNvSpPr/>
          <p:nvPr/>
        </p:nvSpPr>
        <p:spPr>
          <a:xfrm>
            <a:off x="7644384" y="1700784"/>
            <a:ext cx="3246120" cy="4114800"/>
          </a:xfrm>
          <a:prstGeom prst="roundRect">
            <a:avLst>
              <a:gd name="adj" fmla="val 3380"/>
            </a:avLst>
          </a:prstGeom>
          <a:solidFill>
            <a:srgbClr val="18243A"/>
          </a:solidFill>
          <a:ln w="12700">
            <a:solidFill>
              <a:srgbClr val="324057"/>
            </a:solidFill>
            <a:prstDash val="solid"/>
          </a:ln>
        </p:spPr>
      </p:sp>
      <p:sp>
        <p:nvSpPr>
          <p:cNvPr id="33" name="Shape 31"/>
          <p:cNvSpPr/>
          <p:nvPr/>
        </p:nvSpPr>
        <p:spPr>
          <a:xfrm>
            <a:off x="7644384" y="1700784"/>
            <a:ext cx="3246120" cy="73152"/>
          </a:xfrm>
          <a:prstGeom prst="rect">
            <a:avLst>
              <a:gd name="adj" fmla="val 150000"/>
            </a:avLst>
          </a:prstGeom>
          <a:solidFill>
            <a:srgbClr val="FF927C"/>
          </a:solidFill>
          <a:ln w="12700">
            <a:solidFill>
              <a:srgbClr val="FF927C">
                <a:alpha val="0"/>
              </a:srgbClr>
            </a:solidFill>
            <a:prstDash val="solid"/>
          </a:ln>
        </p:spPr>
      </p:sp>
      <p:sp>
        <p:nvSpPr>
          <p:cNvPr id="34" name="Text 32"/>
          <p:cNvSpPr txBox="1"/>
          <p:nvPr/>
        </p:nvSpPr>
        <p:spPr>
          <a:xfrm>
            <a:off x="7845552" y="1938528"/>
            <a:ext cx="2816352" cy="384048"/>
          </a:xfrm>
          <a:prstGeom prst="rect">
            <a:avLst/>
          </a:prstGeom>
          <a:noFill/>
          <a:ln/>
        </p:spPr>
        <p:txBody>
          <a:bodyPr wrap="square" lIns="0" tIns="0" rIns="0" bIns="0" rtlCol="0" anchor="ctr">
            <a:normAutofit/>
          </a:bodyPr>
          <a:lstStyle/>
          <a:p>
            <a:pPr algn="l" indent="0" marL="0">
              <a:buNone/>
            </a:pPr>
            <a:r>
              <a:rPr lang="en-US" sz="1240" b="1" dirty="0">
                <a:solidFill>
                  <a:srgbClr val="FF927C"/>
                </a:solidFill>
                <a:latin typeface="Aptos" pitchFamily="34" charset="0"/>
                <a:ea typeface="Aptos" pitchFamily="34" charset="-122"/>
                <a:cs typeface="Aptos" pitchFamily="34" charset="-120"/>
              </a:rPr>
              <a:t>USER-FACING FEATURES</a:t>
            </a:r>
            <a:endParaRPr lang="en-US" sz="1240" dirty="0"/>
          </a:p>
        </p:txBody>
      </p:sp>
      <p:sp>
        <p:nvSpPr>
          <p:cNvPr id="35" name="Text 33"/>
          <p:cNvSpPr txBox="1"/>
          <p:nvPr/>
        </p:nvSpPr>
        <p:spPr>
          <a:xfrm>
            <a:off x="7845552" y="2340864"/>
            <a:ext cx="2788920" cy="228600"/>
          </a:xfrm>
          <a:prstGeom prst="rect">
            <a:avLst/>
          </a:prstGeom>
          <a:noFill/>
          <a:ln/>
        </p:spPr>
        <p:txBody>
          <a:bodyPr wrap="square" lIns="0" tIns="0" rIns="0" bIns="0" rtlCol="0" anchor="ctr">
            <a:normAutofit/>
          </a:bodyPr>
          <a:lstStyle/>
          <a:p>
            <a:pPr algn="l" indent="0" marL="0">
              <a:buNone/>
            </a:pPr>
            <a:r>
              <a:rPr lang="en-US" sz="1050" dirty="0">
                <a:solidFill>
                  <a:srgbClr val="B5C0D1"/>
                </a:solidFill>
                <a:latin typeface="Aptos" pitchFamily="34" charset="0"/>
                <a:ea typeface="Aptos" pitchFamily="34" charset="-122"/>
                <a:cs typeface="Aptos" pitchFamily="34" charset="-120"/>
              </a:rPr>
              <a:t>2 findings</a:t>
            </a:r>
            <a:endParaRPr lang="en-US" sz="1050" dirty="0"/>
          </a:p>
        </p:txBody>
      </p:sp>
      <p:sp>
        <p:nvSpPr>
          <p:cNvPr id="36" name="Shape 34"/>
          <p:cNvSpPr/>
          <p:nvPr/>
        </p:nvSpPr>
        <p:spPr>
          <a:xfrm>
            <a:off x="7854696" y="2825496"/>
            <a:ext cx="91440" cy="91440"/>
          </a:xfrm>
          <a:prstGeom prst="ellipse">
            <a:avLst/>
          </a:prstGeom>
          <a:solidFill>
            <a:srgbClr val="FF927C"/>
          </a:solidFill>
          <a:ln w="12700">
            <a:solidFill>
              <a:srgbClr val="FF927C">
                <a:alpha val="0"/>
              </a:srgbClr>
            </a:solidFill>
            <a:prstDash val="solid"/>
          </a:ln>
        </p:spPr>
      </p:sp>
      <p:sp>
        <p:nvSpPr>
          <p:cNvPr id="37" name="Text 35"/>
          <p:cNvSpPr txBox="1"/>
          <p:nvPr/>
        </p:nvSpPr>
        <p:spPr>
          <a:xfrm>
            <a:off x="8037576" y="2761488"/>
            <a:ext cx="2578608" cy="219456"/>
          </a:xfrm>
          <a:prstGeom prst="rect">
            <a:avLst/>
          </a:prstGeom>
          <a:noFill/>
          <a:ln/>
        </p:spPr>
        <p:txBody>
          <a:bodyPr wrap="square" lIns="0" tIns="0" rIns="0" bIns="0" rtlCol="0" anchor="ctr">
            <a:normAutofit/>
          </a:bodyPr>
          <a:lstStyle/>
          <a:p>
            <a:pPr algn="l" indent="0" marL="0">
              <a:buNone/>
            </a:pPr>
            <a:r>
              <a:rPr lang="en-US" sz="1130" b="1" dirty="0">
                <a:solidFill>
                  <a:srgbClr val="F5F7FB"/>
                </a:solidFill>
                <a:latin typeface="Aptos" pitchFamily="34" charset="0"/>
                <a:ea typeface="Aptos" pitchFamily="34" charset="-122"/>
                <a:cs typeface="Aptos" pitchFamily="34" charset="-120"/>
              </a:rPr>
              <a:t>No edit action</a:t>
            </a:r>
            <a:endParaRPr lang="en-US" sz="1130" dirty="0"/>
          </a:p>
        </p:txBody>
      </p:sp>
      <p:sp>
        <p:nvSpPr>
          <p:cNvPr id="38" name="Text 36"/>
          <p:cNvSpPr txBox="1"/>
          <p:nvPr/>
        </p:nvSpPr>
        <p:spPr>
          <a:xfrm>
            <a:off x="8037576" y="3017520"/>
            <a:ext cx="2578608" cy="347472"/>
          </a:xfrm>
          <a:prstGeom prst="rect">
            <a:avLst/>
          </a:prstGeom>
          <a:noFill/>
          <a:ln/>
        </p:spPr>
        <p:txBody>
          <a:bodyPr wrap="square" lIns="0" tIns="0" rIns="0" bIns="0" rtlCol="0" anchor="t">
            <a:normAutofit/>
          </a:bodyPr>
          <a:lstStyle/>
          <a:p>
            <a:pPr algn="l" indent="0" marL="0">
              <a:buNone/>
            </a:pPr>
            <a:r>
              <a:rPr lang="en-US" sz="1000" dirty="0">
                <a:solidFill>
                  <a:srgbClr val="B5C0D1"/>
                </a:solidFill>
                <a:latin typeface="Aptos" pitchFamily="34" charset="0"/>
                <a:ea typeface="Aptos" pitchFamily="34" charset="-122"/>
                <a:cs typeface="Aptos" pitchFamily="34" charset="-120"/>
              </a:rPr>
              <a:t>The comment workflow is not full CRUD.</a:t>
            </a:r>
            <a:endParaRPr lang="en-US" sz="1000" dirty="0"/>
          </a:p>
        </p:txBody>
      </p:sp>
      <p:sp>
        <p:nvSpPr>
          <p:cNvPr id="39" name="Shape 37"/>
          <p:cNvSpPr/>
          <p:nvPr/>
        </p:nvSpPr>
        <p:spPr>
          <a:xfrm>
            <a:off x="7854696" y="3602736"/>
            <a:ext cx="91440" cy="91440"/>
          </a:xfrm>
          <a:prstGeom prst="ellipse">
            <a:avLst/>
          </a:prstGeom>
          <a:solidFill>
            <a:srgbClr val="FF927C"/>
          </a:solidFill>
          <a:ln w="12700">
            <a:solidFill>
              <a:srgbClr val="FF927C">
                <a:alpha val="0"/>
              </a:srgbClr>
            </a:solidFill>
            <a:prstDash val="solid"/>
          </a:ln>
        </p:spPr>
      </p:sp>
      <p:sp>
        <p:nvSpPr>
          <p:cNvPr id="40" name="Text 38"/>
          <p:cNvSpPr txBox="1"/>
          <p:nvPr/>
        </p:nvSpPr>
        <p:spPr>
          <a:xfrm>
            <a:off x="8037576" y="3538728"/>
            <a:ext cx="2578608" cy="219456"/>
          </a:xfrm>
          <a:prstGeom prst="rect">
            <a:avLst/>
          </a:prstGeom>
          <a:noFill/>
          <a:ln/>
        </p:spPr>
        <p:txBody>
          <a:bodyPr wrap="square" lIns="0" tIns="0" rIns="0" bIns="0" rtlCol="0" anchor="ctr">
            <a:normAutofit/>
          </a:bodyPr>
          <a:lstStyle/>
          <a:p>
            <a:pPr algn="l" indent="0" marL="0">
              <a:buNone/>
            </a:pPr>
            <a:r>
              <a:rPr lang="en-US" sz="1130" b="1" dirty="0">
                <a:solidFill>
                  <a:srgbClr val="F5F7FB"/>
                </a:solidFill>
                <a:latin typeface="Aptos" pitchFamily="34" charset="0"/>
                <a:ea typeface="Aptos" pitchFamily="34" charset="-122"/>
                <a:cs typeface="Aptos" pitchFamily="34" charset="-120"/>
              </a:rPr>
              <a:t>Empty input feedback</a:t>
            </a:r>
            <a:endParaRPr lang="en-US" sz="1130" dirty="0"/>
          </a:p>
        </p:txBody>
      </p:sp>
      <p:sp>
        <p:nvSpPr>
          <p:cNvPr id="41" name="Text 39"/>
          <p:cNvSpPr txBox="1"/>
          <p:nvPr/>
        </p:nvSpPr>
        <p:spPr>
          <a:xfrm>
            <a:off x="8037576" y="3794760"/>
            <a:ext cx="2578608" cy="347472"/>
          </a:xfrm>
          <a:prstGeom prst="rect">
            <a:avLst/>
          </a:prstGeom>
          <a:noFill/>
          <a:ln/>
        </p:spPr>
        <p:txBody>
          <a:bodyPr wrap="square" lIns="0" tIns="0" rIns="0" bIns="0" rtlCol="0" anchor="t">
            <a:normAutofit/>
          </a:bodyPr>
          <a:lstStyle/>
          <a:p>
            <a:pPr algn="l" indent="0" marL="0">
              <a:buNone/>
            </a:pPr>
            <a:r>
              <a:rPr lang="en-US" sz="1000" dirty="0">
                <a:solidFill>
                  <a:srgbClr val="B5C0D1"/>
                </a:solidFill>
                <a:latin typeface="Aptos" pitchFamily="34" charset="0"/>
                <a:ea typeface="Aptos" pitchFamily="34" charset="-122"/>
                <a:cs typeface="Aptos" pitchFamily="34" charset="-120"/>
              </a:rPr>
              <a:t>No clear validation message is shown.</a:t>
            </a:r>
            <a:endParaRPr lang="en-US" sz="1000" dirty="0"/>
          </a:p>
        </p:txBody>
      </p:sp>
      <p:sp>
        <p:nvSpPr>
          <p:cNvPr id="42" name="Shape 40"/>
          <p:cNvSpPr/>
          <p:nvPr/>
        </p:nvSpPr>
        <p:spPr>
          <a:xfrm>
            <a:off x="7845552" y="5230368"/>
            <a:ext cx="2816352" cy="0"/>
          </a:xfrm>
          <a:prstGeom prst="line">
            <a:avLst/>
          </a:prstGeom>
          <a:noFill/>
          <a:ln w="12700">
            <a:solidFill>
              <a:srgbClr val="324057"/>
            </a:solidFill>
            <a:prstDash val="solid"/>
            <a:headEnd type="none"/>
            <a:tailEnd type="none"/>
          </a:ln>
        </p:spPr>
      </p:sp>
      <p:sp>
        <p:nvSpPr>
          <p:cNvPr id="43" name="Text 41"/>
          <p:cNvSpPr txBox="1"/>
          <p:nvPr/>
        </p:nvSpPr>
        <p:spPr>
          <a:xfrm>
            <a:off x="7845552" y="5349240"/>
            <a:ext cx="2816352" cy="384048"/>
          </a:xfrm>
          <a:prstGeom prst="rect">
            <a:avLst/>
          </a:prstGeom>
          <a:noFill/>
          <a:ln/>
        </p:spPr>
        <p:txBody>
          <a:bodyPr wrap="square" lIns="0" tIns="0" rIns="0" bIns="0" rtlCol="0" anchor="t">
            <a:normAutofit/>
          </a:bodyPr>
          <a:lstStyle/>
          <a:p>
            <a:pPr algn="l" indent="0" marL="0">
              <a:buNone/>
            </a:pPr>
            <a:r>
              <a:rPr lang="en-US" sz="1010" dirty="0">
                <a:solidFill>
                  <a:srgbClr val="F5F7FB"/>
                </a:solidFill>
                <a:latin typeface="Aptos" pitchFamily="34" charset="0"/>
                <a:ea typeface="Aptos" pitchFamily="34" charset="-122"/>
                <a:cs typeface="Aptos" pitchFamily="34" charset="-120"/>
              </a:rPr>
              <a:t>Impact: incomplete tasks and avoidable user confusion.</a:t>
            </a:r>
            <a:endParaRPr lang="en-US" sz="1010" dirty="0"/>
          </a:p>
        </p:txBody>
      </p:sp>
      <p:sp>
        <p:nvSpPr>
          <p:cNvPr id="44" name="Shape 42"/>
          <p:cNvSpPr/>
          <p:nvPr/>
        </p:nvSpPr>
        <p:spPr>
          <a:xfrm>
            <a:off x="640080" y="6007608"/>
            <a:ext cx="10881360" cy="310896"/>
          </a:xfrm>
          <a:prstGeom prst="roundRect">
            <a:avLst>
              <a:gd name="adj" fmla="val 35294"/>
            </a:avLst>
          </a:prstGeom>
          <a:solidFill>
            <a:srgbClr val="202E46"/>
          </a:solidFill>
          <a:ln w="12700">
            <a:solidFill>
              <a:srgbClr val="202E46">
                <a:alpha val="0"/>
              </a:srgbClr>
            </a:solidFill>
            <a:prstDash val="solid"/>
          </a:ln>
        </p:spPr>
      </p:sp>
      <p:sp>
        <p:nvSpPr>
          <p:cNvPr id="45" name="Text 43"/>
          <p:cNvSpPr txBox="1"/>
          <p:nvPr/>
        </p:nvSpPr>
        <p:spPr>
          <a:xfrm>
            <a:off x="804672" y="6044184"/>
            <a:ext cx="10515600" cy="201168"/>
          </a:xfrm>
          <a:prstGeom prst="rect">
            <a:avLst/>
          </a:prstGeom>
          <a:noFill/>
          <a:ln/>
        </p:spPr>
        <p:txBody>
          <a:bodyPr wrap="square" lIns="0" tIns="0" rIns="0" bIns="0" rtlCol="0" anchor="ctr">
            <a:normAutofit/>
          </a:bodyPr>
          <a:lstStyle/>
          <a:p>
            <a:pPr algn="l" indent="0" marL="0">
              <a:buNone/>
            </a:pPr>
            <a:r>
              <a:rPr lang="en-US" sz="940" i="1" dirty="0">
                <a:solidFill>
                  <a:srgbClr val="FFC857"/>
                </a:solidFill>
                <a:latin typeface="Aptos" pitchFamily="34" charset="0"/>
                <a:ea typeface="Aptos" pitchFamily="34" charset="-122"/>
                <a:cs typeface="Aptos" pitchFamily="34" charset="-120"/>
              </a:rPr>
              <a:t>Security note: the supplied findings text says the SQL-injection attempt was unsuccessful; see the comparison-table caveat on the next slide.</a:t>
            </a:r>
            <a:endParaRPr lang="en-US" sz="94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05 / DETECTION COMPARISON</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No single lens catches every issue</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This matrix reproduces the qualitative comparison from the supplied case material.</a:t>
            </a:r>
            <a:endParaRPr lang="en-US" sz="1200" dirty="0"/>
          </a:p>
        </p:txBody>
      </p:sp>
      <p:sp>
        <p:nvSpPr>
          <p:cNvPr id="5" name="Shape 3"/>
          <p:cNvSpPr/>
          <p:nvPr/>
        </p:nvSpPr>
        <p:spPr>
          <a:xfrm>
            <a:off x="658368" y="1691640"/>
            <a:ext cx="3931920" cy="530352"/>
          </a:xfrm>
          <a:prstGeom prst="roundRect">
            <a:avLst>
              <a:gd name="adj" fmla="val 20690"/>
            </a:avLst>
          </a:prstGeom>
          <a:solidFill>
            <a:srgbClr val="202E46"/>
          </a:solidFill>
          <a:ln w="12700">
            <a:solidFill>
              <a:srgbClr val="202E46">
                <a:alpha val="0"/>
              </a:srgbClr>
            </a:solidFill>
            <a:prstDash val="solid"/>
          </a:ln>
        </p:spPr>
      </p:sp>
      <p:sp>
        <p:nvSpPr>
          <p:cNvPr id="6" name="Text 4"/>
          <p:cNvSpPr txBox="1"/>
          <p:nvPr/>
        </p:nvSpPr>
        <p:spPr>
          <a:xfrm>
            <a:off x="768096" y="1719072"/>
            <a:ext cx="3703320" cy="457200"/>
          </a:xfrm>
          <a:prstGeom prst="rect">
            <a:avLst/>
          </a:prstGeom>
          <a:noFill/>
          <a:ln/>
        </p:spPr>
        <p:txBody>
          <a:bodyPr wrap="square" lIns="0" tIns="0" rIns="0" bIns="0" rtlCol="0" anchor="ctr">
            <a:normAutofit/>
          </a:bodyPr>
          <a:lstStyle/>
          <a:p>
            <a:pPr algn="l" indent="0" marL="0">
              <a:buNone/>
            </a:pPr>
            <a:r>
              <a:rPr lang="en-US" sz="1220" b="1" dirty="0">
                <a:solidFill>
                  <a:srgbClr val="F5F7FB"/>
                </a:solidFill>
                <a:latin typeface="Aptos" pitchFamily="34" charset="0"/>
                <a:ea typeface="Aptos" pitchFamily="34" charset="-122"/>
                <a:cs typeface="Aptos" pitchFamily="34" charset="-120"/>
              </a:rPr>
              <a:t>Issue area</a:t>
            </a:r>
            <a:endParaRPr lang="en-US" sz="1220" dirty="0"/>
          </a:p>
        </p:txBody>
      </p:sp>
      <p:sp>
        <p:nvSpPr>
          <p:cNvPr id="7" name="Shape 5"/>
          <p:cNvSpPr/>
          <p:nvPr/>
        </p:nvSpPr>
        <p:spPr>
          <a:xfrm>
            <a:off x="4636008" y="1691640"/>
            <a:ext cx="2011680" cy="530352"/>
          </a:xfrm>
          <a:prstGeom prst="roundRect">
            <a:avLst>
              <a:gd name="adj" fmla="val 20690"/>
            </a:avLst>
          </a:prstGeom>
          <a:solidFill>
            <a:srgbClr val="FF927C"/>
          </a:solidFill>
          <a:ln w="12700">
            <a:solidFill>
              <a:srgbClr val="FF927C">
                <a:alpha val="0"/>
              </a:srgbClr>
            </a:solidFill>
            <a:prstDash val="solid"/>
          </a:ln>
        </p:spPr>
      </p:sp>
      <p:sp>
        <p:nvSpPr>
          <p:cNvPr id="8" name="Text 6"/>
          <p:cNvSpPr txBox="1"/>
          <p:nvPr/>
        </p:nvSpPr>
        <p:spPr>
          <a:xfrm>
            <a:off x="4745736" y="1719072"/>
            <a:ext cx="1783080" cy="457200"/>
          </a:xfrm>
          <a:prstGeom prst="rect">
            <a:avLst/>
          </a:prstGeom>
          <a:noFill/>
          <a:ln/>
        </p:spPr>
        <p:txBody>
          <a:bodyPr wrap="square" lIns="0" tIns="0" rIns="0" bIns="0" rtlCol="0" anchor="ctr">
            <a:normAutofit/>
          </a:bodyPr>
          <a:lstStyle/>
          <a:p>
            <a:pPr algn="ctr" indent="0" marL="0">
              <a:buNone/>
            </a:pPr>
            <a:r>
              <a:rPr lang="en-US" sz="1220" b="1" dirty="0">
                <a:solidFill>
                  <a:srgbClr val="F5F7FB"/>
                </a:solidFill>
                <a:latin typeface="Aptos" pitchFamily="34" charset="0"/>
                <a:ea typeface="Aptos" pitchFamily="34" charset="-122"/>
                <a:cs typeface="Aptos" pitchFamily="34" charset="-120"/>
              </a:rPr>
              <a:t>Black-box</a:t>
            </a:r>
            <a:endParaRPr lang="en-US" sz="1220" dirty="0"/>
          </a:p>
        </p:txBody>
      </p:sp>
      <p:sp>
        <p:nvSpPr>
          <p:cNvPr id="9" name="Shape 7"/>
          <p:cNvSpPr/>
          <p:nvPr/>
        </p:nvSpPr>
        <p:spPr>
          <a:xfrm>
            <a:off x="6693408" y="1691640"/>
            <a:ext cx="2011680" cy="530352"/>
          </a:xfrm>
          <a:prstGeom prst="roundRect">
            <a:avLst>
              <a:gd name="adj" fmla="val 20690"/>
            </a:avLst>
          </a:prstGeom>
          <a:solidFill>
            <a:srgbClr val="59DCE2"/>
          </a:solidFill>
          <a:ln w="12700">
            <a:solidFill>
              <a:srgbClr val="59DCE2">
                <a:alpha val="0"/>
              </a:srgbClr>
            </a:solidFill>
            <a:prstDash val="solid"/>
          </a:ln>
        </p:spPr>
      </p:sp>
      <p:sp>
        <p:nvSpPr>
          <p:cNvPr id="10" name="Text 8"/>
          <p:cNvSpPr txBox="1"/>
          <p:nvPr/>
        </p:nvSpPr>
        <p:spPr>
          <a:xfrm>
            <a:off x="6803136" y="1719072"/>
            <a:ext cx="1783080" cy="457200"/>
          </a:xfrm>
          <a:prstGeom prst="rect">
            <a:avLst/>
          </a:prstGeom>
          <a:noFill/>
          <a:ln/>
        </p:spPr>
        <p:txBody>
          <a:bodyPr wrap="square" lIns="0" tIns="0" rIns="0" bIns="0" rtlCol="0" anchor="ctr">
            <a:normAutofit/>
          </a:bodyPr>
          <a:lstStyle/>
          <a:p>
            <a:pPr algn="ctr" indent="0" marL="0">
              <a:buNone/>
            </a:pPr>
            <a:r>
              <a:rPr lang="en-US" sz="1220" b="1" dirty="0">
                <a:solidFill>
                  <a:srgbClr val="101827"/>
                </a:solidFill>
                <a:latin typeface="Aptos" pitchFamily="34" charset="0"/>
                <a:ea typeface="Aptos" pitchFamily="34" charset="-122"/>
                <a:cs typeface="Aptos" pitchFamily="34" charset="-120"/>
              </a:rPr>
              <a:t>White-box</a:t>
            </a:r>
            <a:endParaRPr lang="en-US" sz="1220" dirty="0"/>
          </a:p>
        </p:txBody>
      </p:sp>
      <p:sp>
        <p:nvSpPr>
          <p:cNvPr id="11" name="Shape 9"/>
          <p:cNvSpPr/>
          <p:nvPr/>
        </p:nvSpPr>
        <p:spPr>
          <a:xfrm>
            <a:off x="8750808" y="1691640"/>
            <a:ext cx="2011680" cy="530352"/>
          </a:xfrm>
          <a:prstGeom prst="roundRect">
            <a:avLst>
              <a:gd name="adj" fmla="val 20690"/>
            </a:avLst>
          </a:prstGeom>
          <a:solidFill>
            <a:srgbClr val="FFC857"/>
          </a:solidFill>
          <a:ln w="12700">
            <a:solidFill>
              <a:srgbClr val="FFC857">
                <a:alpha val="0"/>
              </a:srgbClr>
            </a:solidFill>
            <a:prstDash val="solid"/>
          </a:ln>
        </p:spPr>
      </p:sp>
      <p:sp>
        <p:nvSpPr>
          <p:cNvPr id="12" name="Text 10"/>
          <p:cNvSpPr txBox="1"/>
          <p:nvPr/>
        </p:nvSpPr>
        <p:spPr>
          <a:xfrm>
            <a:off x="8860536" y="1719072"/>
            <a:ext cx="1783080" cy="457200"/>
          </a:xfrm>
          <a:prstGeom prst="rect">
            <a:avLst/>
          </a:prstGeom>
          <a:noFill/>
          <a:ln/>
        </p:spPr>
        <p:txBody>
          <a:bodyPr wrap="square" lIns="0" tIns="0" rIns="0" bIns="0" rtlCol="0" anchor="ctr">
            <a:normAutofit/>
          </a:bodyPr>
          <a:lstStyle/>
          <a:p>
            <a:pPr algn="ctr" indent="0" marL="0">
              <a:buNone/>
            </a:pPr>
            <a:r>
              <a:rPr lang="en-US" sz="1220" b="1" dirty="0">
                <a:solidFill>
                  <a:srgbClr val="101827"/>
                </a:solidFill>
                <a:latin typeface="Aptos" pitchFamily="34" charset="0"/>
                <a:ea typeface="Aptos" pitchFamily="34" charset="-122"/>
                <a:cs typeface="Aptos" pitchFamily="34" charset="-120"/>
              </a:rPr>
              <a:t>Grey-box</a:t>
            </a:r>
            <a:endParaRPr lang="en-US" sz="1220" dirty="0"/>
          </a:p>
        </p:txBody>
      </p:sp>
      <p:sp>
        <p:nvSpPr>
          <p:cNvPr id="13" name="Shape 11"/>
          <p:cNvSpPr/>
          <p:nvPr/>
        </p:nvSpPr>
        <p:spPr>
          <a:xfrm>
            <a:off x="658368" y="2331720"/>
            <a:ext cx="3931920" cy="448056"/>
          </a:xfrm>
          <a:prstGeom prst="roundRect">
            <a:avLst>
              <a:gd name="adj" fmla="val 24490"/>
            </a:avLst>
          </a:prstGeom>
          <a:solidFill>
            <a:srgbClr val="18243A"/>
          </a:solidFill>
          <a:ln w="12700">
            <a:solidFill>
              <a:srgbClr val="324057"/>
            </a:solidFill>
            <a:prstDash val="solid"/>
          </a:ln>
        </p:spPr>
      </p:sp>
      <p:sp>
        <p:nvSpPr>
          <p:cNvPr id="14" name="Text 12"/>
          <p:cNvSpPr txBox="1"/>
          <p:nvPr/>
        </p:nvSpPr>
        <p:spPr>
          <a:xfrm>
            <a:off x="768096" y="2350008"/>
            <a:ext cx="3703320" cy="402336"/>
          </a:xfrm>
          <a:prstGeom prst="rect">
            <a:avLst/>
          </a:prstGeom>
          <a:noFill/>
          <a:ln/>
        </p:spPr>
        <p:txBody>
          <a:bodyPr wrap="square" lIns="0" tIns="0" rIns="0" bIns="0" rtlCol="0" anchor="ctr">
            <a:normAutofit/>
          </a:bodyPr>
          <a:lstStyle/>
          <a:p>
            <a:pPr algn="l" indent="0" marL="0">
              <a:buNone/>
            </a:pPr>
            <a:r>
              <a:rPr lang="en-US" sz="1110" dirty="0">
                <a:solidFill>
                  <a:srgbClr val="B5C0D1"/>
                </a:solidFill>
                <a:latin typeface="Aptos" pitchFamily="34" charset="0"/>
                <a:ea typeface="Aptos" pitchFamily="34" charset="-122"/>
                <a:cs typeface="Aptos" pitchFamily="34" charset="-120"/>
              </a:rPr>
              <a:t>CRUD operations</a:t>
            </a:r>
            <a:endParaRPr lang="en-US" sz="1110" dirty="0"/>
          </a:p>
        </p:txBody>
      </p:sp>
      <p:sp>
        <p:nvSpPr>
          <p:cNvPr id="15" name="Shape 13"/>
          <p:cNvSpPr/>
          <p:nvPr/>
        </p:nvSpPr>
        <p:spPr>
          <a:xfrm>
            <a:off x="4636008" y="2331720"/>
            <a:ext cx="2011680" cy="448056"/>
          </a:xfrm>
          <a:prstGeom prst="roundRect">
            <a:avLst>
              <a:gd name="adj" fmla="val 24490"/>
            </a:avLst>
          </a:prstGeom>
          <a:solidFill>
            <a:srgbClr val="18243A"/>
          </a:solidFill>
          <a:ln w="12700">
            <a:solidFill>
              <a:srgbClr val="324057"/>
            </a:solidFill>
            <a:prstDash val="solid"/>
          </a:ln>
        </p:spPr>
      </p:sp>
      <p:sp>
        <p:nvSpPr>
          <p:cNvPr id="16" name="Text 14"/>
          <p:cNvSpPr txBox="1"/>
          <p:nvPr/>
        </p:nvSpPr>
        <p:spPr>
          <a:xfrm>
            <a:off x="4745736" y="2350008"/>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FFC857"/>
                </a:solidFill>
                <a:latin typeface="Aptos" pitchFamily="34" charset="0"/>
                <a:ea typeface="Aptos" pitchFamily="34" charset="-122"/>
                <a:cs typeface="Aptos" pitchFamily="34" charset="-120"/>
              </a:rPr>
              <a:t>Partial</a:t>
            </a:r>
            <a:endParaRPr lang="en-US" sz="1160" dirty="0"/>
          </a:p>
        </p:txBody>
      </p:sp>
      <p:sp>
        <p:nvSpPr>
          <p:cNvPr id="17" name="Shape 15"/>
          <p:cNvSpPr/>
          <p:nvPr/>
        </p:nvSpPr>
        <p:spPr>
          <a:xfrm>
            <a:off x="6693408" y="2331720"/>
            <a:ext cx="2011680" cy="448056"/>
          </a:xfrm>
          <a:prstGeom prst="roundRect">
            <a:avLst>
              <a:gd name="adj" fmla="val 24490"/>
            </a:avLst>
          </a:prstGeom>
          <a:solidFill>
            <a:srgbClr val="18243A"/>
          </a:solidFill>
          <a:ln w="12700">
            <a:solidFill>
              <a:srgbClr val="324057"/>
            </a:solidFill>
            <a:prstDash val="solid"/>
          </a:ln>
        </p:spPr>
      </p:sp>
      <p:sp>
        <p:nvSpPr>
          <p:cNvPr id="18" name="Text 16"/>
          <p:cNvSpPr txBox="1"/>
          <p:nvPr/>
        </p:nvSpPr>
        <p:spPr>
          <a:xfrm>
            <a:off x="6803136" y="2350008"/>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19" name="Shape 17"/>
          <p:cNvSpPr/>
          <p:nvPr/>
        </p:nvSpPr>
        <p:spPr>
          <a:xfrm>
            <a:off x="8750808" y="2331720"/>
            <a:ext cx="2011680" cy="448056"/>
          </a:xfrm>
          <a:prstGeom prst="roundRect">
            <a:avLst>
              <a:gd name="adj" fmla="val 24490"/>
            </a:avLst>
          </a:prstGeom>
          <a:solidFill>
            <a:srgbClr val="18243A"/>
          </a:solidFill>
          <a:ln w="12700">
            <a:solidFill>
              <a:srgbClr val="324057"/>
            </a:solidFill>
            <a:prstDash val="solid"/>
          </a:ln>
        </p:spPr>
      </p:sp>
      <p:sp>
        <p:nvSpPr>
          <p:cNvPr id="20" name="Text 18"/>
          <p:cNvSpPr txBox="1"/>
          <p:nvPr/>
        </p:nvSpPr>
        <p:spPr>
          <a:xfrm>
            <a:off x="8860536" y="2350008"/>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21" name="Shape 19"/>
          <p:cNvSpPr/>
          <p:nvPr/>
        </p:nvSpPr>
        <p:spPr>
          <a:xfrm>
            <a:off x="658368" y="2852928"/>
            <a:ext cx="3931920" cy="448056"/>
          </a:xfrm>
          <a:prstGeom prst="roundRect">
            <a:avLst>
              <a:gd name="adj" fmla="val 24490"/>
            </a:avLst>
          </a:prstGeom>
          <a:solidFill>
            <a:srgbClr val="202E46"/>
          </a:solidFill>
          <a:ln w="12700">
            <a:solidFill>
              <a:srgbClr val="324057"/>
            </a:solidFill>
            <a:prstDash val="solid"/>
          </a:ln>
        </p:spPr>
      </p:sp>
      <p:sp>
        <p:nvSpPr>
          <p:cNvPr id="22" name="Text 20"/>
          <p:cNvSpPr txBox="1"/>
          <p:nvPr/>
        </p:nvSpPr>
        <p:spPr>
          <a:xfrm>
            <a:off x="768096" y="2871216"/>
            <a:ext cx="3703320" cy="402336"/>
          </a:xfrm>
          <a:prstGeom prst="rect">
            <a:avLst/>
          </a:prstGeom>
          <a:noFill/>
          <a:ln/>
        </p:spPr>
        <p:txBody>
          <a:bodyPr wrap="square" lIns="0" tIns="0" rIns="0" bIns="0" rtlCol="0" anchor="ctr">
            <a:normAutofit/>
          </a:bodyPr>
          <a:lstStyle/>
          <a:p>
            <a:pPr algn="l" indent="0" marL="0">
              <a:buNone/>
            </a:pPr>
            <a:r>
              <a:rPr lang="en-US" sz="1110" dirty="0">
                <a:solidFill>
                  <a:srgbClr val="B5C0D1"/>
                </a:solidFill>
                <a:latin typeface="Aptos" pitchFamily="34" charset="0"/>
                <a:ea typeface="Aptos" pitchFamily="34" charset="-122"/>
                <a:cs typeface="Aptos" pitchFamily="34" charset="-120"/>
              </a:rPr>
              <a:t>Unused functions</a:t>
            </a:r>
            <a:endParaRPr lang="en-US" sz="1110" dirty="0"/>
          </a:p>
        </p:txBody>
      </p:sp>
      <p:sp>
        <p:nvSpPr>
          <p:cNvPr id="23" name="Shape 21"/>
          <p:cNvSpPr/>
          <p:nvPr/>
        </p:nvSpPr>
        <p:spPr>
          <a:xfrm>
            <a:off x="4636008" y="2852928"/>
            <a:ext cx="2011680" cy="448056"/>
          </a:xfrm>
          <a:prstGeom prst="roundRect">
            <a:avLst>
              <a:gd name="adj" fmla="val 24490"/>
            </a:avLst>
          </a:prstGeom>
          <a:solidFill>
            <a:srgbClr val="202E46"/>
          </a:solidFill>
          <a:ln w="12700">
            <a:solidFill>
              <a:srgbClr val="324057"/>
            </a:solidFill>
            <a:prstDash val="solid"/>
          </a:ln>
        </p:spPr>
      </p:sp>
      <p:sp>
        <p:nvSpPr>
          <p:cNvPr id="24" name="Text 22"/>
          <p:cNvSpPr txBox="1"/>
          <p:nvPr/>
        </p:nvSpPr>
        <p:spPr>
          <a:xfrm>
            <a:off x="4745736" y="2871216"/>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FF927C"/>
                </a:solidFill>
                <a:latin typeface="Aptos" pitchFamily="34" charset="0"/>
                <a:ea typeface="Aptos" pitchFamily="34" charset="-122"/>
                <a:cs typeface="Aptos" pitchFamily="34" charset="-120"/>
              </a:rPr>
              <a:t>Missed</a:t>
            </a:r>
            <a:endParaRPr lang="en-US" sz="1160" dirty="0"/>
          </a:p>
        </p:txBody>
      </p:sp>
      <p:sp>
        <p:nvSpPr>
          <p:cNvPr id="25" name="Shape 23"/>
          <p:cNvSpPr/>
          <p:nvPr/>
        </p:nvSpPr>
        <p:spPr>
          <a:xfrm>
            <a:off x="6693408" y="2852928"/>
            <a:ext cx="2011680" cy="448056"/>
          </a:xfrm>
          <a:prstGeom prst="roundRect">
            <a:avLst>
              <a:gd name="adj" fmla="val 24490"/>
            </a:avLst>
          </a:prstGeom>
          <a:solidFill>
            <a:srgbClr val="202E46"/>
          </a:solidFill>
          <a:ln w="12700">
            <a:solidFill>
              <a:srgbClr val="324057"/>
            </a:solidFill>
            <a:prstDash val="solid"/>
          </a:ln>
        </p:spPr>
      </p:sp>
      <p:sp>
        <p:nvSpPr>
          <p:cNvPr id="26" name="Text 24"/>
          <p:cNvSpPr txBox="1"/>
          <p:nvPr/>
        </p:nvSpPr>
        <p:spPr>
          <a:xfrm>
            <a:off x="6803136" y="2871216"/>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27" name="Shape 25"/>
          <p:cNvSpPr/>
          <p:nvPr/>
        </p:nvSpPr>
        <p:spPr>
          <a:xfrm>
            <a:off x="8750808" y="2852928"/>
            <a:ext cx="2011680" cy="448056"/>
          </a:xfrm>
          <a:prstGeom prst="roundRect">
            <a:avLst>
              <a:gd name="adj" fmla="val 24490"/>
            </a:avLst>
          </a:prstGeom>
          <a:solidFill>
            <a:srgbClr val="202E46"/>
          </a:solidFill>
          <a:ln w="12700">
            <a:solidFill>
              <a:srgbClr val="324057"/>
            </a:solidFill>
            <a:prstDash val="solid"/>
          </a:ln>
        </p:spPr>
      </p:sp>
      <p:sp>
        <p:nvSpPr>
          <p:cNvPr id="28" name="Text 26"/>
          <p:cNvSpPr txBox="1"/>
          <p:nvPr/>
        </p:nvSpPr>
        <p:spPr>
          <a:xfrm>
            <a:off x="8860536" y="2871216"/>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FF927C"/>
                </a:solidFill>
                <a:latin typeface="Aptos" pitchFamily="34" charset="0"/>
                <a:ea typeface="Aptos" pitchFamily="34" charset="-122"/>
                <a:cs typeface="Aptos" pitchFamily="34" charset="-120"/>
              </a:rPr>
              <a:t>Missed</a:t>
            </a:r>
            <a:endParaRPr lang="en-US" sz="1160" dirty="0"/>
          </a:p>
        </p:txBody>
      </p:sp>
      <p:sp>
        <p:nvSpPr>
          <p:cNvPr id="29" name="Shape 27"/>
          <p:cNvSpPr/>
          <p:nvPr/>
        </p:nvSpPr>
        <p:spPr>
          <a:xfrm>
            <a:off x="658368" y="3374136"/>
            <a:ext cx="3931920" cy="448056"/>
          </a:xfrm>
          <a:prstGeom prst="roundRect">
            <a:avLst>
              <a:gd name="adj" fmla="val 24490"/>
            </a:avLst>
          </a:prstGeom>
          <a:solidFill>
            <a:srgbClr val="18243A"/>
          </a:solidFill>
          <a:ln w="12700">
            <a:solidFill>
              <a:srgbClr val="324057"/>
            </a:solidFill>
            <a:prstDash val="solid"/>
          </a:ln>
        </p:spPr>
      </p:sp>
      <p:sp>
        <p:nvSpPr>
          <p:cNvPr id="30" name="Text 28"/>
          <p:cNvSpPr txBox="1"/>
          <p:nvPr/>
        </p:nvSpPr>
        <p:spPr>
          <a:xfrm>
            <a:off x="768096" y="3392424"/>
            <a:ext cx="3703320" cy="402336"/>
          </a:xfrm>
          <a:prstGeom prst="rect">
            <a:avLst/>
          </a:prstGeom>
          <a:noFill/>
          <a:ln/>
        </p:spPr>
        <p:txBody>
          <a:bodyPr wrap="square" lIns="0" tIns="0" rIns="0" bIns="0" rtlCol="0" anchor="ctr">
            <a:normAutofit/>
          </a:bodyPr>
          <a:lstStyle/>
          <a:p>
            <a:pPr algn="l" indent="0" marL="0">
              <a:buNone/>
            </a:pPr>
            <a:r>
              <a:rPr lang="en-US" sz="1110" dirty="0">
                <a:solidFill>
                  <a:srgbClr val="B5C0D1"/>
                </a:solidFill>
                <a:latin typeface="Aptos" pitchFamily="34" charset="0"/>
                <a:ea typeface="Aptos" pitchFamily="34" charset="-122"/>
                <a:cs typeface="Aptos" pitchFamily="34" charset="-120"/>
              </a:rPr>
              <a:t>Fake-user spam</a:t>
            </a:r>
            <a:endParaRPr lang="en-US" sz="1110" dirty="0"/>
          </a:p>
        </p:txBody>
      </p:sp>
      <p:sp>
        <p:nvSpPr>
          <p:cNvPr id="31" name="Shape 29"/>
          <p:cNvSpPr/>
          <p:nvPr/>
        </p:nvSpPr>
        <p:spPr>
          <a:xfrm>
            <a:off x="4636008" y="3374136"/>
            <a:ext cx="2011680" cy="448056"/>
          </a:xfrm>
          <a:prstGeom prst="roundRect">
            <a:avLst>
              <a:gd name="adj" fmla="val 24490"/>
            </a:avLst>
          </a:prstGeom>
          <a:solidFill>
            <a:srgbClr val="18243A"/>
          </a:solidFill>
          <a:ln w="12700">
            <a:solidFill>
              <a:srgbClr val="324057"/>
            </a:solidFill>
            <a:prstDash val="solid"/>
          </a:ln>
        </p:spPr>
      </p:sp>
      <p:sp>
        <p:nvSpPr>
          <p:cNvPr id="32" name="Text 30"/>
          <p:cNvSpPr txBox="1"/>
          <p:nvPr/>
        </p:nvSpPr>
        <p:spPr>
          <a:xfrm>
            <a:off x="4745736" y="3392424"/>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33" name="Shape 31"/>
          <p:cNvSpPr/>
          <p:nvPr/>
        </p:nvSpPr>
        <p:spPr>
          <a:xfrm>
            <a:off x="6693408" y="3374136"/>
            <a:ext cx="2011680" cy="448056"/>
          </a:xfrm>
          <a:prstGeom prst="roundRect">
            <a:avLst>
              <a:gd name="adj" fmla="val 24490"/>
            </a:avLst>
          </a:prstGeom>
          <a:solidFill>
            <a:srgbClr val="18243A"/>
          </a:solidFill>
          <a:ln w="12700">
            <a:solidFill>
              <a:srgbClr val="324057"/>
            </a:solidFill>
            <a:prstDash val="solid"/>
          </a:ln>
        </p:spPr>
      </p:sp>
      <p:sp>
        <p:nvSpPr>
          <p:cNvPr id="34" name="Text 32"/>
          <p:cNvSpPr txBox="1"/>
          <p:nvPr/>
        </p:nvSpPr>
        <p:spPr>
          <a:xfrm>
            <a:off x="6803136" y="3392424"/>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35" name="Shape 33"/>
          <p:cNvSpPr/>
          <p:nvPr/>
        </p:nvSpPr>
        <p:spPr>
          <a:xfrm>
            <a:off x="8750808" y="3374136"/>
            <a:ext cx="2011680" cy="448056"/>
          </a:xfrm>
          <a:prstGeom prst="roundRect">
            <a:avLst>
              <a:gd name="adj" fmla="val 24490"/>
            </a:avLst>
          </a:prstGeom>
          <a:solidFill>
            <a:srgbClr val="18243A"/>
          </a:solidFill>
          <a:ln w="12700">
            <a:solidFill>
              <a:srgbClr val="324057"/>
            </a:solidFill>
            <a:prstDash val="solid"/>
          </a:ln>
        </p:spPr>
      </p:sp>
      <p:sp>
        <p:nvSpPr>
          <p:cNvPr id="36" name="Text 34"/>
          <p:cNvSpPr txBox="1"/>
          <p:nvPr/>
        </p:nvSpPr>
        <p:spPr>
          <a:xfrm>
            <a:off x="8860536" y="3392424"/>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37" name="Shape 35"/>
          <p:cNvSpPr/>
          <p:nvPr/>
        </p:nvSpPr>
        <p:spPr>
          <a:xfrm>
            <a:off x="658368" y="3895344"/>
            <a:ext cx="3931920" cy="448056"/>
          </a:xfrm>
          <a:prstGeom prst="roundRect">
            <a:avLst>
              <a:gd name="adj" fmla="val 24490"/>
            </a:avLst>
          </a:prstGeom>
          <a:solidFill>
            <a:srgbClr val="202E46"/>
          </a:solidFill>
          <a:ln w="12700">
            <a:solidFill>
              <a:srgbClr val="324057"/>
            </a:solidFill>
            <a:prstDash val="solid"/>
          </a:ln>
        </p:spPr>
      </p:sp>
      <p:sp>
        <p:nvSpPr>
          <p:cNvPr id="38" name="Text 36"/>
          <p:cNvSpPr txBox="1"/>
          <p:nvPr/>
        </p:nvSpPr>
        <p:spPr>
          <a:xfrm>
            <a:off x="768096" y="3913632"/>
            <a:ext cx="3703320" cy="402336"/>
          </a:xfrm>
          <a:prstGeom prst="rect">
            <a:avLst/>
          </a:prstGeom>
          <a:noFill/>
          <a:ln/>
        </p:spPr>
        <p:txBody>
          <a:bodyPr wrap="square" lIns="0" tIns="0" rIns="0" bIns="0" rtlCol="0" anchor="ctr">
            <a:normAutofit/>
          </a:bodyPr>
          <a:lstStyle/>
          <a:p>
            <a:pPr algn="l" indent="0" marL="0">
              <a:buNone/>
            </a:pPr>
            <a:r>
              <a:rPr lang="en-US" sz="1110" dirty="0">
                <a:solidFill>
                  <a:srgbClr val="B5C0D1"/>
                </a:solidFill>
                <a:latin typeface="Aptos" pitchFamily="34" charset="0"/>
                <a:ea typeface="Aptos" pitchFamily="34" charset="-122"/>
                <a:cs typeface="Aptos" pitchFamily="34" charset="-120"/>
              </a:rPr>
              <a:t>Unisolated DB connections</a:t>
            </a:r>
            <a:endParaRPr lang="en-US" sz="1110" dirty="0"/>
          </a:p>
        </p:txBody>
      </p:sp>
      <p:sp>
        <p:nvSpPr>
          <p:cNvPr id="39" name="Shape 37"/>
          <p:cNvSpPr/>
          <p:nvPr/>
        </p:nvSpPr>
        <p:spPr>
          <a:xfrm>
            <a:off x="4636008" y="3895344"/>
            <a:ext cx="2011680" cy="448056"/>
          </a:xfrm>
          <a:prstGeom prst="roundRect">
            <a:avLst>
              <a:gd name="adj" fmla="val 24490"/>
            </a:avLst>
          </a:prstGeom>
          <a:solidFill>
            <a:srgbClr val="202E46"/>
          </a:solidFill>
          <a:ln w="12700">
            <a:solidFill>
              <a:srgbClr val="324057"/>
            </a:solidFill>
            <a:prstDash val="solid"/>
          </a:ln>
        </p:spPr>
      </p:sp>
      <p:sp>
        <p:nvSpPr>
          <p:cNvPr id="40" name="Text 38"/>
          <p:cNvSpPr txBox="1"/>
          <p:nvPr/>
        </p:nvSpPr>
        <p:spPr>
          <a:xfrm>
            <a:off x="4745736" y="3913632"/>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FF927C"/>
                </a:solidFill>
                <a:latin typeface="Aptos" pitchFamily="34" charset="0"/>
                <a:ea typeface="Aptos" pitchFamily="34" charset="-122"/>
                <a:cs typeface="Aptos" pitchFamily="34" charset="-120"/>
              </a:rPr>
              <a:t>Missed</a:t>
            </a:r>
            <a:endParaRPr lang="en-US" sz="1160" dirty="0"/>
          </a:p>
        </p:txBody>
      </p:sp>
      <p:sp>
        <p:nvSpPr>
          <p:cNvPr id="41" name="Shape 39"/>
          <p:cNvSpPr/>
          <p:nvPr/>
        </p:nvSpPr>
        <p:spPr>
          <a:xfrm>
            <a:off x="6693408" y="3895344"/>
            <a:ext cx="2011680" cy="448056"/>
          </a:xfrm>
          <a:prstGeom prst="roundRect">
            <a:avLst>
              <a:gd name="adj" fmla="val 24490"/>
            </a:avLst>
          </a:prstGeom>
          <a:solidFill>
            <a:srgbClr val="202E46"/>
          </a:solidFill>
          <a:ln w="12700">
            <a:solidFill>
              <a:srgbClr val="324057"/>
            </a:solidFill>
            <a:prstDash val="solid"/>
          </a:ln>
        </p:spPr>
      </p:sp>
      <p:sp>
        <p:nvSpPr>
          <p:cNvPr id="42" name="Text 40"/>
          <p:cNvSpPr txBox="1"/>
          <p:nvPr/>
        </p:nvSpPr>
        <p:spPr>
          <a:xfrm>
            <a:off x="6803136" y="3913632"/>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43" name="Shape 41"/>
          <p:cNvSpPr/>
          <p:nvPr/>
        </p:nvSpPr>
        <p:spPr>
          <a:xfrm>
            <a:off x="8750808" y="3895344"/>
            <a:ext cx="2011680" cy="448056"/>
          </a:xfrm>
          <a:prstGeom prst="roundRect">
            <a:avLst>
              <a:gd name="adj" fmla="val 24490"/>
            </a:avLst>
          </a:prstGeom>
          <a:solidFill>
            <a:srgbClr val="202E46"/>
          </a:solidFill>
          <a:ln w="12700">
            <a:solidFill>
              <a:srgbClr val="324057"/>
            </a:solidFill>
            <a:prstDash val="solid"/>
          </a:ln>
        </p:spPr>
      </p:sp>
      <p:sp>
        <p:nvSpPr>
          <p:cNvPr id="44" name="Text 42"/>
          <p:cNvSpPr txBox="1"/>
          <p:nvPr/>
        </p:nvSpPr>
        <p:spPr>
          <a:xfrm>
            <a:off x="8860536" y="3913632"/>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FF927C"/>
                </a:solidFill>
                <a:latin typeface="Aptos" pitchFamily="34" charset="0"/>
                <a:ea typeface="Aptos" pitchFamily="34" charset="-122"/>
                <a:cs typeface="Aptos" pitchFamily="34" charset="-120"/>
              </a:rPr>
              <a:t>Missed</a:t>
            </a:r>
            <a:endParaRPr lang="en-US" sz="1160" dirty="0"/>
          </a:p>
        </p:txBody>
      </p:sp>
      <p:sp>
        <p:nvSpPr>
          <p:cNvPr id="45" name="Shape 43"/>
          <p:cNvSpPr/>
          <p:nvPr/>
        </p:nvSpPr>
        <p:spPr>
          <a:xfrm>
            <a:off x="658368" y="4416552"/>
            <a:ext cx="3931920" cy="448056"/>
          </a:xfrm>
          <a:prstGeom prst="roundRect">
            <a:avLst>
              <a:gd name="adj" fmla="val 24490"/>
            </a:avLst>
          </a:prstGeom>
          <a:solidFill>
            <a:srgbClr val="18243A"/>
          </a:solidFill>
          <a:ln w="12700">
            <a:solidFill>
              <a:srgbClr val="324057"/>
            </a:solidFill>
            <a:prstDash val="solid"/>
          </a:ln>
        </p:spPr>
      </p:sp>
      <p:sp>
        <p:nvSpPr>
          <p:cNvPr id="46" name="Text 44"/>
          <p:cNvSpPr txBox="1"/>
          <p:nvPr/>
        </p:nvSpPr>
        <p:spPr>
          <a:xfrm>
            <a:off x="768096" y="4434840"/>
            <a:ext cx="3703320" cy="402336"/>
          </a:xfrm>
          <a:prstGeom prst="rect">
            <a:avLst/>
          </a:prstGeom>
          <a:noFill/>
          <a:ln/>
        </p:spPr>
        <p:txBody>
          <a:bodyPr wrap="square" lIns="0" tIns="0" rIns="0" bIns="0" rtlCol="0" anchor="ctr">
            <a:normAutofit/>
          </a:bodyPr>
          <a:lstStyle/>
          <a:p>
            <a:pPr algn="l" indent="0" marL="0">
              <a:buNone/>
            </a:pPr>
            <a:r>
              <a:rPr lang="en-US" sz="1110" dirty="0">
                <a:solidFill>
                  <a:srgbClr val="B5C0D1"/>
                </a:solidFill>
                <a:latin typeface="Aptos" pitchFamily="34" charset="0"/>
                <a:ea typeface="Aptos" pitchFamily="34" charset="-122"/>
                <a:cs typeface="Aptos" pitchFamily="34" charset="-120"/>
              </a:rPr>
              <a:t>UI problems</a:t>
            </a:r>
            <a:endParaRPr lang="en-US" sz="1110" dirty="0"/>
          </a:p>
        </p:txBody>
      </p:sp>
      <p:sp>
        <p:nvSpPr>
          <p:cNvPr id="47" name="Shape 45"/>
          <p:cNvSpPr/>
          <p:nvPr/>
        </p:nvSpPr>
        <p:spPr>
          <a:xfrm>
            <a:off x="4636008" y="4416552"/>
            <a:ext cx="2011680" cy="448056"/>
          </a:xfrm>
          <a:prstGeom prst="roundRect">
            <a:avLst>
              <a:gd name="adj" fmla="val 24490"/>
            </a:avLst>
          </a:prstGeom>
          <a:solidFill>
            <a:srgbClr val="18243A"/>
          </a:solidFill>
          <a:ln w="12700">
            <a:solidFill>
              <a:srgbClr val="324057"/>
            </a:solidFill>
            <a:prstDash val="solid"/>
          </a:ln>
        </p:spPr>
      </p:sp>
      <p:sp>
        <p:nvSpPr>
          <p:cNvPr id="48" name="Text 46"/>
          <p:cNvSpPr txBox="1"/>
          <p:nvPr/>
        </p:nvSpPr>
        <p:spPr>
          <a:xfrm>
            <a:off x="4745736" y="4434840"/>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49" name="Shape 47"/>
          <p:cNvSpPr/>
          <p:nvPr/>
        </p:nvSpPr>
        <p:spPr>
          <a:xfrm>
            <a:off x="6693408" y="4416552"/>
            <a:ext cx="2011680" cy="448056"/>
          </a:xfrm>
          <a:prstGeom prst="roundRect">
            <a:avLst>
              <a:gd name="adj" fmla="val 24490"/>
            </a:avLst>
          </a:prstGeom>
          <a:solidFill>
            <a:srgbClr val="18243A"/>
          </a:solidFill>
          <a:ln w="12700">
            <a:solidFill>
              <a:srgbClr val="324057"/>
            </a:solidFill>
            <a:prstDash val="solid"/>
          </a:ln>
        </p:spPr>
      </p:sp>
      <p:sp>
        <p:nvSpPr>
          <p:cNvPr id="50" name="Text 48"/>
          <p:cNvSpPr txBox="1"/>
          <p:nvPr/>
        </p:nvSpPr>
        <p:spPr>
          <a:xfrm>
            <a:off x="6803136" y="4434840"/>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51" name="Shape 49"/>
          <p:cNvSpPr/>
          <p:nvPr/>
        </p:nvSpPr>
        <p:spPr>
          <a:xfrm>
            <a:off x="8750808" y="4416552"/>
            <a:ext cx="2011680" cy="448056"/>
          </a:xfrm>
          <a:prstGeom prst="roundRect">
            <a:avLst>
              <a:gd name="adj" fmla="val 24490"/>
            </a:avLst>
          </a:prstGeom>
          <a:solidFill>
            <a:srgbClr val="18243A"/>
          </a:solidFill>
          <a:ln w="12700">
            <a:solidFill>
              <a:srgbClr val="324057"/>
            </a:solidFill>
            <a:prstDash val="solid"/>
          </a:ln>
        </p:spPr>
      </p:sp>
      <p:sp>
        <p:nvSpPr>
          <p:cNvPr id="52" name="Text 50"/>
          <p:cNvSpPr txBox="1"/>
          <p:nvPr/>
        </p:nvSpPr>
        <p:spPr>
          <a:xfrm>
            <a:off x="8860536" y="4434840"/>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53" name="Shape 51"/>
          <p:cNvSpPr/>
          <p:nvPr/>
        </p:nvSpPr>
        <p:spPr>
          <a:xfrm>
            <a:off x="658368" y="4937760"/>
            <a:ext cx="3931920" cy="448056"/>
          </a:xfrm>
          <a:prstGeom prst="roundRect">
            <a:avLst>
              <a:gd name="adj" fmla="val 24490"/>
            </a:avLst>
          </a:prstGeom>
          <a:solidFill>
            <a:srgbClr val="202E46"/>
          </a:solidFill>
          <a:ln w="12700">
            <a:solidFill>
              <a:srgbClr val="324057"/>
            </a:solidFill>
            <a:prstDash val="solid"/>
          </a:ln>
        </p:spPr>
      </p:sp>
      <p:sp>
        <p:nvSpPr>
          <p:cNvPr id="54" name="Text 52"/>
          <p:cNvSpPr txBox="1"/>
          <p:nvPr/>
        </p:nvSpPr>
        <p:spPr>
          <a:xfrm>
            <a:off x="768096" y="4956048"/>
            <a:ext cx="3703320" cy="402336"/>
          </a:xfrm>
          <a:prstGeom prst="rect">
            <a:avLst/>
          </a:prstGeom>
          <a:noFill/>
          <a:ln/>
        </p:spPr>
        <p:txBody>
          <a:bodyPr wrap="square" lIns="0" tIns="0" rIns="0" bIns="0" rtlCol="0" anchor="ctr">
            <a:normAutofit/>
          </a:bodyPr>
          <a:lstStyle/>
          <a:p>
            <a:pPr algn="l" indent="0" marL="0">
              <a:buNone/>
            </a:pPr>
            <a:r>
              <a:rPr lang="en-US" sz="1110" dirty="0">
                <a:solidFill>
                  <a:srgbClr val="B5C0D1"/>
                </a:solidFill>
                <a:latin typeface="Aptos" pitchFamily="34" charset="0"/>
                <a:ea typeface="Aptos" pitchFamily="34" charset="-122"/>
                <a:cs typeface="Aptos" pitchFamily="34" charset="-120"/>
              </a:rPr>
              <a:t>SQL injection*</a:t>
            </a:r>
            <a:endParaRPr lang="en-US" sz="1110" dirty="0"/>
          </a:p>
        </p:txBody>
      </p:sp>
      <p:sp>
        <p:nvSpPr>
          <p:cNvPr id="55" name="Shape 53"/>
          <p:cNvSpPr/>
          <p:nvPr/>
        </p:nvSpPr>
        <p:spPr>
          <a:xfrm>
            <a:off x="4636008" y="4937760"/>
            <a:ext cx="2011680" cy="448056"/>
          </a:xfrm>
          <a:prstGeom prst="roundRect">
            <a:avLst>
              <a:gd name="adj" fmla="val 24490"/>
            </a:avLst>
          </a:prstGeom>
          <a:solidFill>
            <a:srgbClr val="202E46"/>
          </a:solidFill>
          <a:ln w="12700">
            <a:solidFill>
              <a:srgbClr val="324057"/>
            </a:solidFill>
            <a:prstDash val="solid"/>
          </a:ln>
        </p:spPr>
      </p:sp>
      <p:sp>
        <p:nvSpPr>
          <p:cNvPr id="56" name="Text 54"/>
          <p:cNvSpPr txBox="1"/>
          <p:nvPr/>
        </p:nvSpPr>
        <p:spPr>
          <a:xfrm>
            <a:off x="4745736" y="4956048"/>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57" name="Shape 55"/>
          <p:cNvSpPr/>
          <p:nvPr/>
        </p:nvSpPr>
        <p:spPr>
          <a:xfrm>
            <a:off x="6693408" y="4937760"/>
            <a:ext cx="2011680" cy="448056"/>
          </a:xfrm>
          <a:prstGeom prst="roundRect">
            <a:avLst>
              <a:gd name="adj" fmla="val 24490"/>
            </a:avLst>
          </a:prstGeom>
          <a:solidFill>
            <a:srgbClr val="202E46"/>
          </a:solidFill>
          <a:ln w="12700">
            <a:solidFill>
              <a:srgbClr val="324057"/>
            </a:solidFill>
            <a:prstDash val="solid"/>
          </a:ln>
        </p:spPr>
      </p:sp>
      <p:sp>
        <p:nvSpPr>
          <p:cNvPr id="58" name="Text 56"/>
          <p:cNvSpPr txBox="1"/>
          <p:nvPr/>
        </p:nvSpPr>
        <p:spPr>
          <a:xfrm>
            <a:off x="6803136" y="4956048"/>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59" name="Shape 57"/>
          <p:cNvSpPr/>
          <p:nvPr/>
        </p:nvSpPr>
        <p:spPr>
          <a:xfrm>
            <a:off x="8750808" y="4937760"/>
            <a:ext cx="2011680" cy="448056"/>
          </a:xfrm>
          <a:prstGeom prst="roundRect">
            <a:avLst>
              <a:gd name="adj" fmla="val 24490"/>
            </a:avLst>
          </a:prstGeom>
          <a:solidFill>
            <a:srgbClr val="202E46"/>
          </a:solidFill>
          <a:ln w="12700">
            <a:solidFill>
              <a:srgbClr val="324057"/>
            </a:solidFill>
            <a:prstDash val="solid"/>
          </a:ln>
        </p:spPr>
      </p:sp>
      <p:sp>
        <p:nvSpPr>
          <p:cNvPr id="60" name="Text 58"/>
          <p:cNvSpPr txBox="1"/>
          <p:nvPr/>
        </p:nvSpPr>
        <p:spPr>
          <a:xfrm>
            <a:off x="8860536" y="4956048"/>
            <a:ext cx="1783080" cy="402336"/>
          </a:xfrm>
          <a:prstGeom prst="rect">
            <a:avLst/>
          </a:prstGeom>
          <a:noFill/>
          <a:ln/>
        </p:spPr>
        <p:txBody>
          <a:bodyPr wrap="square" lIns="0" tIns="0" rIns="0" bIns="0" rtlCol="0" anchor="ctr">
            <a:normAutofit/>
          </a:bodyPr>
          <a:lstStyle/>
          <a:p>
            <a:pPr algn="ctr" indent="0" marL="0">
              <a:buNone/>
            </a:pPr>
            <a:r>
              <a:rPr lang="en-US" sz="1160" b="1" dirty="0">
                <a:solidFill>
                  <a:srgbClr val="76D6A5"/>
                </a:solidFill>
                <a:latin typeface="Aptos" pitchFamily="34" charset="0"/>
                <a:ea typeface="Aptos" pitchFamily="34" charset="-122"/>
                <a:cs typeface="Aptos" pitchFamily="34" charset="-120"/>
              </a:rPr>
              <a:t>Found</a:t>
            </a:r>
            <a:endParaRPr lang="en-US" sz="1160" dirty="0"/>
          </a:p>
        </p:txBody>
      </p:sp>
      <p:sp>
        <p:nvSpPr>
          <p:cNvPr id="61" name="Shape 59"/>
          <p:cNvSpPr/>
          <p:nvPr/>
        </p:nvSpPr>
        <p:spPr>
          <a:xfrm>
            <a:off x="658368" y="5614416"/>
            <a:ext cx="10625328" cy="658368"/>
          </a:xfrm>
          <a:prstGeom prst="roundRect">
            <a:avLst>
              <a:gd name="adj" fmla="val 16667"/>
            </a:avLst>
          </a:prstGeom>
          <a:solidFill>
            <a:srgbClr val="202E46"/>
          </a:solidFill>
          <a:ln w="12700">
            <a:solidFill>
              <a:srgbClr val="202E46">
                <a:alpha val="0"/>
              </a:srgbClr>
            </a:solidFill>
            <a:prstDash val="solid"/>
          </a:ln>
        </p:spPr>
      </p:sp>
      <p:sp>
        <p:nvSpPr>
          <p:cNvPr id="62" name="Text 60"/>
          <p:cNvSpPr txBox="1"/>
          <p:nvPr/>
        </p:nvSpPr>
        <p:spPr>
          <a:xfrm>
            <a:off x="841248" y="5705856"/>
            <a:ext cx="10259568" cy="438912"/>
          </a:xfrm>
          <a:prstGeom prst="rect">
            <a:avLst/>
          </a:prstGeom>
          <a:noFill/>
          <a:ln/>
        </p:spPr>
        <p:txBody>
          <a:bodyPr wrap="square" lIns="0" tIns="0" rIns="0" bIns="0" rtlCol="0" anchor="ctr">
            <a:normAutofit/>
          </a:bodyPr>
          <a:lstStyle/>
          <a:p>
            <a:pPr algn="l" indent="0" marL="0">
              <a:buNone/>
            </a:pPr>
            <a:r>
              <a:rPr lang="en-US" sz="1030" dirty="0">
                <a:solidFill>
                  <a:srgbClr val="FFC857"/>
                </a:solidFill>
                <a:latin typeface="Aptos" pitchFamily="34" charset="0"/>
                <a:ea typeface="Aptos" pitchFamily="34" charset="-122"/>
                <a:cs typeface="Aptos" pitchFamily="34" charset="-120"/>
              </a:rPr>
              <a:t>* Source ambiguity: the findings slide says the SQL-injection attempt was unsuccessful, while the comparison table marks it “Found” for all methods. Without the full paper, report this inconsistency rather than assuming a confirmed vulnerability.</a:t>
            </a:r>
            <a:endParaRPr lang="en-US" sz="103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06 / EFFORT TRADE-OFF</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More internal visibility usually costs more effort</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Ratings shown are qualitative labels from the supplied case material: 1 = low, 2 = medium, 3 = high.</a:t>
            </a:r>
            <a:endParaRPr lang="en-US" sz="1200" dirty="0"/>
          </a:p>
        </p:txBody>
      </p:sp>
      <p:sp>
        <p:nvSpPr>
          <p:cNvPr id="5" name="Text 3"/>
          <p:cNvSpPr txBox="1"/>
          <p:nvPr/>
        </p:nvSpPr>
        <p:spPr>
          <a:xfrm>
            <a:off x="841248" y="1719072"/>
            <a:ext cx="1920240" cy="228600"/>
          </a:xfrm>
          <a:prstGeom prst="rect">
            <a:avLst/>
          </a:prstGeom>
          <a:noFill/>
          <a:ln/>
        </p:spPr>
        <p:txBody>
          <a:bodyPr wrap="square" lIns="0" tIns="0" rIns="0" bIns="0" rtlCol="0" anchor="ctr">
            <a:normAutofit/>
          </a:bodyPr>
          <a:lstStyle/>
          <a:p>
            <a:pPr algn="l" indent="0" marL="0">
              <a:buNone/>
            </a:pPr>
            <a:r>
              <a:rPr lang="en-US" sz="1000" b="1" spc="120" kern="0" dirty="0">
                <a:solidFill>
                  <a:srgbClr val="8292AA"/>
                </a:solidFill>
                <a:latin typeface="Aptos" pitchFamily="34" charset="0"/>
                <a:ea typeface="Aptos" pitchFamily="34" charset="-122"/>
                <a:cs typeface="Aptos" pitchFamily="34" charset="-120"/>
              </a:rPr>
              <a:t>METHOD</a:t>
            </a:r>
            <a:endParaRPr lang="en-US" sz="1000" dirty="0"/>
          </a:p>
        </p:txBody>
      </p:sp>
      <p:sp>
        <p:nvSpPr>
          <p:cNvPr id="6" name="Text 4"/>
          <p:cNvSpPr txBox="1"/>
          <p:nvPr/>
        </p:nvSpPr>
        <p:spPr>
          <a:xfrm>
            <a:off x="3794760" y="1719072"/>
            <a:ext cx="2103120" cy="228600"/>
          </a:xfrm>
          <a:prstGeom prst="rect">
            <a:avLst/>
          </a:prstGeom>
          <a:noFill/>
          <a:ln/>
        </p:spPr>
        <p:txBody>
          <a:bodyPr wrap="square" lIns="0" tIns="0" rIns="0" bIns="0" rtlCol="0" anchor="ctr">
            <a:normAutofit/>
          </a:bodyPr>
          <a:lstStyle/>
          <a:p>
            <a:pPr algn="ctr" indent="0" marL="0">
              <a:buNone/>
            </a:pPr>
            <a:r>
              <a:rPr lang="en-US" sz="1000" b="1" dirty="0">
                <a:solidFill>
                  <a:srgbClr val="8292AA"/>
                </a:solidFill>
                <a:latin typeface="Aptos" pitchFamily="34" charset="0"/>
                <a:ea typeface="Aptos" pitchFamily="34" charset="-122"/>
                <a:cs typeface="Aptos" pitchFamily="34" charset="-120"/>
              </a:rPr>
              <a:t>Complexity</a:t>
            </a:r>
            <a:endParaRPr lang="en-US" sz="1000" dirty="0"/>
          </a:p>
        </p:txBody>
      </p:sp>
      <p:sp>
        <p:nvSpPr>
          <p:cNvPr id="7" name="Text 5"/>
          <p:cNvSpPr txBox="1"/>
          <p:nvPr/>
        </p:nvSpPr>
        <p:spPr>
          <a:xfrm>
            <a:off x="6263640" y="1719072"/>
            <a:ext cx="2103120" cy="228600"/>
          </a:xfrm>
          <a:prstGeom prst="rect">
            <a:avLst/>
          </a:prstGeom>
          <a:noFill/>
          <a:ln/>
        </p:spPr>
        <p:txBody>
          <a:bodyPr wrap="square" lIns="0" tIns="0" rIns="0" bIns="0" rtlCol="0" anchor="ctr">
            <a:normAutofit/>
          </a:bodyPr>
          <a:lstStyle/>
          <a:p>
            <a:pPr algn="ctr" indent="0" marL="0">
              <a:buNone/>
            </a:pPr>
            <a:r>
              <a:rPr lang="en-US" sz="1000" b="1" dirty="0">
                <a:solidFill>
                  <a:srgbClr val="8292AA"/>
                </a:solidFill>
                <a:latin typeface="Aptos" pitchFamily="34" charset="0"/>
                <a:ea typeface="Aptos" pitchFamily="34" charset="-122"/>
                <a:cs typeface="Aptos" pitchFamily="34" charset="-120"/>
              </a:rPr>
              <a:t>Time required</a:t>
            </a:r>
            <a:endParaRPr lang="en-US" sz="1000" dirty="0"/>
          </a:p>
        </p:txBody>
      </p:sp>
      <p:sp>
        <p:nvSpPr>
          <p:cNvPr id="8" name="Text 6"/>
          <p:cNvSpPr txBox="1"/>
          <p:nvPr/>
        </p:nvSpPr>
        <p:spPr>
          <a:xfrm>
            <a:off x="8732520" y="1719072"/>
            <a:ext cx="2103120" cy="228600"/>
          </a:xfrm>
          <a:prstGeom prst="rect">
            <a:avLst/>
          </a:prstGeom>
          <a:noFill/>
          <a:ln/>
        </p:spPr>
        <p:txBody>
          <a:bodyPr wrap="square" lIns="0" tIns="0" rIns="0" bIns="0" rtlCol="0" anchor="ctr">
            <a:normAutofit/>
          </a:bodyPr>
          <a:lstStyle/>
          <a:p>
            <a:pPr algn="ctr" indent="0" marL="0">
              <a:buNone/>
            </a:pPr>
            <a:r>
              <a:rPr lang="en-US" sz="1000" b="1" dirty="0">
                <a:solidFill>
                  <a:srgbClr val="8292AA"/>
                </a:solidFill>
                <a:latin typeface="Aptos" pitchFamily="34" charset="0"/>
                <a:ea typeface="Aptos" pitchFamily="34" charset="-122"/>
                <a:cs typeface="Aptos" pitchFamily="34" charset="-120"/>
              </a:rPr>
              <a:t>Knowledge required</a:t>
            </a:r>
            <a:endParaRPr lang="en-US" sz="1000" dirty="0"/>
          </a:p>
        </p:txBody>
      </p:sp>
      <p:sp>
        <p:nvSpPr>
          <p:cNvPr id="9" name="Shape 7"/>
          <p:cNvSpPr/>
          <p:nvPr/>
        </p:nvSpPr>
        <p:spPr>
          <a:xfrm>
            <a:off x="658368" y="2148840"/>
            <a:ext cx="10881360" cy="786384"/>
          </a:xfrm>
          <a:prstGeom prst="roundRect">
            <a:avLst>
              <a:gd name="adj" fmla="val 13953"/>
            </a:avLst>
          </a:prstGeom>
          <a:solidFill>
            <a:srgbClr val="18243A"/>
          </a:solidFill>
          <a:ln w="12700">
            <a:solidFill>
              <a:srgbClr val="324057"/>
            </a:solidFill>
            <a:prstDash val="solid"/>
          </a:ln>
        </p:spPr>
      </p:sp>
      <p:sp>
        <p:nvSpPr>
          <p:cNvPr id="10" name="Shape 8"/>
          <p:cNvSpPr/>
          <p:nvPr/>
        </p:nvSpPr>
        <p:spPr>
          <a:xfrm>
            <a:off x="868680" y="2313432"/>
            <a:ext cx="438912" cy="438912"/>
          </a:xfrm>
          <a:prstGeom prst="ellipse">
            <a:avLst/>
          </a:prstGeom>
          <a:solidFill>
            <a:srgbClr val="FF927C"/>
          </a:solidFill>
          <a:ln w="12700">
            <a:solidFill>
              <a:srgbClr val="FF927C">
                <a:alpha val="0"/>
              </a:srgbClr>
            </a:solidFill>
            <a:prstDash val="solid"/>
          </a:ln>
        </p:spPr>
      </p:sp>
      <p:sp>
        <p:nvSpPr>
          <p:cNvPr id="11" name="Text 9"/>
          <p:cNvSpPr txBox="1"/>
          <p:nvPr/>
        </p:nvSpPr>
        <p:spPr>
          <a:xfrm>
            <a:off x="868680" y="2313432"/>
            <a:ext cx="438912" cy="438912"/>
          </a:xfrm>
          <a:prstGeom prst="rect">
            <a:avLst/>
          </a:prstGeom>
          <a:noFill/>
          <a:ln/>
        </p:spPr>
        <p:txBody>
          <a:bodyPr wrap="square" lIns="0" tIns="0" rIns="0" bIns="0" rtlCol="0" anchor="ctr">
            <a:normAutofit/>
          </a:bodyPr>
          <a:lstStyle/>
          <a:p>
            <a:pPr algn="ctr" indent="0" marL="0">
              <a:buNone/>
            </a:pPr>
            <a:r>
              <a:rPr lang="en-US" sz="1400" b="1" dirty="0">
                <a:solidFill>
                  <a:srgbClr val="101827"/>
                </a:solidFill>
                <a:latin typeface="Aptos" pitchFamily="34" charset="0"/>
                <a:ea typeface="Aptos" pitchFamily="34" charset="-122"/>
                <a:cs typeface="Aptos" pitchFamily="34" charset="-120"/>
              </a:rPr>
              <a:t>1</a:t>
            </a:r>
            <a:endParaRPr lang="en-US" sz="1400" dirty="0"/>
          </a:p>
        </p:txBody>
      </p:sp>
      <p:sp>
        <p:nvSpPr>
          <p:cNvPr id="12" name="Text 10"/>
          <p:cNvSpPr txBox="1"/>
          <p:nvPr/>
        </p:nvSpPr>
        <p:spPr>
          <a:xfrm>
            <a:off x="1444752" y="2276856"/>
            <a:ext cx="1965960" cy="256032"/>
          </a:xfrm>
          <a:prstGeom prst="rect">
            <a:avLst/>
          </a:prstGeom>
          <a:noFill/>
          <a:ln/>
        </p:spPr>
        <p:txBody>
          <a:bodyPr wrap="square" lIns="0" tIns="0" rIns="0" bIns="0" rtlCol="0" anchor="ctr">
            <a:normAutofit/>
          </a:bodyPr>
          <a:lstStyle/>
          <a:p>
            <a:pPr algn="l" indent="0" marL="0">
              <a:buNone/>
            </a:pPr>
            <a:r>
              <a:rPr lang="en-US" sz="1300" b="1" dirty="0">
                <a:solidFill>
                  <a:srgbClr val="FF927C"/>
                </a:solidFill>
                <a:latin typeface="Aptos" pitchFamily="34" charset="0"/>
                <a:ea typeface="Aptos" pitchFamily="34" charset="-122"/>
                <a:cs typeface="Aptos" pitchFamily="34" charset="-120"/>
              </a:rPr>
              <a:t>BLACK-BOX</a:t>
            </a:r>
            <a:endParaRPr lang="en-US" sz="1300" dirty="0"/>
          </a:p>
        </p:txBody>
      </p:sp>
      <p:sp>
        <p:nvSpPr>
          <p:cNvPr id="13" name="Text 11"/>
          <p:cNvSpPr txBox="1"/>
          <p:nvPr/>
        </p:nvSpPr>
        <p:spPr>
          <a:xfrm>
            <a:off x="1444752" y="2569464"/>
            <a:ext cx="2011680" cy="182880"/>
          </a:xfrm>
          <a:prstGeom prst="rect">
            <a:avLst/>
          </a:prstGeom>
          <a:noFill/>
          <a:ln/>
        </p:spPr>
        <p:txBody>
          <a:bodyPr wrap="square" lIns="0" tIns="0" rIns="0" bIns="0" rtlCol="0" anchor="ctr">
            <a:normAutofit/>
          </a:bodyPr>
          <a:lstStyle/>
          <a:p>
            <a:pPr algn="l" indent="0" marL="0">
              <a:buNone/>
            </a:pPr>
            <a:r>
              <a:rPr lang="en-US" sz="930" dirty="0">
                <a:solidFill>
                  <a:srgbClr val="B5C0D1"/>
                </a:solidFill>
                <a:latin typeface="Aptos" pitchFamily="34" charset="0"/>
                <a:ea typeface="Aptos" pitchFamily="34" charset="-122"/>
                <a:cs typeface="Aptos" pitchFamily="34" charset="-120"/>
              </a:rPr>
              <a:t>Less code knowledge required</a:t>
            </a:r>
            <a:endParaRPr lang="en-US" sz="930" dirty="0"/>
          </a:p>
        </p:txBody>
      </p:sp>
      <p:sp>
        <p:nvSpPr>
          <p:cNvPr id="14" name="Shape 12"/>
          <p:cNvSpPr/>
          <p:nvPr/>
        </p:nvSpPr>
        <p:spPr>
          <a:xfrm>
            <a:off x="4160520" y="2377440"/>
            <a:ext cx="329184" cy="256032"/>
          </a:xfrm>
          <a:prstGeom prst="roundRect">
            <a:avLst>
              <a:gd name="adj" fmla="val 42857"/>
            </a:avLst>
          </a:prstGeom>
          <a:solidFill>
            <a:srgbClr val="FF927C"/>
          </a:solidFill>
          <a:ln w="12700">
            <a:solidFill>
              <a:srgbClr val="FF927C">
                <a:alpha val="0"/>
              </a:srgbClr>
            </a:solidFill>
            <a:prstDash val="solid"/>
          </a:ln>
        </p:spPr>
      </p:sp>
      <p:sp>
        <p:nvSpPr>
          <p:cNvPr id="15" name="Shape 13"/>
          <p:cNvSpPr/>
          <p:nvPr/>
        </p:nvSpPr>
        <p:spPr>
          <a:xfrm>
            <a:off x="4599432" y="2377440"/>
            <a:ext cx="329184" cy="256032"/>
          </a:xfrm>
          <a:prstGeom prst="roundRect">
            <a:avLst>
              <a:gd name="adj" fmla="val 42857"/>
            </a:avLst>
          </a:prstGeom>
          <a:solidFill>
            <a:srgbClr val="202E46"/>
          </a:solidFill>
          <a:ln w="12700">
            <a:solidFill>
              <a:srgbClr val="324057"/>
            </a:solidFill>
            <a:prstDash val="solid"/>
          </a:ln>
        </p:spPr>
      </p:sp>
      <p:sp>
        <p:nvSpPr>
          <p:cNvPr id="16" name="Shape 14"/>
          <p:cNvSpPr/>
          <p:nvPr/>
        </p:nvSpPr>
        <p:spPr>
          <a:xfrm>
            <a:off x="5038344" y="2377440"/>
            <a:ext cx="329184" cy="256032"/>
          </a:xfrm>
          <a:prstGeom prst="roundRect">
            <a:avLst>
              <a:gd name="adj" fmla="val 42857"/>
            </a:avLst>
          </a:prstGeom>
          <a:solidFill>
            <a:srgbClr val="202E46"/>
          </a:solidFill>
          <a:ln w="12700">
            <a:solidFill>
              <a:srgbClr val="324057"/>
            </a:solidFill>
            <a:prstDash val="solid"/>
          </a:ln>
        </p:spPr>
      </p:sp>
      <p:sp>
        <p:nvSpPr>
          <p:cNvPr id="17" name="Text 15"/>
          <p:cNvSpPr txBox="1"/>
          <p:nvPr/>
        </p:nvSpPr>
        <p:spPr>
          <a:xfrm>
            <a:off x="5577840" y="2331720"/>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1/3</a:t>
            </a:r>
            <a:endParaRPr lang="en-US" sz="1120" dirty="0"/>
          </a:p>
        </p:txBody>
      </p:sp>
      <p:sp>
        <p:nvSpPr>
          <p:cNvPr id="18" name="Shape 16"/>
          <p:cNvSpPr/>
          <p:nvPr/>
        </p:nvSpPr>
        <p:spPr>
          <a:xfrm>
            <a:off x="6629400" y="2377440"/>
            <a:ext cx="329184" cy="256032"/>
          </a:xfrm>
          <a:prstGeom prst="roundRect">
            <a:avLst>
              <a:gd name="adj" fmla="val 42857"/>
            </a:avLst>
          </a:prstGeom>
          <a:solidFill>
            <a:srgbClr val="FF927C"/>
          </a:solidFill>
          <a:ln w="12700">
            <a:solidFill>
              <a:srgbClr val="FF927C">
                <a:alpha val="0"/>
              </a:srgbClr>
            </a:solidFill>
            <a:prstDash val="solid"/>
          </a:ln>
        </p:spPr>
      </p:sp>
      <p:sp>
        <p:nvSpPr>
          <p:cNvPr id="19" name="Shape 17"/>
          <p:cNvSpPr/>
          <p:nvPr/>
        </p:nvSpPr>
        <p:spPr>
          <a:xfrm>
            <a:off x="7068312" y="2377440"/>
            <a:ext cx="329184" cy="256032"/>
          </a:xfrm>
          <a:prstGeom prst="roundRect">
            <a:avLst>
              <a:gd name="adj" fmla="val 42857"/>
            </a:avLst>
          </a:prstGeom>
          <a:solidFill>
            <a:srgbClr val="202E46"/>
          </a:solidFill>
          <a:ln w="12700">
            <a:solidFill>
              <a:srgbClr val="324057"/>
            </a:solidFill>
            <a:prstDash val="solid"/>
          </a:ln>
        </p:spPr>
      </p:sp>
      <p:sp>
        <p:nvSpPr>
          <p:cNvPr id="20" name="Shape 18"/>
          <p:cNvSpPr/>
          <p:nvPr/>
        </p:nvSpPr>
        <p:spPr>
          <a:xfrm>
            <a:off x="7507224" y="2377440"/>
            <a:ext cx="329184" cy="256032"/>
          </a:xfrm>
          <a:prstGeom prst="roundRect">
            <a:avLst>
              <a:gd name="adj" fmla="val 42857"/>
            </a:avLst>
          </a:prstGeom>
          <a:solidFill>
            <a:srgbClr val="202E46"/>
          </a:solidFill>
          <a:ln w="12700">
            <a:solidFill>
              <a:srgbClr val="324057"/>
            </a:solidFill>
            <a:prstDash val="solid"/>
          </a:ln>
        </p:spPr>
      </p:sp>
      <p:sp>
        <p:nvSpPr>
          <p:cNvPr id="21" name="Text 19"/>
          <p:cNvSpPr txBox="1"/>
          <p:nvPr/>
        </p:nvSpPr>
        <p:spPr>
          <a:xfrm>
            <a:off x="8046720" y="2331720"/>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1/3</a:t>
            </a:r>
            <a:endParaRPr lang="en-US" sz="1120" dirty="0"/>
          </a:p>
        </p:txBody>
      </p:sp>
      <p:sp>
        <p:nvSpPr>
          <p:cNvPr id="22" name="Shape 20"/>
          <p:cNvSpPr/>
          <p:nvPr/>
        </p:nvSpPr>
        <p:spPr>
          <a:xfrm>
            <a:off x="9098280" y="2377440"/>
            <a:ext cx="329184" cy="256032"/>
          </a:xfrm>
          <a:prstGeom prst="roundRect">
            <a:avLst>
              <a:gd name="adj" fmla="val 42857"/>
            </a:avLst>
          </a:prstGeom>
          <a:solidFill>
            <a:srgbClr val="FF927C"/>
          </a:solidFill>
          <a:ln w="12700">
            <a:solidFill>
              <a:srgbClr val="FF927C">
                <a:alpha val="0"/>
              </a:srgbClr>
            </a:solidFill>
            <a:prstDash val="solid"/>
          </a:ln>
        </p:spPr>
      </p:sp>
      <p:sp>
        <p:nvSpPr>
          <p:cNvPr id="23" name="Shape 21"/>
          <p:cNvSpPr/>
          <p:nvPr/>
        </p:nvSpPr>
        <p:spPr>
          <a:xfrm>
            <a:off x="9537192" y="2377440"/>
            <a:ext cx="329184" cy="256032"/>
          </a:xfrm>
          <a:prstGeom prst="roundRect">
            <a:avLst>
              <a:gd name="adj" fmla="val 42857"/>
            </a:avLst>
          </a:prstGeom>
          <a:solidFill>
            <a:srgbClr val="202E46"/>
          </a:solidFill>
          <a:ln w="12700">
            <a:solidFill>
              <a:srgbClr val="324057"/>
            </a:solidFill>
            <a:prstDash val="solid"/>
          </a:ln>
        </p:spPr>
      </p:sp>
      <p:sp>
        <p:nvSpPr>
          <p:cNvPr id="24" name="Shape 22"/>
          <p:cNvSpPr/>
          <p:nvPr/>
        </p:nvSpPr>
        <p:spPr>
          <a:xfrm>
            <a:off x="9976104" y="2377440"/>
            <a:ext cx="329184" cy="256032"/>
          </a:xfrm>
          <a:prstGeom prst="roundRect">
            <a:avLst>
              <a:gd name="adj" fmla="val 42857"/>
            </a:avLst>
          </a:prstGeom>
          <a:solidFill>
            <a:srgbClr val="202E46"/>
          </a:solidFill>
          <a:ln w="12700">
            <a:solidFill>
              <a:srgbClr val="324057"/>
            </a:solidFill>
            <a:prstDash val="solid"/>
          </a:ln>
        </p:spPr>
      </p:sp>
      <p:sp>
        <p:nvSpPr>
          <p:cNvPr id="25" name="Text 23"/>
          <p:cNvSpPr txBox="1"/>
          <p:nvPr/>
        </p:nvSpPr>
        <p:spPr>
          <a:xfrm>
            <a:off x="10515600" y="2331720"/>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1/3</a:t>
            </a:r>
            <a:endParaRPr lang="en-US" sz="1120" dirty="0"/>
          </a:p>
        </p:txBody>
      </p:sp>
      <p:sp>
        <p:nvSpPr>
          <p:cNvPr id="26" name="Shape 24"/>
          <p:cNvSpPr/>
          <p:nvPr/>
        </p:nvSpPr>
        <p:spPr>
          <a:xfrm>
            <a:off x="658368" y="3182112"/>
            <a:ext cx="10881360" cy="786384"/>
          </a:xfrm>
          <a:prstGeom prst="roundRect">
            <a:avLst>
              <a:gd name="adj" fmla="val 13953"/>
            </a:avLst>
          </a:prstGeom>
          <a:solidFill>
            <a:srgbClr val="18243A"/>
          </a:solidFill>
          <a:ln w="12700">
            <a:solidFill>
              <a:srgbClr val="324057"/>
            </a:solidFill>
            <a:prstDash val="solid"/>
          </a:ln>
        </p:spPr>
      </p:sp>
      <p:sp>
        <p:nvSpPr>
          <p:cNvPr id="27" name="Shape 25"/>
          <p:cNvSpPr/>
          <p:nvPr/>
        </p:nvSpPr>
        <p:spPr>
          <a:xfrm>
            <a:off x="868680" y="3346704"/>
            <a:ext cx="438912" cy="438912"/>
          </a:xfrm>
          <a:prstGeom prst="ellipse">
            <a:avLst/>
          </a:prstGeom>
          <a:solidFill>
            <a:srgbClr val="FFC857"/>
          </a:solidFill>
          <a:ln w="12700">
            <a:solidFill>
              <a:srgbClr val="FFC857">
                <a:alpha val="0"/>
              </a:srgbClr>
            </a:solidFill>
            <a:prstDash val="solid"/>
          </a:ln>
        </p:spPr>
      </p:sp>
      <p:sp>
        <p:nvSpPr>
          <p:cNvPr id="28" name="Text 26"/>
          <p:cNvSpPr txBox="1"/>
          <p:nvPr/>
        </p:nvSpPr>
        <p:spPr>
          <a:xfrm>
            <a:off x="868680" y="3346704"/>
            <a:ext cx="438912" cy="438912"/>
          </a:xfrm>
          <a:prstGeom prst="rect">
            <a:avLst/>
          </a:prstGeom>
          <a:noFill/>
          <a:ln/>
        </p:spPr>
        <p:txBody>
          <a:bodyPr wrap="square" lIns="0" tIns="0" rIns="0" bIns="0" rtlCol="0" anchor="ctr">
            <a:normAutofit/>
          </a:bodyPr>
          <a:lstStyle/>
          <a:p>
            <a:pPr algn="ctr" indent="0" marL="0">
              <a:buNone/>
            </a:pPr>
            <a:r>
              <a:rPr lang="en-US" sz="1400" b="1" dirty="0">
                <a:solidFill>
                  <a:srgbClr val="101827"/>
                </a:solidFill>
                <a:latin typeface="Aptos" pitchFamily="34" charset="0"/>
                <a:ea typeface="Aptos" pitchFamily="34" charset="-122"/>
                <a:cs typeface="Aptos" pitchFamily="34" charset="-120"/>
              </a:rPr>
              <a:t>2</a:t>
            </a:r>
            <a:endParaRPr lang="en-US" sz="1400" dirty="0"/>
          </a:p>
        </p:txBody>
      </p:sp>
      <p:sp>
        <p:nvSpPr>
          <p:cNvPr id="29" name="Text 27"/>
          <p:cNvSpPr txBox="1"/>
          <p:nvPr/>
        </p:nvSpPr>
        <p:spPr>
          <a:xfrm>
            <a:off x="1444752" y="3310128"/>
            <a:ext cx="1965960" cy="256032"/>
          </a:xfrm>
          <a:prstGeom prst="rect">
            <a:avLst/>
          </a:prstGeom>
          <a:noFill/>
          <a:ln/>
        </p:spPr>
        <p:txBody>
          <a:bodyPr wrap="square" lIns="0" tIns="0" rIns="0" bIns="0" rtlCol="0" anchor="ctr">
            <a:normAutofit/>
          </a:bodyPr>
          <a:lstStyle/>
          <a:p>
            <a:pPr algn="l" indent="0" marL="0">
              <a:buNone/>
            </a:pPr>
            <a:r>
              <a:rPr lang="en-US" sz="1300" b="1" dirty="0">
                <a:solidFill>
                  <a:srgbClr val="FFC857"/>
                </a:solidFill>
                <a:latin typeface="Aptos" pitchFamily="34" charset="0"/>
                <a:ea typeface="Aptos" pitchFamily="34" charset="-122"/>
                <a:cs typeface="Aptos" pitchFamily="34" charset="-120"/>
              </a:rPr>
              <a:t>GREY-BOX</a:t>
            </a:r>
            <a:endParaRPr lang="en-US" sz="1300" dirty="0"/>
          </a:p>
        </p:txBody>
      </p:sp>
      <p:sp>
        <p:nvSpPr>
          <p:cNvPr id="30" name="Text 28"/>
          <p:cNvSpPr txBox="1"/>
          <p:nvPr/>
        </p:nvSpPr>
        <p:spPr>
          <a:xfrm>
            <a:off x="1444752" y="3602736"/>
            <a:ext cx="2011680" cy="182880"/>
          </a:xfrm>
          <a:prstGeom prst="rect">
            <a:avLst/>
          </a:prstGeom>
          <a:noFill/>
          <a:ln/>
        </p:spPr>
        <p:txBody>
          <a:bodyPr wrap="square" lIns="0" tIns="0" rIns="0" bIns="0" rtlCol="0" anchor="ctr">
            <a:normAutofit/>
          </a:bodyPr>
          <a:lstStyle/>
          <a:p>
            <a:pPr algn="l" indent="0" marL="0">
              <a:buNone/>
            </a:pPr>
            <a:r>
              <a:rPr lang="en-US" sz="930" dirty="0">
                <a:solidFill>
                  <a:srgbClr val="B5C0D1"/>
                </a:solidFill>
                <a:latin typeface="Aptos" pitchFamily="34" charset="0"/>
                <a:ea typeface="Aptos" pitchFamily="34" charset="-122"/>
                <a:cs typeface="Aptos" pitchFamily="34" charset="-120"/>
              </a:rPr>
              <a:t>Some design / database knowledge</a:t>
            </a:r>
            <a:endParaRPr lang="en-US" sz="930" dirty="0"/>
          </a:p>
        </p:txBody>
      </p:sp>
      <p:sp>
        <p:nvSpPr>
          <p:cNvPr id="31" name="Shape 29"/>
          <p:cNvSpPr/>
          <p:nvPr/>
        </p:nvSpPr>
        <p:spPr>
          <a:xfrm>
            <a:off x="4160520" y="3410712"/>
            <a:ext cx="329184" cy="256032"/>
          </a:xfrm>
          <a:prstGeom prst="roundRect">
            <a:avLst>
              <a:gd name="adj" fmla="val 42857"/>
            </a:avLst>
          </a:prstGeom>
          <a:solidFill>
            <a:srgbClr val="FFC857"/>
          </a:solidFill>
          <a:ln w="12700">
            <a:solidFill>
              <a:srgbClr val="FFC857">
                <a:alpha val="0"/>
              </a:srgbClr>
            </a:solidFill>
            <a:prstDash val="solid"/>
          </a:ln>
        </p:spPr>
      </p:sp>
      <p:sp>
        <p:nvSpPr>
          <p:cNvPr id="32" name="Shape 30"/>
          <p:cNvSpPr/>
          <p:nvPr/>
        </p:nvSpPr>
        <p:spPr>
          <a:xfrm>
            <a:off x="4599432" y="3410712"/>
            <a:ext cx="329184" cy="256032"/>
          </a:xfrm>
          <a:prstGeom prst="roundRect">
            <a:avLst>
              <a:gd name="adj" fmla="val 42857"/>
            </a:avLst>
          </a:prstGeom>
          <a:solidFill>
            <a:srgbClr val="FFC857"/>
          </a:solidFill>
          <a:ln w="12700">
            <a:solidFill>
              <a:srgbClr val="FFC857">
                <a:alpha val="0"/>
              </a:srgbClr>
            </a:solidFill>
            <a:prstDash val="solid"/>
          </a:ln>
        </p:spPr>
      </p:sp>
      <p:sp>
        <p:nvSpPr>
          <p:cNvPr id="33" name="Shape 31"/>
          <p:cNvSpPr/>
          <p:nvPr/>
        </p:nvSpPr>
        <p:spPr>
          <a:xfrm>
            <a:off x="5038344" y="3410712"/>
            <a:ext cx="329184" cy="256032"/>
          </a:xfrm>
          <a:prstGeom prst="roundRect">
            <a:avLst>
              <a:gd name="adj" fmla="val 42857"/>
            </a:avLst>
          </a:prstGeom>
          <a:solidFill>
            <a:srgbClr val="202E46"/>
          </a:solidFill>
          <a:ln w="12700">
            <a:solidFill>
              <a:srgbClr val="324057"/>
            </a:solidFill>
            <a:prstDash val="solid"/>
          </a:ln>
        </p:spPr>
      </p:sp>
      <p:sp>
        <p:nvSpPr>
          <p:cNvPr id="34" name="Text 32"/>
          <p:cNvSpPr txBox="1"/>
          <p:nvPr/>
        </p:nvSpPr>
        <p:spPr>
          <a:xfrm>
            <a:off x="5577840" y="3364992"/>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2/3</a:t>
            </a:r>
            <a:endParaRPr lang="en-US" sz="1120" dirty="0"/>
          </a:p>
        </p:txBody>
      </p:sp>
      <p:sp>
        <p:nvSpPr>
          <p:cNvPr id="35" name="Shape 33"/>
          <p:cNvSpPr/>
          <p:nvPr/>
        </p:nvSpPr>
        <p:spPr>
          <a:xfrm>
            <a:off x="6629400" y="3410712"/>
            <a:ext cx="329184" cy="256032"/>
          </a:xfrm>
          <a:prstGeom prst="roundRect">
            <a:avLst>
              <a:gd name="adj" fmla="val 42857"/>
            </a:avLst>
          </a:prstGeom>
          <a:solidFill>
            <a:srgbClr val="FFC857"/>
          </a:solidFill>
          <a:ln w="12700">
            <a:solidFill>
              <a:srgbClr val="FFC857">
                <a:alpha val="0"/>
              </a:srgbClr>
            </a:solidFill>
            <a:prstDash val="solid"/>
          </a:ln>
        </p:spPr>
      </p:sp>
      <p:sp>
        <p:nvSpPr>
          <p:cNvPr id="36" name="Shape 34"/>
          <p:cNvSpPr/>
          <p:nvPr/>
        </p:nvSpPr>
        <p:spPr>
          <a:xfrm>
            <a:off x="7068312" y="3410712"/>
            <a:ext cx="329184" cy="256032"/>
          </a:xfrm>
          <a:prstGeom prst="roundRect">
            <a:avLst>
              <a:gd name="adj" fmla="val 42857"/>
            </a:avLst>
          </a:prstGeom>
          <a:solidFill>
            <a:srgbClr val="FFC857"/>
          </a:solidFill>
          <a:ln w="12700">
            <a:solidFill>
              <a:srgbClr val="FFC857">
                <a:alpha val="0"/>
              </a:srgbClr>
            </a:solidFill>
            <a:prstDash val="solid"/>
          </a:ln>
        </p:spPr>
      </p:sp>
      <p:sp>
        <p:nvSpPr>
          <p:cNvPr id="37" name="Shape 35"/>
          <p:cNvSpPr/>
          <p:nvPr/>
        </p:nvSpPr>
        <p:spPr>
          <a:xfrm>
            <a:off x="7507224" y="3410712"/>
            <a:ext cx="329184" cy="256032"/>
          </a:xfrm>
          <a:prstGeom prst="roundRect">
            <a:avLst>
              <a:gd name="adj" fmla="val 42857"/>
            </a:avLst>
          </a:prstGeom>
          <a:solidFill>
            <a:srgbClr val="202E46"/>
          </a:solidFill>
          <a:ln w="12700">
            <a:solidFill>
              <a:srgbClr val="324057"/>
            </a:solidFill>
            <a:prstDash val="solid"/>
          </a:ln>
        </p:spPr>
      </p:sp>
      <p:sp>
        <p:nvSpPr>
          <p:cNvPr id="38" name="Text 36"/>
          <p:cNvSpPr txBox="1"/>
          <p:nvPr/>
        </p:nvSpPr>
        <p:spPr>
          <a:xfrm>
            <a:off x="8046720" y="3364992"/>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2/3</a:t>
            </a:r>
            <a:endParaRPr lang="en-US" sz="1120" dirty="0"/>
          </a:p>
        </p:txBody>
      </p:sp>
      <p:sp>
        <p:nvSpPr>
          <p:cNvPr id="39" name="Shape 37"/>
          <p:cNvSpPr/>
          <p:nvPr/>
        </p:nvSpPr>
        <p:spPr>
          <a:xfrm>
            <a:off x="9098280" y="3410712"/>
            <a:ext cx="329184" cy="256032"/>
          </a:xfrm>
          <a:prstGeom prst="roundRect">
            <a:avLst>
              <a:gd name="adj" fmla="val 42857"/>
            </a:avLst>
          </a:prstGeom>
          <a:solidFill>
            <a:srgbClr val="FFC857"/>
          </a:solidFill>
          <a:ln w="12700">
            <a:solidFill>
              <a:srgbClr val="FFC857">
                <a:alpha val="0"/>
              </a:srgbClr>
            </a:solidFill>
            <a:prstDash val="solid"/>
          </a:ln>
        </p:spPr>
      </p:sp>
      <p:sp>
        <p:nvSpPr>
          <p:cNvPr id="40" name="Shape 38"/>
          <p:cNvSpPr/>
          <p:nvPr/>
        </p:nvSpPr>
        <p:spPr>
          <a:xfrm>
            <a:off x="9537192" y="3410712"/>
            <a:ext cx="329184" cy="256032"/>
          </a:xfrm>
          <a:prstGeom prst="roundRect">
            <a:avLst>
              <a:gd name="adj" fmla="val 42857"/>
            </a:avLst>
          </a:prstGeom>
          <a:solidFill>
            <a:srgbClr val="FFC857"/>
          </a:solidFill>
          <a:ln w="12700">
            <a:solidFill>
              <a:srgbClr val="FFC857">
                <a:alpha val="0"/>
              </a:srgbClr>
            </a:solidFill>
            <a:prstDash val="solid"/>
          </a:ln>
        </p:spPr>
      </p:sp>
      <p:sp>
        <p:nvSpPr>
          <p:cNvPr id="41" name="Shape 39"/>
          <p:cNvSpPr/>
          <p:nvPr/>
        </p:nvSpPr>
        <p:spPr>
          <a:xfrm>
            <a:off x="9976104" y="3410712"/>
            <a:ext cx="329184" cy="256032"/>
          </a:xfrm>
          <a:prstGeom prst="roundRect">
            <a:avLst>
              <a:gd name="adj" fmla="val 42857"/>
            </a:avLst>
          </a:prstGeom>
          <a:solidFill>
            <a:srgbClr val="202E46"/>
          </a:solidFill>
          <a:ln w="12700">
            <a:solidFill>
              <a:srgbClr val="324057"/>
            </a:solidFill>
            <a:prstDash val="solid"/>
          </a:ln>
        </p:spPr>
      </p:sp>
      <p:sp>
        <p:nvSpPr>
          <p:cNvPr id="42" name="Text 40"/>
          <p:cNvSpPr txBox="1"/>
          <p:nvPr/>
        </p:nvSpPr>
        <p:spPr>
          <a:xfrm>
            <a:off x="10515600" y="3364992"/>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2/3</a:t>
            </a:r>
            <a:endParaRPr lang="en-US" sz="1120" dirty="0"/>
          </a:p>
        </p:txBody>
      </p:sp>
      <p:sp>
        <p:nvSpPr>
          <p:cNvPr id="43" name="Shape 41"/>
          <p:cNvSpPr/>
          <p:nvPr/>
        </p:nvSpPr>
        <p:spPr>
          <a:xfrm>
            <a:off x="658368" y="4215384"/>
            <a:ext cx="10881360" cy="786384"/>
          </a:xfrm>
          <a:prstGeom prst="roundRect">
            <a:avLst>
              <a:gd name="adj" fmla="val 13953"/>
            </a:avLst>
          </a:prstGeom>
          <a:solidFill>
            <a:srgbClr val="18243A"/>
          </a:solidFill>
          <a:ln w="12700">
            <a:solidFill>
              <a:srgbClr val="324057"/>
            </a:solidFill>
            <a:prstDash val="solid"/>
          </a:ln>
        </p:spPr>
      </p:sp>
      <p:sp>
        <p:nvSpPr>
          <p:cNvPr id="44" name="Shape 42"/>
          <p:cNvSpPr/>
          <p:nvPr/>
        </p:nvSpPr>
        <p:spPr>
          <a:xfrm>
            <a:off x="868680" y="4379976"/>
            <a:ext cx="438912" cy="438912"/>
          </a:xfrm>
          <a:prstGeom prst="ellipse">
            <a:avLst/>
          </a:prstGeom>
          <a:solidFill>
            <a:srgbClr val="59DCE2"/>
          </a:solidFill>
          <a:ln w="12700">
            <a:solidFill>
              <a:srgbClr val="59DCE2">
                <a:alpha val="0"/>
              </a:srgbClr>
            </a:solidFill>
            <a:prstDash val="solid"/>
          </a:ln>
        </p:spPr>
      </p:sp>
      <p:sp>
        <p:nvSpPr>
          <p:cNvPr id="45" name="Text 43"/>
          <p:cNvSpPr txBox="1"/>
          <p:nvPr/>
        </p:nvSpPr>
        <p:spPr>
          <a:xfrm>
            <a:off x="868680" y="4379976"/>
            <a:ext cx="438912" cy="438912"/>
          </a:xfrm>
          <a:prstGeom prst="rect">
            <a:avLst/>
          </a:prstGeom>
          <a:noFill/>
          <a:ln/>
        </p:spPr>
        <p:txBody>
          <a:bodyPr wrap="square" lIns="0" tIns="0" rIns="0" bIns="0" rtlCol="0" anchor="ctr">
            <a:normAutofit/>
          </a:bodyPr>
          <a:lstStyle/>
          <a:p>
            <a:pPr algn="ctr" indent="0" marL="0">
              <a:buNone/>
            </a:pPr>
            <a:r>
              <a:rPr lang="en-US" sz="1400" b="1" dirty="0">
                <a:solidFill>
                  <a:srgbClr val="101827"/>
                </a:solidFill>
                <a:latin typeface="Aptos" pitchFamily="34" charset="0"/>
                <a:ea typeface="Aptos" pitchFamily="34" charset="-122"/>
                <a:cs typeface="Aptos" pitchFamily="34" charset="-120"/>
              </a:rPr>
              <a:t>3</a:t>
            </a:r>
            <a:endParaRPr lang="en-US" sz="1400" dirty="0"/>
          </a:p>
        </p:txBody>
      </p:sp>
      <p:sp>
        <p:nvSpPr>
          <p:cNvPr id="46" name="Text 44"/>
          <p:cNvSpPr txBox="1"/>
          <p:nvPr/>
        </p:nvSpPr>
        <p:spPr>
          <a:xfrm>
            <a:off x="1444752" y="4343400"/>
            <a:ext cx="1965960" cy="256032"/>
          </a:xfrm>
          <a:prstGeom prst="rect">
            <a:avLst/>
          </a:prstGeom>
          <a:noFill/>
          <a:ln/>
        </p:spPr>
        <p:txBody>
          <a:bodyPr wrap="square" lIns="0" tIns="0" rIns="0" bIns="0" rtlCol="0" anchor="ctr">
            <a:normAutofit/>
          </a:bodyPr>
          <a:lstStyle/>
          <a:p>
            <a:pPr algn="l" indent="0" marL="0">
              <a:buNone/>
            </a:pPr>
            <a:r>
              <a:rPr lang="en-US" sz="1300" b="1" dirty="0">
                <a:solidFill>
                  <a:srgbClr val="59DCE2"/>
                </a:solidFill>
                <a:latin typeface="Aptos" pitchFamily="34" charset="0"/>
                <a:ea typeface="Aptos" pitchFamily="34" charset="-122"/>
                <a:cs typeface="Aptos" pitchFamily="34" charset="-120"/>
              </a:rPr>
              <a:t>WHITE-BOX</a:t>
            </a:r>
            <a:endParaRPr lang="en-US" sz="1300" dirty="0"/>
          </a:p>
        </p:txBody>
      </p:sp>
      <p:sp>
        <p:nvSpPr>
          <p:cNvPr id="47" name="Text 45"/>
          <p:cNvSpPr txBox="1"/>
          <p:nvPr/>
        </p:nvSpPr>
        <p:spPr>
          <a:xfrm>
            <a:off x="1444752" y="4636008"/>
            <a:ext cx="2011680" cy="182880"/>
          </a:xfrm>
          <a:prstGeom prst="rect">
            <a:avLst/>
          </a:prstGeom>
          <a:noFill/>
          <a:ln/>
        </p:spPr>
        <p:txBody>
          <a:bodyPr wrap="square" lIns="0" tIns="0" rIns="0" bIns="0" rtlCol="0" anchor="ctr">
            <a:normAutofit/>
          </a:bodyPr>
          <a:lstStyle/>
          <a:p>
            <a:pPr algn="l" indent="0" marL="0">
              <a:buNone/>
            </a:pPr>
            <a:r>
              <a:rPr lang="en-US" sz="930" dirty="0">
                <a:solidFill>
                  <a:srgbClr val="B5C0D1"/>
                </a:solidFill>
                <a:latin typeface="Aptos" pitchFamily="34" charset="0"/>
                <a:ea typeface="Aptos" pitchFamily="34" charset="-122"/>
                <a:cs typeface="Aptos" pitchFamily="34" charset="-120"/>
              </a:rPr>
              <a:t>Deep code and implementation knowledge</a:t>
            </a:r>
            <a:endParaRPr lang="en-US" sz="930" dirty="0"/>
          </a:p>
        </p:txBody>
      </p:sp>
      <p:sp>
        <p:nvSpPr>
          <p:cNvPr id="48" name="Shape 46"/>
          <p:cNvSpPr/>
          <p:nvPr/>
        </p:nvSpPr>
        <p:spPr>
          <a:xfrm>
            <a:off x="4160520"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49" name="Shape 47"/>
          <p:cNvSpPr/>
          <p:nvPr/>
        </p:nvSpPr>
        <p:spPr>
          <a:xfrm>
            <a:off x="4599432"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0" name="Shape 48"/>
          <p:cNvSpPr/>
          <p:nvPr/>
        </p:nvSpPr>
        <p:spPr>
          <a:xfrm>
            <a:off x="5038344"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1" name="Text 49"/>
          <p:cNvSpPr txBox="1"/>
          <p:nvPr/>
        </p:nvSpPr>
        <p:spPr>
          <a:xfrm>
            <a:off x="5577840" y="4398264"/>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3/3</a:t>
            </a:r>
            <a:endParaRPr lang="en-US" sz="1120" dirty="0"/>
          </a:p>
        </p:txBody>
      </p:sp>
      <p:sp>
        <p:nvSpPr>
          <p:cNvPr id="52" name="Shape 50"/>
          <p:cNvSpPr/>
          <p:nvPr/>
        </p:nvSpPr>
        <p:spPr>
          <a:xfrm>
            <a:off x="6629400"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3" name="Shape 51"/>
          <p:cNvSpPr/>
          <p:nvPr/>
        </p:nvSpPr>
        <p:spPr>
          <a:xfrm>
            <a:off x="7068312"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4" name="Shape 52"/>
          <p:cNvSpPr/>
          <p:nvPr/>
        </p:nvSpPr>
        <p:spPr>
          <a:xfrm>
            <a:off x="7507224"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5" name="Text 53"/>
          <p:cNvSpPr txBox="1"/>
          <p:nvPr/>
        </p:nvSpPr>
        <p:spPr>
          <a:xfrm>
            <a:off x="8046720" y="4398264"/>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3/3</a:t>
            </a:r>
            <a:endParaRPr lang="en-US" sz="1120" dirty="0"/>
          </a:p>
        </p:txBody>
      </p:sp>
      <p:sp>
        <p:nvSpPr>
          <p:cNvPr id="56" name="Shape 54"/>
          <p:cNvSpPr/>
          <p:nvPr/>
        </p:nvSpPr>
        <p:spPr>
          <a:xfrm>
            <a:off x="9098280"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7" name="Shape 55"/>
          <p:cNvSpPr/>
          <p:nvPr/>
        </p:nvSpPr>
        <p:spPr>
          <a:xfrm>
            <a:off x="9537192"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8" name="Shape 56"/>
          <p:cNvSpPr/>
          <p:nvPr/>
        </p:nvSpPr>
        <p:spPr>
          <a:xfrm>
            <a:off x="9976104" y="4443984"/>
            <a:ext cx="329184" cy="256032"/>
          </a:xfrm>
          <a:prstGeom prst="roundRect">
            <a:avLst>
              <a:gd name="adj" fmla="val 42857"/>
            </a:avLst>
          </a:prstGeom>
          <a:solidFill>
            <a:srgbClr val="59DCE2"/>
          </a:solidFill>
          <a:ln w="12700">
            <a:solidFill>
              <a:srgbClr val="59DCE2">
                <a:alpha val="0"/>
              </a:srgbClr>
            </a:solidFill>
            <a:prstDash val="solid"/>
          </a:ln>
        </p:spPr>
      </p:sp>
      <p:sp>
        <p:nvSpPr>
          <p:cNvPr id="59" name="Text 57"/>
          <p:cNvSpPr txBox="1"/>
          <p:nvPr/>
        </p:nvSpPr>
        <p:spPr>
          <a:xfrm>
            <a:off x="10515600" y="4398264"/>
            <a:ext cx="566928" cy="301752"/>
          </a:xfrm>
          <a:prstGeom prst="rect">
            <a:avLst/>
          </a:prstGeom>
          <a:noFill/>
          <a:ln/>
        </p:spPr>
        <p:txBody>
          <a:bodyPr wrap="square" lIns="0" tIns="0" rIns="0" bIns="0" rtlCol="0" anchor="ctr">
            <a:normAutofit/>
          </a:bodyPr>
          <a:lstStyle/>
          <a:p>
            <a:pPr algn="ctr" indent="0" marL="0">
              <a:buNone/>
            </a:pPr>
            <a:r>
              <a:rPr lang="en-US" sz="1120" b="1" dirty="0">
                <a:solidFill>
                  <a:srgbClr val="F5F7FB"/>
                </a:solidFill>
                <a:latin typeface="Aptos" pitchFamily="34" charset="0"/>
                <a:ea typeface="Aptos" pitchFamily="34" charset="-122"/>
                <a:cs typeface="Aptos" pitchFamily="34" charset="-120"/>
              </a:rPr>
              <a:t>3/3</a:t>
            </a:r>
            <a:endParaRPr lang="en-US" sz="1120" dirty="0"/>
          </a:p>
        </p:txBody>
      </p:sp>
      <p:sp>
        <p:nvSpPr>
          <p:cNvPr id="60" name="Shape 58"/>
          <p:cNvSpPr/>
          <p:nvPr/>
        </p:nvSpPr>
        <p:spPr>
          <a:xfrm>
            <a:off x="658368" y="5504688"/>
            <a:ext cx="10881360" cy="621792"/>
          </a:xfrm>
          <a:prstGeom prst="roundRect">
            <a:avLst>
              <a:gd name="adj" fmla="val 17647"/>
            </a:avLst>
          </a:prstGeom>
          <a:solidFill>
            <a:srgbClr val="202E46"/>
          </a:solidFill>
          <a:ln w="12700">
            <a:solidFill>
              <a:srgbClr val="202E46">
                <a:alpha val="0"/>
              </a:srgbClr>
            </a:solidFill>
            <a:prstDash val="solid"/>
          </a:ln>
        </p:spPr>
      </p:sp>
      <p:sp>
        <p:nvSpPr>
          <p:cNvPr id="61" name="Text 59"/>
          <p:cNvSpPr txBox="1"/>
          <p:nvPr/>
        </p:nvSpPr>
        <p:spPr>
          <a:xfrm>
            <a:off x="877824" y="5614416"/>
            <a:ext cx="10378440" cy="365760"/>
          </a:xfrm>
          <a:prstGeom prst="rect">
            <a:avLst/>
          </a:prstGeom>
          <a:noFill/>
          <a:ln/>
        </p:spPr>
        <p:txBody>
          <a:bodyPr wrap="square" lIns="0" tIns="0" rIns="0" bIns="0" rtlCol="0" anchor="ctr">
            <a:normAutofit/>
          </a:bodyPr>
          <a:lstStyle/>
          <a:p>
            <a:pPr algn="l" indent="0" marL="0">
              <a:buNone/>
            </a:pPr>
            <a:r>
              <a:rPr lang="en-US" sz="1210" b="1" dirty="0">
                <a:solidFill>
                  <a:srgbClr val="F5F7FB"/>
                </a:solidFill>
                <a:latin typeface="Aptos" pitchFamily="34" charset="0"/>
                <a:ea typeface="Aptos" pitchFamily="34" charset="-122"/>
                <a:cs typeface="Aptos" pitchFamily="34" charset="-120"/>
              </a:rPr>
              <a:t>Interpretation: lower effort does not mean higher quality. Black-box is accessible, but it cannot replace internal code review or database-level checks.</a:t>
            </a:r>
            <a:endParaRPr lang="en-US" sz="121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07 / RECOMMENDED RESPONSE</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Turn findings into a practical QA plan</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The following actions are recommendations based on the reported defects.</a:t>
            </a:r>
            <a:endParaRPr lang="en-US" sz="1200" dirty="0"/>
          </a:p>
        </p:txBody>
      </p:sp>
      <p:sp>
        <p:nvSpPr>
          <p:cNvPr id="5" name="Shape 3"/>
          <p:cNvSpPr/>
          <p:nvPr/>
        </p:nvSpPr>
        <p:spPr>
          <a:xfrm>
            <a:off x="621792" y="1737360"/>
            <a:ext cx="3246120" cy="4251960"/>
          </a:xfrm>
          <a:prstGeom prst="roundRect">
            <a:avLst>
              <a:gd name="adj" fmla="val 3380"/>
            </a:avLst>
          </a:prstGeom>
          <a:solidFill>
            <a:srgbClr val="18243A"/>
          </a:solidFill>
          <a:ln w="12700">
            <a:solidFill>
              <a:srgbClr val="324057"/>
            </a:solidFill>
            <a:prstDash val="solid"/>
          </a:ln>
        </p:spPr>
      </p:sp>
      <p:sp>
        <p:nvSpPr>
          <p:cNvPr id="6" name="Text 4"/>
          <p:cNvSpPr txBox="1"/>
          <p:nvPr/>
        </p:nvSpPr>
        <p:spPr>
          <a:xfrm>
            <a:off x="822960" y="1956816"/>
            <a:ext cx="2651760" cy="201168"/>
          </a:xfrm>
          <a:prstGeom prst="rect">
            <a:avLst/>
          </a:prstGeom>
          <a:noFill/>
          <a:ln/>
        </p:spPr>
        <p:txBody>
          <a:bodyPr wrap="square" lIns="0" tIns="0" rIns="0" bIns="0" rtlCol="0" anchor="ctr">
            <a:normAutofit/>
          </a:bodyPr>
          <a:lstStyle/>
          <a:p>
            <a:pPr algn="l" indent="0" marL="0">
              <a:buNone/>
            </a:pPr>
            <a:r>
              <a:rPr lang="en-US" sz="940" b="1" spc="140" kern="0" dirty="0">
                <a:solidFill>
                  <a:srgbClr val="FF927C"/>
                </a:solidFill>
                <a:latin typeface="Aptos" pitchFamily="34" charset="0"/>
                <a:ea typeface="Aptos" pitchFamily="34" charset="-122"/>
                <a:cs typeface="Aptos" pitchFamily="34" charset="-120"/>
              </a:rPr>
              <a:t>FIRST</a:t>
            </a:r>
            <a:endParaRPr lang="en-US" sz="940" dirty="0"/>
          </a:p>
        </p:txBody>
      </p:sp>
      <p:sp>
        <p:nvSpPr>
          <p:cNvPr id="7" name="Text 5"/>
          <p:cNvSpPr txBox="1"/>
          <p:nvPr/>
        </p:nvSpPr>
        <p:spPr>
          <a:xfrm>
            <a:off x="822960" y="2286000"/>
            <a:ext cx="2788920" cy="603504"/>
          </a:xfrm>
          <a:prstGeom prst="rect">
            <a:avLst/>
          </a:prstGeom>
          <a:noFill/>
          <a:ln/>
        </p:spPr>
        <p:txBody>
          <a:bodyPr wrap="square" lIns="0" tIns="0" rIns="0" bIns="0" rtlCol="0" anchor="t">
            <a:normAutofit/>
          </a:bodyPr>
          <a:lstStyle/>
          <a:p>
            <a:pPr algn="l" indent="0" marL="0">
              <a:buNone/>
            </a:pPr>
            <a:r>
              <a:rPr lang="en-US" sz="1610" b="1" dirty="0">
                <a:solidFill>
                  <a:srgbClr val="F5F7FB"/>
                </a:solidFill>
                <a:latin typeface="Aptos" pitchFamily="34" charset="0"/>
                <a:ea typeface="Aptos" pitchFamily="34" charset="-122"/>
                <a:cs typeface="Aptos" pitchFamily="34" charset="-120"/>
              </a:rPr>
              <a:t>Protect data &amp; accounts</a:t>
            </a:r>
            <a:endParaRPr lang="en-US" sz="1610" dirty="0"/>
          </a:p>
        </p:txBody>
      </p:sp>
      <p:sp>
        <p:nvSpPr>
          <p:cNvPr id="8" name="Shape 6"/>
          <p:cNvSpPr/>
          <p:nvPr/>
        </p:nvSpPr>
        <p:spPr>
          <a:xfrm>
            <a:off x="822960" y="2953512"/>
            <a:ext cx="2788920" cy="0"/>
          </a:xfrm>
          <a:prstGeom prst="line">
            <a:avLst/>
          </a:prstGeom>
          <a:noFill/>
          <a:ln w="12700">
            <a:solidFill>
              <a:srgbClr val="324057"/>
            </a:solidFill>
            <a:prstDash val="solid"/>
            <a:headEnd type="none"/>
            <a:tailEnd type="none"/>
          </a:ln>
        </p:spPr>
      </p:sp>
      <p:sp>
        <p:nvSpPr>
          <p:cNvPr id="9" name="Shape 7"/>
          <p:cNvSpPr/>
          <p:nvPr/>
        </p:nvSpPr>
        <p:spPr>
          <a:xfrm>
            <a:off x="832104" y="3246120"/>
            <a:ext cx="68580" cy="68580"/>
          </a:xfrm>
          <a:prstGeom prst="ellipse">
            <a:avLst/>
          </a:prstGeom>
          <a:solidFill>
            <a:srgbClr val="FF927C"/>
          </a:solidFill>
          <a:ln w="12700">
            <a:solidFill>
              <a:srgbClr val="FF927C">
                <a:alpha val="0"/>
              </a:srgbClr>
            </a:solidFill>
            <a:prstDash val="solid"/>
          </a:ln>
        </p:spPr>
      </p:sp>
      <p:sp>
        <p:nvSpPr>
          <p:cNvPr id="10" name="Text 8"/>
          <p:cNvSpPr txBox="1"/>
          <p:nvPr/>
        </p:nvSpPr>
        <p:spPr>
          <a:xfrm>
            <a:off x="996696" y="3136392"/>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Review RLS policies and database grants for each operation.</a:t>
            </a:r>
            <a:endParaRPr lang="en-US" sz="1040" dirty="0"/>
          </a:p>
        </p:txBody>
      </p:sp>
      <p:sp>
        <p:nvSpPr>
          <p:cNvPr id="11" name="Shape 9"/>
          <p:cNvSpPr/>
          <p:nvPr/>
        </p:nvSpPr>
        <p:spPr>
          <a:xfrm>
            <a:off x="832104" y="3831336"/>
            <a:ext cx="68580" cy="68580"/>
          </a:xfrm>
          <a:prstGeom prst="ellipse">
            <a:avLst/>
          </a:prstGeom>
          <a:solidFill>
            <a:srgbClr val="FF927C"/>
          </a:solidFill>
          <a:ln w="12700">
            <a:solidFill>
              <a:srgbClr val="FF927C">
                <a:alpha val="0"/>
              </a:srgbClr>
            </a:solidFill>
            <a:prstDash val="solid"/>
          </a:ln>
        </p:spPr>
      </p:sp>
      <p:sp>
        <p:nvSpPr>
          <p:cNvPr id="12" name="Text 10"/>
          <p:cNvSpPr txBox="1"/>
          <p:nvPr/>
        </p:nvSpPr>
        <p:spPr>
          <a:xfrm>
            <a:off x="996696" y="3721608"/>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Never ship service-role / secret keys in the client app.</a:t>
            </a:r>
            <a:endParaRPr lang="en-US" sz="1040" dirty="0"/>
          </a:p>
        </p:txBody>
      </p:sp>
      <p:sp>
        <p:nvSpPr>
          <p:cNvPr id="13" name="Shape 11"/>
          <p:cNvSpPr/>
          <p:nvPr/>
        </p:nvSpPr>
        <p:spPr>
          <a:xfrm>
            <a:off x="832104" y="4416552"/>
            <a:ext cx="68580" cy="68580"/>
          </a:xfrm>
          <a:prstGeom prst="ellipse">
            <a:avLst/>
          </a:prstGeom>
          <a:solidFill>
            <a:srgbClr val="FF927C"/>
          </a:solidFill>
          <a:ln w="12700">
            <a:solidFill>
              <a:srgbClr val="FF927C">
                <a:alpha val="0"/>
              </a:srgbClr>
            </a:solidFill>
            <a:prstDash val="solid"/>
          </a:ln>
        </p:spPr>
      </p:sp>
      <p:sp>
        <p:nvSpPr>
          <p:cNvPr id="14" name="Text 12"/>
          <p:cNvSpPr txBox="1"/>
          <p:nvPr/>
        </p:nvSpPr>
        <p:spPr>
          <a:xfrm>
            <a:off x="996696" y="4306824"/>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Use safe query construction; review input handling.</a:t>
            </a:r>
            <a:endParaRPr lang="en-US" sz="1040" dirty="0"/>
          </a:p>
        </p:txBody>
      </p:sp>
      <p:sp>
        <p:nvSpPr>
          <p:cNvPr id="15" name="Shape 13"/>
          <p:cNvSpPr/>
          <p:nvPr/>
        </p:nvSpPr>
        <p:spPr>
          <a:xfrm>
            <a:off x="832104" y="5001768"/>
            <a:ext cx="68580" cy="68580"/>
          </a:xfrm>
          <a:prstGeom prst="ellipse">
            <a:avLst/>
          </a:prstGeom>
          <a:solidFill>
            <a:srgbClr val="FF927C"/>
          </a:solidFill>
          <a:ln w="12700">
            <a:solidFill>
              <a:srgbClr val="FF927C">
                <a:alpha val="0"/>
              </a:srgbClr>
            </a:solidFill>
            <a:prstDash val="solid"/>
          </a:ln>
        </p:spPr>
      </p:sp>
      <p:sp>
        <p:nvSpPr>
          <p:cNvPr id="16" name="Text 14"/>
          <p:cNvSpPr txBox="1"/>
          <p:nvPr/>
        </p:nvSpPr>
        <p:spPr>
          <a:xfrm>
            <a:off x="996696" y="4892040"/>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Enable email verification and suitable anti-abuse controls.</a:t>
            </a:r>
            <a:endParaRPr lang="en-US" sz="1040" dirty="0"/>
          </a:p>
        </p:txBody>
      </p:sp>
      <p:sp>
        <p:nvSpPr>
          <p:cNvPr id="17" name="Shape 15"/>
          <p:cNvSpPr/>
          <p:nvPr/>
        </p:nvSpPr>
        <p:spPr>
          <a:xfrm>
            <a:off x="4133088" y="1737360"/>
            <a:ext cx="3246120" cy="4251960"/>
          </a:xfrm>
          <a:prstGeom prst="roundRect">
            <a:avLst>
              <a:gd name="adj" fmla="val 3380"/>
            </a:avLst>
          </a:prstGeom>
          <a:solidFill>
            <a:srgbClr val="18243A"/>
          </a:solidFill>
          <a:ln w="12700">
            <a:solidFill>
              <a:srgbClr val="324057"/>
            </a:solidFill>
            <a:prstDash val="solid"/>
          </a:ln>
        </p:spPr>
      </p:sp>
      <p:sp>
        <p:nvSpPr>
          <p:cNvPr id="18" name="Text 16"/>
          <p:cNvSpPr txBox="1"/>
          <p:nvPr/>
        </p:nvSpPr>
        <p:spPr>
          <a:xfrm>
            <a:off x="4334256" y="1956816"/>
            <a:ext cx="2651760" cy="201168"/>
          </a:xfrm>
          <a:prstGeom prst="rect">
            <a:avLst/>
          </a:prstGeom>
          <a:noFill/>
          <a:ln/>
        </p:spPr>
        <p:txBody>
          <a:bodyPr wrap="square" lIns="0" tIns="0" rIns="0" bIns="0" rtlCol="0" anchor="ctr">
            <a:normAutofit/>
          </a:bodyPr>
          <a:lstStyle/>
          <a:p>
            <a:pPr algn="l" indent="0" marL="0">
              <a:buNone/>
            </a:pPr>
            <a:r>
              <a:rPr lang="en-US" sz="940" b="1" spc="140" kern="0" dirty="0">
                <a:solidFill>
                  <a:srgbClr val="FFC857"/>
                </a:solidFill>
                <a:latin typeface="Aptos" pitchFamily="34" charset="0"/>
                <a:ea typeface="Aptos" pitchFamily="34" charset="-122"/>
                <a:cs typeface="Aptos" pitchFamily="34" charset="-120"/>
              </a:rPr>
              <a:t>NEXT</a:t>
            </a:r>
            <a:endParaRPr lang="en-US" sz="940" dirty="0"/>
          </a:p>
        </p:txBody>
      </p:sp>
      <p:sp>
        <p:nvSpPr>
          <p:cNvPr id="19" name="Text 17"/>
          <p:cNvSpPr txBox="1"/>
          <p:nvPr/>
        </p:nvSpPr>
        <p:spPr>
          <a:xfrm>
            <a:off x="4334256" y="2286000"/>
            <a:ext cx="2788920" cy="603504"/>
          </a:xfrm>
          <a:prstGeom prst="rect">
            <a:avLst/>
          </a:prstGeom>
          <a:noFill/>
          <a:ln/>
        </p:spPr>
        <p:txBody>
          <a:bodyPr wrap="square" lIns="0" tIns="0" rIns="0" bIns="0" rtlCol="0" anchor="t">
            <a:normAutofit/>
          </a:bodyPr>
          <a:lstStyle/>
          <a:p>
            <a:pPr algn="l" indent="0" marL="0">
              <a:buNone/>
            </a:pPr>
            <a:r>
              <a:rPr lang="en-US" sz="1610" b="1" dirty="0">
                <a:solidFill>
                  <a:srgbClr val="F5F7FB"/>
                </a:solidFill>
                <a:latin typeface="Aptos" pitchFamily="34" charset="0"/>
                <a:ea typeface="Aptos" pitchFamily="34" charset="-122"/>
                <a:cs typeface="Aptos" pitchFamily="34" charset="-120"/>
              </a:rPr>
              <a:t>Repair user journeys</a:t>
            </a:r>
            <a:endParaRPr lang="en-US" sz="1610" dirty="0"/>
          </a:p>
        </p:txBody>
      </p:sp>
      <p:sp>
        <p:nvSpPr>
          <p:cNvPr id="20" name="Shape 18"/>
          <p:cNvSpPr/>
          <p:nvPr/>
        </p:nvSpPr>
        <p:spPr>
          <a:xfrm>
            <a:off x="4334256" y="2953512"/>
            <a:ext cx="2788920" cy="0"/>
          </a:xfrm>
          <a:prstGeom prst="line">
            <a:avLst/>
          </a:prstGeom>
          <a:noFill/>
          <a:ln w="12700">
            <a:solidFill>
              <a:srgbClr val="324057"/>
            </a:solidFill>
            <a:prstDash val="solid"/>
            <a:headEnd type="none"/>
            <a:tailEnd type="none"/>
          </a:ln>
        </p:spPr>
      </p:sp>
      <p:sp>
        <p:nvSpPr>
          <p:cNvPr id="21" name="Shape 19"/>
          <p:cNvSpPr/>
          <p:nvPr/>
        </p:nvSpPr>
        <p:spPr>
          <a:xfrm>
            <a:off x="4343400" y="3246120"/>
            <a:ext cx="68580" cy="68580"/>
          </a:xfrm>
          <a:prstGeom prst="ellipse">
            <a:avLst/>
          </a:prstGeom>
          <a:solidFill>
            <a:srgbClr val="FFC857"/>
          </a:solidFill>
          <a:ln w="12700">
            <a:solidFill>
              <a:srgbClr val="FFC857">
                <a:alpha val="0"/>
              </a:srgbClr>
            </a:solidFill>
            <a:prstDash val="solid"/>
          </a:ln>
        </p:spPr>
      </p:sp>
      <p:sp>
        <p:nvSpPr>
          <p:cNvPr id="22" name="Text 20"/>
          <p:cNvSpPr txBox="1"/>
          <p:nvPr/>
        </p:nvSpPr>
        <p:spPr>
          <a:xfrm>
            <a:off x="4507992" y="3136392"/>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Show validation for blank / invalid comments.</a:t>
            </a:r>
            <a:endParaRPr lang="en-US" sz="1040" dirty="0"/>
          </a:p>
        </p:txBody>
      </p:sp>
      <p:sp>
        <p:nvSpPr>
          <p:cNvPr id="23" name="Shape 21"/>
          <p:cNvSpPr/>
          <p:nvPr/>
        </p:nvSpPr>
        <p:spPr>
          <a:xfrm>
            <a:off x="4343400" y="3831336"/>
            <a:ext cx="68580" cy="68580"/>
          </a:xfrm>
          <a:prstGeom prst="ellipse">
            <a:avLst/>
          </a:prstGeom>
          <a:solidFill>
            <a:srgbClr val="FFC857"/>
          </a:solidFill>
          <a:ln w="12700">
            <a:solidFill>
              <a:srgbClr val="FFC857">
                <a:alpha val="0"/>
              </a:srgbClr>
            </a:solidFill>
            <a:prstDash val="solid"/>
          </a:ln>
        </p:spPr>
      </p:sp>
      <p:sp>
        <p:nvSpPr>
          <p:cNvPr id="24" name="Text 22"/>
          <p:cNvSpPr txBox="1"/>
          <p:nvPr/>
        </p:nvSpPr>
        <p:spPr>
          <a:xfrm>
            <a:off x="4507992" y="3721608"/>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Add edit support if full comment CRUD is required.</a:t>
            </a:r>
            <a:endParaRPr lang="en-US" sz="1040" dirty="0"/>
          </a:p>
        </p:txBody>
      </p:sp>
      <p:sp>
        <p:nvSpPr>
          <p:cNvPr id="25" name="Shape 23"/>
          <p:cNvSpPr/>
          <p:nvPr/>
        </p:nvSpPr>
        <p:spPr>
          <a:xfrm>
            <a:off x="4343400" y="4416552"/>
            <a:ext cx="68580" cy="68580"/>
          </a:xfrm>
          <a:prstGeom prst="ellipse">
            <a:avLst/>
          </a:prstGeom>
          <a:solidFill>
            <a:srgbClr val="FFC857"/>
          </a:solidFill>
          <a:ln w="12700">
            <a:solidFill>
              <a:srgbClr val="FFC857">
                <a:alpha val="0"/>
              </a:srgbClr>
            </a:solidFill>
            <a:prstDash val="solid"/>
          </a:ln>
        </p:spPr>
      </p:sp>
      <p:sp>
        <p:nvSpPr>
          <p:cNvPr id="26" name="Text 24"/>
          <p:cNvSpPr txBox="1"/>
          <p:nvPr/>
        </p:nvSpPr>
        <p:spPr>
          <a:xfrm>
            <a:off x="4507992" y="4306824"/>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Synchronise or invalidate stale cache after deletion.</a:t>
            </a:r>
            <a:endParaRPr lang="en-US" sz="1040" dirty="0"/>
          </a:p>
        </p:txBody>
      </p:sp>
      <p:sp>
        <p:nvSpPr>
          <p:cNvPr id="27" name="Shape 25"/>
          <p:cNvSpPr/>
          <p:nvPr/>
        </p:nvSpPr>
        <p:spPr>
          <a:xfrm>
            <a:off x="4343400" y="5001768"/>
            <a:ext cx="68580" cy="68580"/>
          </a:xfrm>
          <a:prstGeom prst="ellipse">
            <a:avLst/>
          </a:prstGeom>
          <a:solidFill>
            <a:srgbClr val="FFC857"/>
          </a:solidFill>
          <a:ln w="12700">
            <a:solidFill>
              <a:srgbClr val="FFC857">
                <a:alpha val="0"/>
              </a:srgbClr>
            </a:solidFill>
            <a:prstDash val="solid"/>
          </a:ln>
        </p:spPr>
      </p:sp>
      <p:sp>
        <p:nvSpPr>
          <p:cNvPr id="28" name="Text 26"/>
          <p:cNvSpPr txBox="1"/>
          <p:nvPr/>
        </p:nvSpPr>
        <p:spPr>
          <a:xfrm>
            <a:off x="4507992" y="4892040"/>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Connect and test logout; confirm session state clears.</a:t>
            </a:r>
            <a:endParaRPr lang="en-US" sz="1040" dirty="0"/>
          </a:p>
        </p:txBody>
      </p:sp>
      <p:sp>
        <p:nvSpPr>
          <p:cNvPr id="29" name="Shape 27"/>
          <p:cNvSpPr/>
          <p:nvPr/>
        </p:nvSpPr>
        <p:spPr>
          <a:xfrm>
            <a:off x="7644384" y="1737360"/>
            <a:ext cx="3246120" cy="4251960"/>
          </a:xfrm>
          <a:prstGeom prst="roundRect">
            <a:avLst>
              <a:gd name="adj" fmla="val 3380"/>
            </a:avLst>
          </a:prstGeom>
          <a:solidFill>
            <a:srgbClr val="18243A"/>
          </a:solidFill>
          <a:ln w="12700">
            <a:solidFill>
              <a:srgbClr val="324057"/>
            </a:solidFill>
            <a:prstDash val="solid"/>
          </a:ln>
        </p:spPr>
      </p:sp>
      <p:sp>
        <p:nvSpPr>
          <p:cNvPr id="30" name="Text 28"/>
          <p:cNvSpPr txBox="1"/>
          <p:nvPr/>
        </p:nvSpPr>
        <p:spPr>
          <a:xfrm>
            <a:off x="7845552" y="1956816"/>
            <a:ext cx="2651760" cy="201168"/>
          </a:xfrm>
          <a:prstGeom prst="rect">
            <a:avLst/>
          </a:prstGeom>
          <a:noFill/>
          <a:ln/>
        </p:spPr>
        <p:txBody>
          <a:bodyPr wrap="square" lIns="0" tIns="0" rIns="0" bIns="0" rtlCol="0" anchor="ctr">
            <a:normAutofit/>
          </a:bodyPr>
          <a:lstStyle/>
          <a:p>
            <a:pPr algn="l" indent="0" marL="0">
              <a:buNone/>
            </a:pPr>
            <a:r>
              <a:rPr lang="en-US" sz="940" b="1" spc="140" kern="0" dirty="0">
                <a:solidFill>
                  <a:srgbClr val="76D6A5"/>
                </a:solidFill>
                <a:latin typeface="Aptos" pitchFamily="34" charset="0"/>
                <a:ea typeface="Aptos" pitchFamily="34" charset="-122"/>
                <a:cs typeface="Aptos" pitchFamily="34" charset="-120"/>
              </a:rPr>
              <a:t>SUSTAIN</a:t>
            </a:r>
            <a:endParaRPr lang="en-US" sz="940" dirty="0"/>
          </a:p>
        </p:txBody>
      </p:sp>
      <p:sp>
        <p:nvSpPr>
          <p:cNvPr id="31" name="Text 29"/>
          <p:cNvSpPr txBox="1"/>
          <p:nvPr/>
        </p:nvSpPr>
        <p:spPr>
          <a:xfrm>
            <a:off x="7845552" y="2286000"/>
            <a:ext cx="2788920" cy="603504"/>
          </a:xfrm>
          <a:prstGeom prst="rect">
            <a:avLst/>
          </a:prstGeom>
          <a:noFill/>
          <a:ln/>
        </p:spPr>
        <p:txBody>
          <a:bodyPr wrap="square" lIns="0" tIns="0" rIns="0" bIns="0" rtlCol="0" anchor="t">
            <a:normAutofit/>
          </a:bodyPr>
          <a:lstStyle/>
          <a:p>
            <a:pPr algn="l" indent="0" marL="0">
              <a:buNone/>
            </a:pPr>
            <a:r>
              <a:rPr lang="en-US" sz="1610" b="1" dirty="0">
                <a:solidFill>
                  <a:srgbClr val="F5F7FB"/>
                </a:solidFill>
                <a:latin typeface="Aptos" pitchFamily="34" charset="0"/>
                <a:ea typeface="Aptos" pitchFamily="34" charset="-122"/>
                <a:cs typeface="Aptos" pitchFamily="34" charset="-120"/>
              </a:rPr>
              <a:t>Prevent regressions</a:t>
            </a:r>
            <a:endParaRPr lang="en-US" sz="1610" dirty="0"/>
          </a:p>
        </p:txBody>
      </p:sp>
      <p:sp>
        <p:nvSpPr>
          <p:cNvPr id="32" name="Shape 30"/>
          <p:cNvSpPr/>
          <p:nvPr/>
        </p:nvSpPr>
        <p:spPr>
          <a:xfrm>
            <a:off x="7845552" y="2953512"/>
            <a:ext cx="2788920" cy="0"/>
          </a:xfrm>
          <a:prstGeom prst="line">
            <a:avLst/>
          </a:prstGeom>
          <a:noFill/>
          <a:ln w="12700">
            <a:solidFill>
              <a:srgbClr val="324057"/>
            </a:solidFill>
            <a:prstDash val="solid"/>
            <a:headEnd type="none"/>
            <a:tailEnd type="none"/>
          </a:ln>
        </p:spPr>
      </p:sp>
      <p:sp>
        <p:nvSpPr>
          <p:cNvPr id="33" name="Shape 31"/>
          <p:cNvSpPr/>
          <p:nvPr/>
        </p:nvSpPr>
        <p:spPr>
          <a:xfrm>
            <a:off x="7854696" y="3246120"/>
            <a:ext cx="68580" cy="68580"/>
          </a:xfrm>
          <a:prstGeom prst="ellipse">
            <a:avLst/>
          </a:prstGeom>
          <a:solidFill>
            <a:srgbClr val="76D6A5"/>
          </a:solidFill>
          <a:ln w="12700">
            <a:solidFill>
              <a:srgbClr val="76D6A5">
                <a:alpha val="0"/>
              </a:srgbClr>
            </a:solidFill>
            <a:prstDash val="solid"/>
          </a:ln>
        </p:spPr>
      </p:sp>
      <p:sp>
        <p:nvSpPr>
          <p:cNvPr id="34" name="Text 32"/>
          <p:cNvSpPr txBox="1"/>
          <p:nvPr/>
        </p:nvSpPr>
        <p:spPr>
          <a:xfrm>
            <a:off x="8019288" y="3136392"/>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Move repeated data logic into reusable services.</a:t>
            </a:r>
            <a:endParaRPr lang="en-US" sz="1040" dirty="0"/>
          </a:p>
        </p:txBody>
      </p:sp>
      <p:sp>
        <p:nvSpPr>
          <p:cNvPr id="35" name="Shape 33"/>
          <p:cNvSpPr/>
          <p:nvPr/>
        </p:nvSpPr>
        <p:spPr>
          <a:xfrm>
            <a:off x="7854696" y="3831336"/>
            <a:ext cx="68580" cy="68580"/>
          </a:xfrm>
          <a:prstGeom prst="ellipse">
            <a:avLst/>
          </a:prstGeom>
          <a:solidFill>
            <a:srgbClr val="76D6A5"/>
          </a:solidFill>
          <a:ln w="12700">
            <a:solidFill>
              <a:srgbClr val="76D6A5">
                <a:alpha val="0"/>
              </a:srgbClr>
            </a:solidFill>
            <a:prstDash val="solid"/>
          </a:ln>
        </p:spPr>
      </p:sp>
      <p:sp>
        <p:nvSpPr>
          <p:cNvPr id="36" name="Text 34"/>
          <p:cNvSpPr txBox="1"/>
          <p:nvPr/>
        </p:nvSpPr>
        <p:spPr>
          <a:xfrm>
            <a:off x="8019288" y="3721608"/>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Add unit and integration tests for key operations.</a:t>
            </a:r>
            <a:endParaRPr lang="en-US" sz="1040" dirty="0"/>
          </a:p>
        </p:txBody>
      </p:sp>
      <p:sp>
        <p:nvSpPr>
          <p:cNvPr id="37" name="Shape 35"/>
          <p:cNvSpPr/>
          <p:nvPr/>
        </p:nvSpPr>
        <p:spPr>
          <a:xfrm>
            <a:off x="7854696" y="4416552"/>
            <a:ext cx="68580" cy="68580"/>
          </a:xfrm>
          <a:prstGeom prst="ellipse">
            <a:avLst/>
          </a:prstGeom>
          <a:solidFill>
            <a:srgbClr val="76D6A5"/>
          </a:solidFill>
          <a:ln w="12700">
            <a:solidFill>
              <a:srgbClr val="76D6A5">
                <a:alpha val="0"/>
              </a:srgbClr>
            </a:solidFill>
            <a:prstDash val="solid"/>
          </a:ln>
        </p:spPr>
      </p:sp>
      <p:sp>
        <p:nvSpPr>
          <p:cNvPr id="38" name="Text 36"/>
          <p:cNvSpPr txBox="1"/>
          <p:nvPr/>
        </p:nvSpPr>
        <p:spPr>
          <a:xfrm>
            <a:off x="8019288" y="4306824"/>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Test RLS with multiple users and ownership cases.</a:t>
            </a:r>
            <a:endParaRPr lang="en-US" sz="1040" dirty="0"/>
          </a:p>
        </p:txBody>
      </p:sp>
      <p:sp>
        <p:nvSpPr>
          <p:cNvPr id="39" name="Shape 37"/>
          <p:cNvSpPr/>
          <p:nvPr/>
        </p:nvSpPr>
        <p:spPr>
          <a:xfrm>
            <a:off x="7854696" y="5001768"/>
            <a:ext cx="68580" cy="68580"/>
          </a:xfrm>
          <a:prstGeom prst="ellipse">
            <a:avLst/>
          </a:prstGeom>
          <a:solidFill>
            <a:srgbClr val="76D6A5"/>
          </a:solidFill>
          <a:ln w="12700">
            <a:solidFill>
              <a:srgbClr val="76D6A5">
                <a:alpha val="0"/>
              </a:srgbClr>
            </a:solidFill>
            <a:prstDash val="solid"/>
          </a:ln>
        </p:spPr>
      </p:sp>
      <p:sp>
        <p:nvSpPr>
          <p:cNvPr id="40" name="Text 38"/>
          <p:cNvSpPr txBox="1"/>
          <p:nvPr/>
        </p:nvSpPr>
        <p:spPr>
          <a:xfrm>
            <a:off x="8019288" y="4892040"/>
            <a:ext cx="2624328" cy="566928"/>
          </a:xfrm>
          <a:prstGeom prst="rect">
            <a:avLst/>
          </a:prstGeom>
          <a:noFill/>
          <a:ln/>
        </p:spPr>
        <p:txBody>
          <a:bodyPr wrap="square" lIns="0" tIns="0" rIns="0" bIns="0" rtlCol="0" anchor="t">
            <a:normAutofit/>
          </a:bodyPr>
          <a:lstStyle/>
          <a:p>
            <a:pPr algn="l" indent="0" marL="0">
              <a:buNone/>
            </a:pPr>
            <a:r>
              <a:rPr lang="en-US" sz="1040" dirty="0">
                <a:solidFill>
                  <a:srgbClr val="B5C0D1"/>
                </a:solidFill>
                <a:latin typeface="Aptos" pitchFamily="34" charset="0"/>
                <a:ea typeface="Aptos" pitchFamily="34" charset="-122"/>
                <a:cs typeface="Aptos" pitchFamily="34" charset="-120"/>
              </a:rPr>
              <a:t>Re-run tests after fixes and record evidence.</a:t>
            </a:r>
            <a:endParaRPr lang="en-US" sz="104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256032"/>
            <a:ext cx="987552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59DCE2"/>
                </a:solidFill>
                <a:latin typeface="Aptos" pitchFamily="34" charset="0"/>
                <a:ea typeface="Aptos" pitchFamily="34" charset="-122"/>
                <a:cs typeface="Aptos" pitchFamily="34" charset="-120"/>
              </a:rPr>
              <a:t>08 / CONCLUSION</a:t>
            </a:r>
            <a:endParaRPr lang="en-US" sz="900" dirty="0"/>
          </a:p>
        </p:txBody>
      </p:sp>
      <p:sp>
        <p:nvSpPr>
          <p:cNvPr id="3" name="Text 1"/>
          <p:cNvSpPr txBox="1"/>
          <p:nvPr/>
        </p:nvSpPr>
        <p:spPr>
          <a:xfrm>
            <a:off x="566928" y="530352"/>
            <a:ext cx="11018520" cy="475488"/>
          </a:xfrm>
          <a:prstGeom prst="rect">
            <a:avLst/>
          </a:prstGeom>
          <a:noFill/>
          <a:ln/>
        </p:spPr>
        <p:txBody>
          <a:bodyPr wrap="square" lIns="0" tIns="0" rIns="0" bIns="0" rtlCol="0" anchor="ctr">
            <a:normAutofit/>
          </a:bodyPr>
          <a:lstStyle/>
          <a:p>
            <a:pPr algn="l" indent="0" marL="0">
              <a:buNone/>
            </a:pPr>
            <a:r>
              <a:rPr lang="en-US" sz="2700" b="1" dirty="0">
                <a:solidFill>
                  <a:srgbClr val="F5F7FB"/>
                </a:solidFill>
                <a:latin typeface="Aptos Display" pitchFamily="34" charset="0"/>
                <a:ea typeface="Aptos Display" pitchFamily="34" charset="-122"/>
                <a:cs typeface="Aptos Display" pitchFamily="34" charset="-120"/>
              </a:rPr>
              <a:t>Use complementary methods—not a single checkbox</a:t>
            </a:r>
            <a:endParaRPr lang="en-US" sz="2700" dirty="0"/>
          </a:p>
        </p:txBody>
      </p:sp>
      <p:sp>
        <p:nvSpPr>
          <p:cNvPr id="4" name="Text 2"/>
          <p:cNvSpPr txBox="1"/>
          <p:nvPr/>
        </p:nvSpPr>
        <p:spPr>
          <a:xfrm>
            <a:off x="585216" y="1024128"/>
            <a:ext cx="10881360" cy="274320"/>
          </a:xfrm>
          <a:prstGeom prst="rect">
            <a:avLst/>
          </a:prstGeom>
          <a:noFill/>
          <a:ln/>
        </p:spPr>
        <p:txBody>
          <a:bodyPr wrap="square" lIns="0" tIns="0" rIns="0" bIns="0" rtlCol="0" anchor="ctr">
            <a:normAutofit/>
          </a:bodyPr>
          <a:lstStyle/>
          <a:p>
            <a:pPr algn="l" indent="0" marL="0">
              <a:buNone/>
            </a:pPr>
            <a:r>
              <a:rPr lang="en-US" sz="1200" dirty="0">
                <a:solidFill>
                  <a:srgbClr val="B5C0D1"/>
                </a:solidFill>
                <a:latin typeface="Aptos" pitchFamily="34" charset="0"/>
                <a:ea typeface="Aptos" pitchFamily="34" charset="-122"/>
                <a:cs typeface="Aptos" pitchFamily="34" charset="-120"/>
              </a:rPr>
              <a:t>The value is in combining perspectives and being transparent about evidence.</a:t>
            </a:r>
            <a:endParaRPr lang="en-US" sz="1200" dirty="0"/>
          </a:p>
        </p:txBody>
      </p:sp>
      <p:sp>
        <p:nvSpPr>
          <p:cNvPr id="5" name="Shape 3"/>
          <p:cNvSpPr/>
          <p:nvPr/>
        </p:nvSpPr>
        <p:spPr>
          <a:xfrm>
            <a:off x="768096" y="1719072"/>
            <a:ext cx="475488" cy="475488"/>
          </a:xfrm>
          <a:prstGeom prst="ellipse">
            <a:avLst/>
          </a:prstGeom>
          <a:solidFill>
            <a:srgbClr val="202E46"/>
          </a:solidFill>
          <a:ln w="19050">
            <a:solidFill>
              <a:srgbClr val="59DCE2"/>
            </a:solidFill>
            <a:prstDash val="solid"/>
          </a:ln>
        </p:spPr>
      </p:sp>
      <p:sp>
        <p:nvSpPr>
          <p:cNvPr id="6" name="Text 4"/>
          <p:cNvSpPr txBox="1"/>
          <p:nvPr/>
        </p:nvSpPr>
        <p:spPr>
          <a:xfrm>
            <a:off x="768096" y="1719072"/>
            <a:ext cx="475488" cy="475488"/>
          </a:xfrm>
          <a:prstGeom prst="rect">
            <a:avLst/>
          </a:prstGeom>
          <a:noFill/>
          <a:ln/>
        </p:spPr>
        <p:txBody>
          <a:bodyPr wrap="square" lIns="0" tIns="0" rIns="0" bIns="0" rtlCol="0" anchor="ctr">
            <a:normAutofit/>
          </a:bodyPr>
          <a:lstStyle/>
          <a:p>
            <a:pPr algn="ctr" indent="0" marL="0">
              <a:buNone/>
            </a:pPr>
            <a:r>
              <a:rPr lang="en-US" sz="1100" b="1" dirty="0">
                <a:solidFill>
                  <a:srgbClr val="59DCE2"/>
                </a:solidFill>
                <a:latin typeface="Aptos" pitchFamily="34" charset="0"/>
                <a:ea typeface="Aptos" pitchFamily="34" charset="-122"/>
                <a:cs typeface="Aptos" pitchFamily="34" charset="-120"/>
              </a:rPr>
              <a:t>01</a:t>
            </a:r>
            <a:endParaRPr lang="en-US" sz="1100" dirty="0"/>
          </a:p>
        </p:txBody>
      </p:sp>
      <p:sp>
        <p:nvSpPr>
          <p:cNvPr id="7" name="Text 5"/>
          <p:cNvSpPr txBox="1"/>
          <p:nvPr/>
        </p:nvSpPr>
        <p:spPr>
          <a:xfrm>
            <a:off x="1426464" y="1673352"/>
            <a:ext cx="5440680" cy="292608"/>
          </a:xfrm>
          <a:prstGeom prst="rect">
            <a:avLst/>
          </a:prstGeom>
          <a:noFill/>
          <a:ln/>
        </p:spPr>
        <p:txBody>
          <a:bodyPr wrap="square" lIns="0" tIns="0" rIns="0" bIns="0" rtlCol="0" anchor="ctr">
            <a:normAutofit/>
          </a:bodyPr>
          <a:lstStyle/>
          <a:p>
            <a:pPr algn="l" indent="0" marL="0">
              <a:buNone/>
            </a:pPr>
            <a:r>
              <a:rPr lang="en-US" sz="1500" b="1" dirty="0">
                <a:solidFill>
                  <a:srgbClr val="F5F7FB"/>
                </a:solidFill>
                <a:latin typeface="Aptos" pitchFamily="34" charset="0"/>
                <a:ea typeface="Aptos" pitchFamily="34" charset="-122"/>
                <a:cs typeface="Aptos" pitchFamily="34" charset="-120"/>
              </a:rPr>
              <a:t>One app, different blind spots</a:t>
            </a:r>
            <a:endParaRPr lang="en-US" sz="1500" dirty="0"/>
          </a:p>
        </p:txBody>
      </p:sp>
      <p:sp>
        <p:nvSpPr>
          <p:cNvPr id="8" name="Text 6"/>
          <p:cNvSpPr txBox="1"/>
          <p:nvPr/>
        </p:nvSpPr>
        <p:spPr>
          <a:xfrm>
            <a:off x="1426464" y="2020824"/>
            <a:ext cx="5623560" cy="402336"/>
          </a:xfrm>
          <a:prstGeom prst="rect">
            <a:avLst/>
          </a:prstGeom>
          <a:noFill/>
          <a:ln/>
        </p:spPr>
        <p:txBody>
          <a:bodyPr wrap="square" lIns="0" tIns="0" rIns="0" bIns="0" rtlCol="0" anchor="t">
            <a:normAutofit/>
          </a:bodyPr>
          <a:lstStyle/>
          <a:p>
            <a:pPr algn="l" indent="0" marL="0">
              <a:buNone/>
            </a:pPr>
            <a:r>
              <a:rPr lang="en-US" sz="1160" dirty="0">
                <a:solidFill>
                  <a:srgbClr val="B5C0D1"/>
                </a:solidFill>
                <a:latin typeface="Aptos" pitchFamily="34" charset="0"/>
                <a:ea typeface="Aptos" pitchFamily="34" charset="-122"/>
                <a:cs typeface="Aptos" pitchFamily="34" charset="-120"/>
              </a:rPr>
              <a:t>Code inspection, user-level tests and partial internal checks reveal different defects.</a:t>
            </a:r>
            <a:endParaRPr lang="en-US" sz="1160" dirty="0"/>
          </a:p>
        </p:txBody>
      </p:sp>
      <p:sp>
        <p:nvSpPr>
          <p:cNvPr id="9" name="Shape 7"/>
          <p:cNvSpPr/>
          <p:nvPr/>
        </p:nvSpPr>
        <p:spPr>
          <a:xfrm>
            <a:off x="768096" y="2770632"/>
            <a:ext cx="475488" cy="475488"/>
          </a:xfrm>
          <a:prstGeom prst="ellipse">
            <a:avLst/>
          </a:prstGeom>
          <a:solidFill>
            <a:srgbClr val="202E46"/>
          </a:solidFill>
          <a:ln w="19050">
            <a:solidFill>
              <a:srgbClr val="FFC857"/>
            </a:solidFill>
            <a:prstDash val="solid"/>
          </a:ln>
        </p:spPr>
      </p:sp>
      <p:sp>
        <p:nvSpPr>
          <p:cNvPr id="10" name="Text 8"/>
          <p:cNvSpPr txBox="1"/>
          <p:nvPr/>
        </p:nvSpPr>
        <p:spPr>
          <a:xfrm>
            <a:off x="768096" y="2770632"/>
            <a:ext cx="475488" cy="475488"/>
          </a:xfrm>
          <a:prstGeom prst="rect">
            <a:avLst/>
          </a:prstGeom>
          <a:noFill/>
          <a:ln/>
        </p:spPr>
        <p:txBody>
          <a:bodyPr wrap="square" lIns="0" tIns="0" rIns="0" bIns="0" rtlCol="0" anchor="ctr">
            <a:normAutofit/>
          </a:bodyPr>
          <a:lstStyle/>
          <a:p>
            <a:pPr algn="ctr" indent="0" marL="0">
              <a:buNone/>
            </a:pPr>
            <a:r>
              <a:rPr lang="en-US" sz="1100" b="1" dirty="0">
                <a:solidFill>
                  <a:srgbClr val="FFC857"/>
                </a:solidFill>
                <a:latin typeface="Aptos" pitchFamily="34" charset="0"/>
                <a:ea typeface="Aptos" pitchFamily="34" charset="-122"/>
                <a:cs typeface="Aptos" pitchFamily="34" charset="-120"/>
              </a:rPr>
              <a:t>02</a:t>
            </a:r>
            <a:endParaRPr lang="en-US" sz="1100" dirty="0"/>
          </a:p>
        </p:txBody>
      </p:sp>
      <p:sp>
        <p:nvSpPr>
          <p:cNvPr id="11" name="Text 9"/>
          <p:cNvSpPr txBox="1"/>
          <p:nvPr/>
        </p:nvSpPr>
        <p:spPr>
          <a:xfrm>
            <a:off x="1426464" y="2724912"/>
            <a:ext cx="5440680" cy="292608"/>
          </a:xfrm>
          <a:prstGeom prst="rect">
            <a:avLst/>
          </a:prstGeom>
          <a:noFill/>
          <a:ln/>
        </p:spPr>
        <p:txBody>
          <a:bodyPr wrap="square" lIns="0" tIns="0" rIns="0" bIns="0" rtlCol="0" anchor="ctr">
            <a:normAutofit/>
          </a:bodyPr>
          <a:lstStyle/>
          <a:p>
            <a:pPr algn="l" indent="0" marL="0">
              <a:buNone/>
            </a:pPr>
            <a:r>
              <a:rPr lang="en-US" sz="1500" b="1" dirty="0">
                <a:solidFill>
                  <a:srgbClr val="F5F7FB"/>
                </a:solidFill>
                <a:latin typeface="Aptos" pitchFamily="34" charset="0"/>
                <a:ea typeface="Aptos" pitchFamily="34" charset="-122"/>
                <a:cs typeface="Aptos" pitchFamily="34" charset="-120"/>
              </a:rPr>
              <a:t>Fix by risk and impact</a:t>
            </a:r>
            <a:endParaRPr lang="en-US" sz="1500" dirty="0"/>
          </a:p>
        </p:txBody>
      </p:sp>
      <p:sp>
        <p:nvSpPr>
          <p:cNvPr id="12" name="Text 10"/>
          <p:cNvSpPr txBox="1"/>
          <p:nvPr/>
        </p:nvSpPr>
        <p:spPr>
          <a:xfrm>
            <a:off x="1426464" y="3072384"/>
            <a:ext cx="5623560" cy="402336"/>
          </a:xfrm>
          <a:prstGeom prst="rect">
            <a:avLst/>
          </a:prstGeom>
          <a:noFill/>
          <a:ln/>
        </p:spPr>
        <p:txBody>
          <a:bodyPr wrap="square" lIns="0" tIns="0" rIns="0" bIns="0" rtlCol="0" anchor="t">
            <a:normAutofit/>
          </a:bodyPr>
          <a:lstStyle/>
          <a:p>
            <a:pPr algn="l" indent="0" marL="0">
              <a:buNone/>
            </a:pPr>
            <a:r>
              <a:rPr lang="en-US" sz="1160" dirty="0">
                <a:solidFill>
                  <a:srgbClr val="B5C0D1"/>
                </a:solidFill>
                <a:latin typeface="Aptos" pitchFamily="34" charset="0"/>
                <a:ea typeface="Aptos" pitchFamily="34" charset="-122"/>
                <a:cs typeface="Aptos" pitchFamily="34" charset="-120"/>
              </a:rPr>
              <a:t>Prioritise data access, credential exposure and identity controls before cosmetic improvements.</a:t>
            </a:r>
            <a:endParaRPr lang="en-US" sz="1160" dirty="0"/>
          </a:p>
        </p:txBody>
      </p:sp>
      <p:sp>
        <p:nvSpPr>
          <p:cNvPr id="13" name="Shape 11"/>
          <p:cNvSpPr/>
          <p:nvPr/>
        </p:nvSpPr>
        <p:spPr>
          <a:xfrm>
            <a:off x="768096" y="3822192"/>
            <a:ext cx="475488" cy="475488"/>
          </a:xfrm>
          <a:prstGeom prst="ellipse">
            <a:avLst/>
          </a:prstGeom>
          <a:solidFill>
            <a:srgbClr val="202E46"/>
          </a:solidFill>
          <a:ln w="19050">
            <a:solidFill>
              <a:srgbClr val="FF927C"/>
            </a:solidFill>
            <a:prstDash val="solid"/>
          </a:ln>
        </p:spPr>
      </p:sp>
      <p:sp>
        <p:nvSpPr>
          <p:cNvPr id="14" name="Text 12"/>
          <p:cNvSpPr txBox="1"/>
          <p:nvPr/>
        </p:nvSpPr>
        <p:spPr>
          <a:xfrm>
            <a:off x="768096" y="3822192"/>
            <a:ext cx="475488" cy="475488"/>
          </a:xfrm>
          <a:prstGeom prst="rect">
            <a:avLst/>
          </a:prstGeom>
          <a:noFill/>
          <a:ln/>
        </p:spPr>
        <p:txBody>
          <a:bodyPr wrap="square" lIns="0" tIns="0" rIns="0" bIns="0" rtlCol="0" anchor="ctr">
            <a:normAutofit/>
          </a:bodyPr>
          <a:lstStyle/>
          <a:p>
            <a:pPr algn="ctr" indent="0" marL="0">
              <a:buNone/>
            </a:pPr>
            <a:r>
              <a:rPr lang="en-US" sz="1100" b="1" dirty="0">
                <a:solidFill>
                  <a:srgbClr val="FF927C"/>
                </a:solidFill>
                <a:latin typeface="Aptos" pitchFamily="34" charset="0"/>
                <a:ea typeface="Aptos" pitchFamily="34" charset="-122"/>
                <a:cs typeface="Aptos" pitchFamily="34" charset="-120"/>
              </a:rPr>
              <a:t>03</a:t>
            </a:r>
            <a:endParaRPr lang="en-US" sz="1100" dirty="0"/>
          </a:p>
        </p:txBody>
      </p:sp>
      <p:sp>
        <p:nvSpPr>
          <p:cNvPr id="15" name="Text 13"/>
          <p:cNvSpPr txBox="1"/>
          <p:nvPr/>
        </p:nvSpPr>
        <p:spPr>
          <a:xfrm>
            <a:off x="1426464" y="3776472"/>
            <a:ext cx="5440680" cy="292608"/>
          </a:xfrm>
          <a:prstGeom prst="rect">
            <a:avLst/>
          </a:prstGeom>
          <a:noFill/>
          <a:ln/>
        </p:spPr>
        <p:txBody>
          <a:bodyPr wrap="square" lIns="0" tIns="0" rIns="0" bIns="0" rtlCol="0" anchor="ctr">
            <a:normAutofit/>
          </a:bodyPr>
          <a:lstStyle/>
          <a:p>
            <a:pPr algn="l" indent="0" marL="0">
              <a:buNone/>
            </a:pPr>
            <a:r>
              <a:rPr lang="en-US" sz="1500" b="1" dirty="0">
                <a:solidFill>
                  <a:srgbClr val="F5F7FB"/>
                </a:solidFill>
                <a:latin typeface="Aptos" pitchFamily="34" charset="0"/>
                <a:ea typeface="Aptos" pitchFamily="34" charset="-122"/>
                <a:cs typeface="Aptos" pitchFamily="34" charset="-120"/>
              </a:rPr>
              <a:t>Retest and document</a:t>
            </a:r>
            <a:endParaRPr lang="en-US" sz="1500" dirty="0"/>
          </a:p>
        </p:txBody>
      </p:sp>
      <p:sp>
        <p:nvSpPr>
          <p:cNvPr id="16" name="Text 14"/>
          <p:cNvSpPr txBox="1"/>
          <p:nvPr/>
        </p:nvSpPr>
        <p:spPr>
          <a:xfrm>
            <a:off x="1426464" y="4123944"/>
            <a:ext cx="5623560" cy="402336"/>
          </a:xfrm>
          <a:prstGeom prst="rect">
            <a:avLst/>
          </a:prstGeom>
          <a:noFill/>
          <a:ln/>
        </p:spPr>
        <p:txBody>
          <a:bodyPr wrap="square" lIns="0" tIns="0" rIns="0" bIns="0" rtlCol="0" anchor="t">
            <a:normAutofit/>
          </a:bodyPr>
          <a:lstStyle/>
          <a:p>
            <a:pPr algn="l" indent="0" marL="0">
              <a:buNone/>
            </a:pPr>
            <a:r>
              <a:rPr lang="en-US" sz="1160" dirty="0">
                <a:solidFill>
                  <a:srgbClr val="B5C0D1"/>
                </a:solidFill>
                <a:latin typeface="Aptos" pitchFamily="34" charset="0"/>
                <a:ea typeface="Aptos" pitchFamily="34" charset="-122"/>
                <a:cs typeface="Aptos" pitchFamily="34" charset="-120"/>
              </a:rPr>
              <a:t>A fix is not complete until the same scenario passes again and evidence is recorded.</a:t>
            </a:r>
            <a:endParaRPr lang="en-US" sz="1160" dirty="0"/>
          </a:p>
        </p:txBody>
      </p:sp>
      <p:sp>
        <p:nvSpPr>
          <p:cNvPr id="17" name="Shape 15"/>
          <p:cNvSpPr/>
          <p:nvPr/>
        </p:nvSpPr>
        <p:spPr>
          <a:xfrm>
            <a:off x="7424928" y="1691640"/>
            <a:ext cx="3822192" cy="3429000"/>
          </a:xfrm>
          <a:prstGeom prst="roundRect">
            <a:avLst>
              <a:gd name="adj" fmla="val 3200"/>
            </a:avLst>
          </a:prstGeom>
          <a:solidFill>
            <a:srgbClr val="18243A"/>
          </a:solidFill>
          <a:ln w="12700">
            <a:solidFill>
              <a:srgbClr val="324057"/>
            </a:solidFill>
            <a:prstDash val="solid"/>
          </a:ln>
        </p:spPr>
      </p:sp>
      <p:sp>
        <p:nvSpPr>
          <p:cNvPr id="18" name="Text 16"/>
          <p:cNvSpPr txBox="1"/>
          <p:nvPr/>
        </p:nvSpPr>
        <p:spPr>
          <a:xfrm>
            <a:off x="7680960" y="1938528"/>
            <a:ext cx="3246120" cy="274320"/>
          </a:xfrm>
          <a:prstGeom prst="rect">
            <a:avLst/>
          </a:prstGeom>
          <a:noFill/>
          <a:ln/>
        </p:spPr>
        <p:txBody>
          <a:bodyPr wrap="square" lIns="0" tIns="0" rIns="0" bIns="0" rtlCol="0" anchor="ctr">
            <a:normAutofit/>
          </a:bodyPr>
          <a:lstStyle/>
          <a:p>
            <a:pPr algn="l" indent="0" marL="0">
              <a:buNone/>
            </a:pPr>
            <a:r>
              <a:rPr lang="en-US" sz="1240" b="1" spc="70" kern="0" dirty="0">
                <a:solidFill>
                  <a:srgbClr val="FFC857"/>
                </a:solidFill>
                <a:latin typeface="Aptos" pitchFamily="34" charset="0"/>
                <a:ea typeface="Aptos" pitchFamily="34" charset="-122"/>
                <a:cs typeface="Aptos" pitchFamily="34" charset="-120"/>
              </a:rPr>
              <a:t>STUDY LIMITATIONS</a:t>
            </a:r>
            <a:endParaRPr lang="en-US" sz="1240" dirty="0"/>
          </a:p>
        </p:txBody>
      </p:sp>
      <p:sp>
        <p:nvSpPr>
          <p:cNvPr id="19" name="Shape 17"/>
          <p:cNvSpPr/>
          <p:nvPr/>
        </p:nvSpPr>
        <p:spPr>
          <a:xfrm>
            <a:off x="7699248" y="2596896"/>
            <a:ext cx="68580" cy="68580"/>
          </a:xfrm>
          <a:prstGeom prst="ellipse">
            <a:avLst/>
          </a:prstGeom>
          <a:solidFill>
            <a:srgbClr val="FFC857"/>
          </a:solidFill>
          <a:ln w="12700">
            <a:solidFill>
              <a:srgbClr val="FFC857">
                <a:alpha val="0"/>
              </a:srgbClr>
            </a:solidFill>
            <a:prstDash val="solid"/>
          </a:ln>
        </p:spPr>
      </p:sp>
      <p:sp>
        <p:nvSpPr>
          <p:cNvPr id="20" name="Text 18"/>
          <p:cNvSpPr txBox="1"/>
          <p:nvPr/>
        </p:nvSpPr>
        <p:spPr>
          <a:xfrm>
            <a:off x="7863840" y="2487168"/>
            <a:ext cx="2990088" cy="566928"/>
          </a:xfrm>
          <a:prstGeom prst="rect">
            <a:avLst/>
          </a:prstGeom>
          <a:noFill/>
          <a:ln/>
        </p:spPr>
        <p:txBody>
          <a:bodyPr wrap="square" lIns="0" tIns="0" rIns="0" bIns="0" rtlCol="0" anchor="t">
            <a:normAutofit/>
          </a:bodyPr>
          <a:lstStyle/>
          <a:p>
            <a:pPr algn="l" indent="0" marL="0">
              <a:buNone/>
            </a:pPr>
            <a:r>
              <a:rPr lang="en-US" sz="1130" dirty="0">
                <a:solidFill>
                  <a:srgbClr val="B5C0D1"/>
                </a:solidFill>
                <a:latin typeface="Aptos" pitchFamily="34" charset="0"/>
                <a:ea typeface="Aptos" pitchFamily="34" charset="-122"/>
                <a:cs typeface="Aptos" pitchFamily="34" charset="-120"/>
              </a:rPr>
              <a:t>One small demo app</a:t>
            </a:r>
            <a:endParaRPr lang="en-US" sz="1130" dirty="0"/>
          </a:p>
        </p:txBody>
      </p:sp>
      <p:sp>
        <p:nvSpPr>
          <p:cNvPr id="21" name="Shape 19"/>
          <p:cNvSpPr/>
          <p:nvPr/>
        </p:nvSpPr>
        <p:spPr>
          <a:xfrm>
            <a:off x="7699248" y="3182112"/>
            <a:ext cx="68580" cy="68580"/>
          </a:xfrm>
          <a:prstGeom prst="ellipse">
            <a:avLst/>
          </a:prstGeom>
          <a:solidFill>
            <a:srgbClr val="FFC857"/>
          </a:solidFill>
          <a:ln w="12700">
            <a:solidFill>
              <a:srgbClr val="FFC857">
                <a:alpha val="0"/>
              </a:srgbClr>
            </a:solidFill>
            <a:prstDash val="solid"/>
          </a:ln>
        </p:spPr>
      </p:sp>
      <p:sp>
        <p:nvSpPr>
          <p:cNvPr id="22" name="Text 20"/>
          <p:cNvSpPr txBox="1"/>
          <p:nvPr/>
        </p:nvSpPr>
        <p:spPr>
          <a:xfrm>
            <a:off x="7863840" y="3072384"/>
            <a:ext cx="2990088" cy="566928"/>
          </a:xfrm>
          <a:prstGeom prst="rect">
            <a:avLst/>
          </a:prstGeom>
          <a:noFill/>
          <a:ln/>
        </p:spPr>
        <p:txBody>
          <a:bodyPr wrap="square" lIns="0" tIns="0" rIns="0" bIns="0" rtlCol="0" anchor="t">
            <a:normAutofit/>
          </a:bodyPr>
          <a:lstStyle/>
          <a:p>
            <a:pPr algn="l" indent="0" marL="0">
              <a:buNone/>
            </a:pPr>
            <a:r>
              <a:rPr lang="en-US" sz="1130" dirty="0">
                <a:solidFill>
                  <a:srgbClr val="B5C0D1"/>
                </a:solidFill>
                <a:latin typeface="Aptos" pitchFamily="34" charset="0"/>
                <a:ea typeface="Aptos" pitchFamily="34" charset="-122"/>
                <a:cs typeface="Aptos" pitchFamily="34" charset="-120"/>
              </a:rPr>
              <a:t>Manual testing only</a:t>
            </a:r>
            <a:endParaRPr lang="en-US" sz="1130" dirty="0"/>
          </a:p>
        </p:txBody>
      </p:sp>
      <p:sp>
        <p:nvSpPr>
          <p:cNvPr id="23" name="Shape 21"/>
          <p:cNvSpPr/>
          <p:nvPr/>
        </p:nvSpPr>
        <p:spPr>
          <a:xfrm>
            <a:off x="7699248" y="3767328"/>
            <a:ext cx="68580" cy="68580"/>
          </a:xfrm>
          <a:prstGeom prst="ellipse">
            <a:avLst/>
          </a:prstGeom>
          <a:solidFill>
            <a:srgbClr val="FFC857"/>
          </a:solidFill>
          <a:ln w="12700">
            <a:solidFill>
              <a:srgbClr val="FFC857">
                <a:alpha val="0"/>
              </a:srgbClr>
            </a:solidFill>
            <a:prstDash val="solid"/>
          </a:ln>
        </p:spPr>
      </p:sp>
      <p:sp>
        <p:nvSpPr>
          <p:cNvPr id="24" name="Text 22"/>
          <p:cNvSpPr txBox="1"/>
          <p:nvPr/>
        </p:nvSpPr>
        <p:spPr>
          <a:xfrm>
            <a:off x="7863840" y="3657600"/>
            <a:ext cx="2990088" cy="566928"/>
          </a:xfrm>
          <a:prstGeom prst="rect">
            <a:avLst/>
          </a:prstGeom>
          <a:noFill/>
          <a:ln/>
        </p:spPr>
        <p:txBody>
          <a:bodyPr wrap="square" lIns="0" tIns="0" rIns="0" bIns="0" rtlCol="0" anchor="t">
            <a:normAutofit/>
          </a:bodyPr>
          <a:lstStyle/>
          <a:p>
            <a:pPr algn="l" indent="0" marL="0">
              <a:buNone/>
            </a:pPr>
            <a:r>
              <a:rPr lang="en-US" sz="1130" dirty="0">
                <a:solidFill>
                  <a:srgbClr val="B5C0D1"/>
                </a:solidFill>
                <a:latin typeface="Aptos" pitchFamily="34" charset="0"/>
                <a:ea typeface="Aptos" pitchFamily="34" charset="-122"/>
                <a:cs typeface="Aptos" pitchFamily="34" charset="-120"/>
              </a:rPr>
              <a:t>No quantitative defect / coverage metrics</a:t>
            </a:r>
            <a:endParaRPr lang="en-US" sz="1130" dirty="0"/>
          </a:p>
        </p:txBody>
      </p:sp>
      <p:sp>
        <p:nvSpPr>
          <p:cNvPr id="25" name="Shape 23"/>
          <p:cNvSpPr/>
          <p:nvPr/>
        </p:nvSpPr>
        <p:spPr>
          <a:xfrm>
            <a:off x="7680960" y="4361688"/>
            <a:ext cx="3273552" cy="0"/>
          </a:xfrm>
          <a:prstGeom prst="line">
            <a:avLst/>
          </a:prstGeom>
          <a:noFill/>
          <a:ln w="12700">
            <a:solidFill>
              <a:srgbClr val="324057"/>
            </a:solidFill>
            <a:prstDash val="solid"/>
            <a:headEnd type="none"/>
            <a:tailEnd type="none"/>
          </a:ln>
        </p:spPr>
      </p:sp>
      <p:sp>
        <p:nvSpPr>
          <p:cNvPr id="26" name="Text 24"/>
          <p:cNvSpPr txBox="1"/>
          <p:nvPr/>
        </p:nvSpPr>
        <p:spPr>
          <a:xfrm>
            <a:off x="7680960" y="4507992"/>
            <a:ext cx="3246120" cy="201168"/>
          </a:xfrm>
          <a:prstGeom prst="rect">
            <a:avLst/>
          </a:prstGeom>
          <a:noFill/>
          <a:ln/>
        </p:spPr>
        <p:txBody>
          <a:bodyPr wrap="square" lIns="0" tIns="0" rIns="0" bIns="0" rtlCol="0" anchor="ctr">
            <a:normAutofit/>
          </a:bodyPr>
          <a:lstStyle/>
          <a:p>
            <a:pPr algn="l" indent="0" marL="0">
              <a:buNone/>
            </a:pPr>
            <a:r>
              <a:rPr lang="en-US" sz="900" b="1" spc="100" kern="0" dirty="0">
                <a:solidFill>
                  <a:srgbClr val="59DCE2"/>
                </a:solidFill>
                <a:latin typeface="Aptos" pitchFamily="34" charset="0"/>
                <a:ea typeface="Aptos" pitchFamily="34" charset="-122"/>
                <a:cs typeface="Aptos" pitchFamily="34" charset="-120"/>
              </a:rPr>
              <a:t>SOURCE NOTE</a:t>
            </a:r>
            <a:endParaRPr lang="en-US" sz="900" dirty="0"/>
          </a:p>
        </p:txBody>
      </p:sp>
      <p:sp>
        <p:nvSpPr>
          <p:cNvPr id="27" name="Text 25"/>
          <p:cNvSpPr txBox="1"/>
          <p:nvPr/>
        </p:nvSpPr>
        <p:spPr>
          <a:xfrm>
            <a:off x="7680960" y="4754880"/>
            <a:ext cx="3200400" cy="292608"/>
          </a:xfrm>
          <a:prstGeom prst="rect">
            <a:avLst/>
          </a:prstGeom>
          <a:noFill/>
          <a:ln/>
        </p:spPr>
        <p:txBody>
          <a:bodyPr wrap="square" lIns="0" tIns="0" rIns="0" bIns="0" rtlCol="0" anchor="t">
            <a:normAutofit/>
          </a:bodyPr>
          <a:lstStyle/>
          <a:p>
            <a:pPr algn="l" indent="0" marL="0">
              <a:buNone/>
            </a:pPr>
            <a:r>
              <a:rPr lang="en-US" sz="1030" dirty="0">
                <a:solidFill>
                  <a:srgbClr val="F5F7FB"/>
                </a:solidFill>
                <a:latin typeface="Aptos" pitchFamily="34" charset="0"/>
                <a:ea typeface="Aptos" pitchFamily="34" charset="-122"/>
                <a:cs typeface="Aptos" pitchFamily="34" charset="-120"/>
              </a:rPr>
              <a:t>Case material cites: V. Maric, IJISE, 2026, Vol. 2, No. 1.</a:t>
            </a:r>
            <a:endParaRPr lang="en-US" sz="1030" dirty="0"/>
          </a:p>
        </p:txBody>
      </p:sp>
      <p:sp>
        <p:nvSpPr>
          <p:cNvPr id="28" name="Text 26"/>
          <p:cNvSpPr txBox="1"/>
          <p:nvPr/>
        </p:nvSpPr>
        <p:spPr>
          <a:xfrm>
            <a:off x="749808" y="5440680"/>
            <a:ext cx="5669280" cy="502920"/>
          </a:xfrm>
          <a:prstGeom prst="rect">
            <a:avLst/>
          </a:prstGeom>
          <a:noFill/>
          <a:ln/>
        </p:spPr>
        <p:txBody>
          <a:bodyPr wrap="square" lIns="0" tIns="0" rIns="0" bIns="0" rtlCol="0" anchor="ctr">
            <a:normAutofit/>
          </a:bodyPr>
          <a:lstStyle/>
          <a:p>
            <a:pPr algn="l" indent="0" marL="0">
              <a:buNone/>
            </a:pPr>
            <a:r>
              <a:rPr lang="en-US" sz="2700" b="1" dirty="0">
                <a:solidFill>
                  <a:srgbClr val="59DCE2"/>
                </a:solidFill>
                <a:latin typeface="Aptos Display" pitchFamily="34" charset="0"/>
                <a:ea typeface="Aptos Display" pitchFamily="34" charset="-122"/>
                <a:cs typeface="Aptos Display" pitchFamily="34" charset="-120"/>
              </a:rPr>
              <a:t>Thank you  •  Questions?</a:t>
            </a:r>
            <a:endParaRPr lang="en-US" sz="2700" dirty="0"/>
          </a:p>
        </p:txBody>
      </p:sp>
      <p:sp>
        <p:nvSpPr>
          <p:cNvPr id="29" name="Text 27"/>
          <p:cNvSpPr txBox="1"/>
          <p:nvPr/>
        </p:nvSpPr>
        <p:spPr>
          <a:xfrm>
            <a:off x="768096" y="6016752"/>
            <a:ext cx="6675120" cy="228600"/>
          </a:xfrm>
          <a:prstGeom prst="rect">
            <a:avLst/>
          </a:prstGeom>
          <a:noFill/>
          <a:ln/>
        </p:spPr>
        <p:txBody>
          <a:bodyPr wrap="square" lIns="0" tIns="0" rIns="0" bIns="0" rtlCol="0" anchor="ctr">
            <a:normAutofit/>
          </a:bodyPr>
          <a:lstStyle/>
          <a:p>
            <a:pPr algn="l" indent="0" marL="0">
              <a:buNone/>
            </a:pPr>
            <a:r>
              <a:rPr lang="en-US" sz="950" dirty="0">
                <a:solidFill>
                  <a:srgbClr val="B5C0D1"/>
                </a:solidFill>
                <a:latin typeface="Aptos" pitchFamily="34" charset="0"/>
                <a:ea typeface="Aptos" pitchFamily="34" charset="-122"/>
                <a:cs typeface="Aptos" pitchFamily="34" charset="-120"/>
              </a:rPr>
              <a:t>Group 5  |  Arya Shree • Aryan Tripathi • Ashish Prajapati • Ashish Sah</a:t>
            </a:r>
            <a:endParaRPr lang="en-US" sz="950" dirty="0"/>
          </a:p>
        </p:txBody>
      </p:sp>
      <p:sp>
        <p:nvSpPr>
          <p:cNvPr id="25" name="Slide Number Placeholder 0"/>
          <p:cNvSpPr>
            <a:spLocks noGrp="1"/>
          </p:cNvSpPr>
          <p:nvPr>
            <p:ph type="sldNum" sz="quarter" idx="4294967295"/>
          </p:nvPr>
        </p:nvSpPr>
        <p:spPr>
          <a:xfrm>
            <a:off x="11292840" y="6547104"/>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1A0B8"/>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CA-2 Theory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Ways to Test One App</dc:title>
  <dc:subject>Software testing case study: React Native and Supabase</dc:subject>
  <dc:creator>Group 5</dc:creator>
  <cp:lastModifiedBy>Group 5</cp:lastModifiedBy>
  <cp:revision>1</cp:revision>
  <dcterms:created xsi:type="dcterms:W3CDTF">2026-10-26T06:44:20Z</dcterms:created>
  <dcterms:modified xsi:type="dcterms:W3CDTF">2026-10-26T06:44:20Z</dcterms:modified>
</cp:coreProperties>
</file>